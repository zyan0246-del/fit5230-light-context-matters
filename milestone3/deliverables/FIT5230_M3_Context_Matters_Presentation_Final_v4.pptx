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e4cbeb20e44fae" /><Relationship Type="http://schemas.openxmlformats.org/officeDocument/2006/relationships/extended-properties" Target="/docProps/app.xml" Id="R18244cff5e1344af" /><Relationship Type="http://schemas.openxmlformats.org/officeDocument/2006/relationships/officeDocument" Target="/ppt/presentation.xml" Id="R59909fd89a02424c" /></Relationships>
</file>

<file path=ppt/presentation.xml><?xml version="1.0" encoding="utf-8"?>
<p:presentation xmlns:p="http://schemas.openxmlformats.org/presentationml/2006/main">
  <p:sldMasterIdLst>
    <p:sldMasterId xmlns:r="http://schemas.openxmlformats.org/officeDocument/2006/relationships" id="2147483648" r:id="R37d019bc08414f61"/>
  </p:sldMasterIdLst>
  <p:notesMasterIdLst>
    <p:notesMasterId xmlns:r="http://schemas.openxmlformats.org/officeDocument/2006/relationships" r:id="R80b2714563574bec"/>
  </p:notesMasterIdLst>
  <p:sldIdLst>
    <p:sldId xmlns:r="http://schemas.openxmlformats.org/officeDocument/2006/relationships" id="256" r:id="R0a12d0350d054462"/>
    <p:sldId xmlns:r="http://schemas.openxmlformats.org/officeDocument/2006/relationships" id="257" r:id="R079a318183af4147"/>
    <p:sldId xmlns:r="http://schemas.openxmlformats.org/officeDocument/2006/relationships" id="258" r:id="Ra5874bece2ea48ad"/>
    <p:sldId xmlns:r="http://schemas.openxmlformats.org/officeDocument/2006/relationships" id="259" r:id="R7ff197b989fa42cd"/>
    <p:sldId xmlns:r="http://schemas.openxmlformats.org/officeDocument/2006/relationships" id="260" r:id="Rd859b2ab82dd46a0"/>
    <p:sldId xmlns:r="http://schemas.openxmlformats.org/officeDocument/2006/relationships" id="261" r:id="R0dfd939618504004"/>
    <p:sldId xmlns:r="http://schemas.openxmlformats.org/officeDocument/2006/relationships" id="262" r:id="Rf49ee800d6614811"/>
    <p:sldId xmlns:r="http://schemas.openxmlformats.org/officeDocument/2006/relationships" id="263" r:id="R7a401823701a452f"/>
    <p:sldId xmlns:r="http://schemas.openxmlformats.org/officeDocument/2006/relationships" id="264" r:id="R68a304ca15d6455a"/>
    <p:sldId xmlns:r="http://schemas.openxmlformats.org/officeDocument/2006/relationships" id="265" r:id="Rd37c7ec95a8c4dcf"/>
    <p:sldId xmlns:r="http://schemas.openxmlformats.org/officeDocument/2006/relationships" id="266" r:id="R3b891c9b605a48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489357e7824221" /><Relationship Type="http://schemas.openxmlformats.org/officeDocument/2006/relationships/slideMaster" Target="/ppt/slideMasters/slideMaster1.xml" Id="R37d019bc08414f61" /><Relationship Type="http://schemas.openxmlformats.org/officeDocument/2006/relationships/notesMaster" Target="/ppt/notesMasters/notesMaster1.xml" Id="R80b2714563574bec" /><Relationship Type="http://schemas.openxmlformats.org/officeDocument/2006/relationships/presProps" Target="/ppt/presProps.xml" Id="Rfb47ac3730174069" /><Relationship Type="http://schemas.openxmlformats.org/officeDocument/2006/relationships/tableStyles" Target="/ppt/tableStyles.xml" Id="R04a9e03bf4ff48e4" /><Relationship Type="http://schemas.openxmlformats.org/officeDocument/2006/relationships/slide" Target="/ppt/slides/slide1.xml" Id="R0a12d0350d054462" /><Relationship Type="http://schemas.openxmlformats.org/officeDocument/2006/relationships/slide" Target="/ppt/slides/slide2.xml" Id="R079a318183af4147" /><Relationship Type="http://schemas.openxmlformats.org/officeDocument/2006/relationships/slide" Target="/ppt/slides/slide3.xml" Id="Ra5874bece2ea48ad" /><Relationship Type="http://schemas.openxmlformats.org/officeDocument/2006/relationships/slide" Target="/ppt/slides/slide4.xml" Id="R7ff197b989fa42cd" /><Relationship Type="http://schemas.openxmlformats.org/officeDocument/2006/relationships/slide" Target="/ppt/slides/slide5.xml" Id="Rd859b2ab82dd46a0" /><Relationship Type="http://schemas.openxmlformats.org/officeDocument/2006/relationships/slide" Target="/ppt/slides/slide6.xml" Id="R0dfd939618504004" /><Relationship Type="http://schemas.openxmlformats.org/officeDocument/2006/relationships/slide" Target="/ppt/slides/slide7.xml" Id="Rf49ee800d6614811" /><Relationship Type="http://schemas.openxmlformats.org/officeDocument/2006/relationships/slide" Target="/ppt/slides/slide8.xml" Id="R7a401823701a452f" /><Relationship Type="http://schemas.openxmlformats.org/officeDocument/2006/relationships/slide" Target="/ppt/slides/slide9.xml" Id="R68a304ca15d6455a" /><Relationship Type="http://schemas.openxmlformats.org/officeDocument/2006/relationships/slide" Target="/ppt/slides/slide10.xml" Id="Rd37c7ec95a8c4dcf" /><Relationship Type="http://schemas.openxmlformats.org/officeDocument/2006/relationships/slide" Target="/ppt/slides/slide11.xml" Id="R3b891c9b605a48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ab4571891940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afb1c3f30c49ca" /><Relationship Type="http://schemas.openxmlformats.org/officeDocument/2006/relationships/notesMaster" Target="/ppt/notesMasters/notesMaster1.xml" Id="Rdcc4ca8e2be841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c04e3231da4c77" /><Relationship Type="http://schemas.openxmlformats.org/officeDocument/2006/relationships/notesMaster" Target="/ppt/notesMasters/notesMaster1.xml" Id="Rb60ce1fd010e4a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3c291b0e064c0a" /><Relationship Type="http://schemas.openxmlformats.org/officeDocument/2006/relationships/notesMaster" Target="/ppt/notesMasters/notesMaster1.xml" Id="Rf475a1f7f94545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3f6d52e4744f33" /><Relationship Type="http://schemas.openxmlformats.org/officeDocument/2006/relationships/notesMaster" Target="/ppt/notesMasters/notesMaster1.xml" Id="R9fb7fd88ef7c48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5fb4c5161e4ada" /><Relationship Type="http://schemas.openxmlformats.org/officeDocument/2006/relationships/notesMaster" Target="/ppt/notesMasters/notesMaster1.xml" Id="R6b579796a90648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81cb7f929f4e55" /><Relationship Type="http://schemas.openxmlformats.org/officeDocument/2006/relationships/notesMaster" Target="/ppt/notesMasters/notesMaster1.xml" Id="Rf505f514bed849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91b3a186164e7a" /><Relationship Type="http://schemas.openxmlformats.org/officeDocument/2006/relationships/notesMaster" Target="/ppt/notesMasters/notesMaster1.xml" Id="R696f9e0b03014d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fc088415d146ef" /><Relationship Type="http://schemas.openxmlformats.org/officeDocument/2006/relationships/notesMaster" Target="/ppt/notesMasters/notesMaster1.xml" Id="R25682dec65b14f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79d639a6264d4e" /><Relationship Type="http://schemas.openxmlformats.org/officeDocument/2006/relationships/notesMaster" Target="/ppt/notesMasters/notesMaster1.xml" Id="R19716bba464d44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ae9fdb26de4e9f" /><Relationship Type="http://schemas.openxmlformats.org/officeDocument/2006/relationships/notesMaster" Target="/ppt/notesMasters/notesMaster1.xml" Id="Rb6f7dd1cd9ec4e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c555981d034c70" /><Relationship Type="http://schemas.openxmlformats.org/officeDocument/2006/relationships/notesMaster" Target="/ppt/notesMasters/notesMaster1.xml" Id="R03d0028de8274d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are Light.Ningyizhuo.No.1. Our question is whether a speech-to-face fake that passes a physiological detector still leaves evidence in mouth motion or in the manipulation used to repair physiological signals. We test those two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At Milestone 2, we had reproducible code, synthetic checks and public-video preprocessing, but no real classifier experiment. For Milestone 3 we added a 24-clip public pilot, actual held-out evaluation, weak phonetic alignment, a peer-pair forensic analyser, a neutral codec control and post-processing tests. All 24 clips passed landmark extraction and 37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The first branch extracts lip geometry and compares a context-free model with a weak context model. The second branch compares aligned RGB signals from the Dark.Mimic control and modified video. We report each branch separately because one peer pair cannot calibrate a valid fusion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My strategy tests context-conditioned lip dynamics. The context-free model summarizes aperture, width and their time derivatives over a clip. The context version adds before, during and after statistics around one central vowel, conditioned on neighbouring phonetic classes. Both models use the same clips and fixed threshold. Whisper word timestamps plus CMUdict give a weak proxy. I do not call it forced alignment. Public sources: Wikitongues English videos and TalkingHeadBench Hallo/LivePortrait.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On six held-out clips, the saved local reference run gave macro-F1 0.486 for both models and AUROC 0.667 versus 0.556. A fresh Colab CPU rerun on 15 October gave the same macro-F1 and AUROC 0.556 versus 0.222, so the absolute ranking changed but the negative conclusion did not. Five thousand paired stratified bootstrap resamples on the local run give wide intervals because the test set contains only three real and three fake clips. Sources: artifacts/m3_results/test_metrics_with_bootstrap.csv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The saved local run used 547 vowel proxies. On the already-known six-clip split, macro-F1 increased from 0.486 to 0.829 and AUROC from 0.667 to 0.778. Local repeated four-fold means were F1 0.655 versus 0.645 and AUROC 0.678 versus 0.689, so no consistent average gain. Critically, a fresh Colab rerun produced 567 events, including one lower-confidence fallback, and did not replicate the fixed-split gain: follow-up F1 0.486 and AUROC 0.444 versus baseline 0.486 and 0.556. Its repeated-CV deltas were negative on both metrics. The experiment is post-hoc and sensitive to environment. We need forced alignment, controlled sources and a fresh matched hold-out set. Sources: artifacts/m3_improvement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red-channel attack-to-neutral ratio remains above one after all three transformations: 8.45 under H.264 CRF 35, 6.28 after resizing to 256 by 224, and 20.86 at 15 FPS. This is promising forensic evidence for this pair. It is not a general accuracy result because we have only one identity and require an aligned control. Source: artifacts/m3_results/robustness_summary.csv.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includes a negative first result and a transparent post-hoc follow-up. Its local fixed-split gain did not reproduce in Colab, and repeated folds show no stable average gain. The colour branch finds a strong but narrow trace in one peer pair. Yan: For the course project, we have an executable two-strategy evaluation with clear claim boundaries. For a paper, we need a fresh matched multi-generator dataset with forced alignment and many attacked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b5ba35eade4d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488d1cc55a43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4b32a93ec74b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eb7cae564144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ef1d0e692144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fab3d45eec42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18EC30-4524-457A-BF9B-ABAE6CCD50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C1E908-CFE2-4396-BE32-EEAE679130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5E9CCF-4198-4C0C-A93B-FC215580FD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631B0F-4ADB-43B1-AD9C-DE8A65BD06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184F60-C2AD-45D4-89B6-6D149E4798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EB3A02-2D89-4C71-A93D-F8F3E6365B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27706F-1344-45F2-9355-6AFFAB5625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AA32EE-FBE2-4A16-98EE-BC1704838C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D3F901-E40F-415A-80E3-88EC6578C6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BCD20C-AECE-4B2D-A775-995DA8A497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0e58c44afb4edb" /><Relationship Type="http://schemas.openxmlformats.org/officeDocument/2006/relationships/slideLayout" Target="/ppt/slideLayouts/slideLayout1.xml" Id="Rc583a3b4837240a5" /><Relationship Type="http://schemas.openxmlformats.org/officeDocument/2006/relationships/slideLayout" Target="/ppt/slideLayouts/slideLayout2.xml" Id="R862225c2babb4d41" /><Relationship Type="http://schemas.openxmlformats.org/officeDocument/2006/relationships/slideLayout" Target="/ppt/slideLayouts/slideLayout3.xml" Id="R3470bfc409e9447f" /><Relationship Type="http://schemas.openxmlformats.org/officeDocument/2006/relationships/slideLayout" Target="/ppt/slideLayouts/slideLayout4.xml" Id="R50d594c77c7e47f0" /><Relationship Type="http://schemas.openxmlformats.org/officeDocument/2006/relationships/slideLayout" Target="/ppt/slideLayouts/slideLayout5.xml" Id="Rae856367a0d34719" /><Relationship Type="http://schemas.openxmlformats.org/officeDocument/2006/relationships/slideLayout" Target="/ppt/slideLayouts/slideLayout6.xml" Id="Rc68f6ef5063d43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83a3b4837240a5"/>
    <p:sldLayoutId xmlns:r="http://schemas.openxmlformats.org/officeDocument/2006/relationships" id="2147483650" r:id="R862225c2babb4d41"/>
    <p:sldLayoutId xmlns:r="http://schemas.openxmlformats.org/officeDocument/2006/relationships" id="2147483651" r:id="R3470bfc409e9447f"/>
    <p:sldLayoutId xmlns:r="http://schemas.openxmlformats.org/officeDocument/2006/relationships" id="2147483652" r:id="R50d594c77c7e47f0"/>
    <p:sldLayoutId xmlns:r="http://schemas.openxmlformats.org/officeDocument/2006/relationships" id="2147483653" r:id="Rae856367a0d34719"/>
    <p:sldLayoutId xmlns:r="http://schemas.openxmlformats.org/officeDocument/2006/relationships" id="2147483654" r:id="Rc68f6ef5063d43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523904860349bc" /><Relationship Type="http://schemas.openxmlformats.org/officeDocument/2006/relationships/notesSlide" Target="/ppt/notesSlides/notesSlide1.xml" Id="Rc824e2337cfc4e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0fde46403340c5" /><Relationship Type="http://schemas.openxmlformats.org/officeDocument/2006/relationships/notesSlide" Target="/ppt/notesSlides/notesSlide2.xml" Id="Rc6cc5a4b45a146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34b1739b0a46af" /><Relationship Type="http://schemas.openxmlformats.org/officeDocument/2006/relationships/notesSlide" Target="/ppt/notesSlides/notesSlide3.xml" Id="R1caac177481749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a78eec638f49bc" /><Relationship Type="http://schemas.openxmlformats.org/officeDocument/2006/relationships/notesSlide" Target="/ppt/notesSlides/notesSlide4.xml" Id="Re4f8746dad284d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2d2758b06343a5" /><Relationship Type="http://schemas.openxmlformats.org/officeDocument/2006/relationships/notesSlide" Target="/ppt/notesSlides/notesSlide5.xml" Id="R4ffd3eec932443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b65d82be6404a4d" /><Relationship Type="http://schemas.openxmlformats.org/officeDocument/2006/relationships/chart" Target="/ppt/slides/charts/chart1.xml" Id="R9cf648752b5e4040" /><Relationship Type="http://schemas.openxmlformats.org/officeDocument/2006/relationships/notesSlide" Target="/ppt/notesSlides/notesSlide6.xml" Id="R7d90b6f8952b4f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a3269f8a664980" /><Relationship Type="http://schemas.openxmlformats.org/officeDocument/2006/relationships/chart" Target="/ppt/slides/charts/chart2.xml" Id="Rd4064046af184ac7" /><Relationship Type="http://schemas.openxmlformats.org/officeDocument/2006/relationships/chart" Target="/ppt/slides/charts/chart3.xml" Id="R138a5d7db16e48d3" /><Relationship Type="http://schemas.openxmlformats.org/officeDocument/2006/relationships/notesSlide" Target="/ppt/notesSlides/notesSlide7.xml" Id="R6324aff9db1049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0e5d26ccd74f95" /><Relationship Type="http://schemas.openxmlformats.org/officeDocument/2006/relationships/notesSlide" Target="/ppt/notesSlides/notesSlide8.xml" Id="Rdc56cc72727c4c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2b71547da54ac1" /><Relationship Type="http://schemas.openxmlformats.org/officeDocument/2006/relationships/chart" Target="/ppt/slides/charts/chart4.xml" Id="Re454bd3f361e42bf" /><Relationship Type="http://schemas.openxmlformats.org/officeDocument/2006/relationships/chart" Target="/ppt/slides/charts/chart5.xml" Id="R75b86a04884b4cfe" /><Relationship Type="http://schemas.openxmlformats.org/officeDocument/2006/relationships/notesSlide" Target="/ppt/notesSlides/notesSlide9.xml" Id="R6b30d2d962704f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14e8f7c33e4453" /><Relationship Type="http://schemas.openxmlformats.org/officeDocument/2006/relationships/chart" Target="/ppt/slides/charts/chart6.xml" Id="Rb8a0978802ca4cfd" /><Relationship Type="http://schemas.openxmlformats.org/officeDocument/2006/relationships/notesSlide" Target="/ppt/notesSlides/notesSlide10.xml" Id="Rb4da55fa19894e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4cfc1e61844732" /><Relationship Type="http://schemas.openxmlformats.org/officeDocument/2006/relationships/notesSlide" Target="/ppt/notesSlides/notesSlide11.xml" Id="Rbb3961e0869b404a"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0.828571</c:v>
              </c:pt>
              <c:pt idx="1">
                <c:v>0.777778</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0.654926</c:v>
              </c:pt>
              <c:pt idx="1">
                <c:v>0.677778</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0.645193</c:v>
              </c:pt>
              <c:pt idx="1">
                <c:v>0.688889</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8D80BC-E83C-4123-B8F0-8C25F09354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6E72E1-8066-427E-A9FA-75A09A396A84}"/>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stStyle>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A5B6E4F6-13CA-49FA-B140-9DC655E3D593}"/>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stStyle>
          <a:p xmlns:a="http://schemas.openxmlformats.org/drawingml/2006/main">
            <a:pPr algn="l">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D2657AD3-A77B-45C0-8890-1752B5E6120B}"/>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8AAD79-6788-4A91-8C33-C2D733D12EF4}"/>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Lip dynamics in phonetic context</a:t>
            </a:r>
          </a:p>
        </p:txBody>
      </p:sp>
      <p:sp>
        <p:nvSpPr>
          <p:cNvPr id="6" name="">
            <a:extLst xmlns:a="http://schemas.openxmlformats.org/drawingml/2006/main">
              <a:ext uri="{FF2B5EF4-FFF2-40B4-BE49-F238E27FC236}">
                <a16:creationId xmlns:a16="http://schemas.microsoft.com/office/drawing/2014/main" id="{FF44C761-8090-4FE8-BA32-169D63FE164F}"/>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F02913FD-6CA5-47EE-82BA-E147578370F5}"/>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08C4818A-2C71-4DCC-A172-5ADE64E148E5}"/>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stStyle>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758DC1FD-4CD5-4049-8603-4C55F8664FF0}"/>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stStyle>
          <a:p xmlns:a="http://schemas.openxmlformats.org/drawingml/2006/main">
            <a:pPr algn="r">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907098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06A4D1-8332-4879-8D83-3725AEB74A97}"/>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188DDF30-4327-42D7-B8C8-5DC0A3B5C4A8}"/>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DA0B318-05E0-45FA-ADBC-38405DA5D76B}"/>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59563C-796B-40DC-927A-6CD6E57BBA27}"/>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EFB495E-F9F4-480F-98B3-3CBAADA43ACE}"/>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7219CF70-AED5-4D46-A29C-C290696DD5D9}"/>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stStyle>
          <a:p xmlns:a="http://schemas.openxmlformats.org/drawingml/2006/main">
            <a:pPr algn="l">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3029797C-0BC9-48D3-B784-F03A7C625F07}"/>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stStyle>
          <a:p xmlns:a="http://schemas.openxmlformats.org/drawingml/2006/main">
            <a:pPr algn="l">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FF01D506-7483-4BA4-831C-2BEDF87DC49F}"/>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6F1ADB98-2AFB-4BC9-8B57-13D2C8F38625}"/>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Synthetic classifier checks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Two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held-out real-data experiment</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4FEFDBDD-2116-43F1-B737-A00C1BA47E93}"/>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stStyle>
          <a:p xmlns:a="http://schemas.openxmlformats.org/drawingml/2006/main">
            <a:pPr algn="l">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F8E37B42-85CD-46DF-AE42-37C9C0083530}"/>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landmark coverage</a:t>
            </a:r>
          </a:p>
        </p:txBody>
      </p:sp>
      <p:sp>
        <p:nvSpPr>
          <p:cNvPr id="12" name="">
            <a:extLst xmlns:a="http://schemas.openxmlformats.org/drawingml/2006/main">
              <a:ext uri="{FF2B5EF4-FFF2-40B4-BE49-F238E27FC236}">
                <a16:creationId xmlns:a16="http://schemas.microsoft.com/office/drawing/2014/main" id="{8054095D-518E-4259-A444-002E7E07C335}"/>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stStyle>
          <a:p xmlns:a="http://schemas.openxmlformats.org/drawingml/2006/main">
            <a:pPr algn="l">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7EBB8F70-3380-48AA-A540-3ADCF77580D9}"/>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B08EF052-D12A-4A04-858C-EF3FDF5CCB62}"/>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stStyle>
          <a:p xmlns:a="http://schemas.openxmlformats.org/drawingml/2006/main">
            <a:pPr algn="l">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37</a:t>
            </a:r>
          </a:p>
        </p:txBody>
      </p:sp>
      <p:sp>
        <p:nvSpPr>
          <p:cNvPr id="15" name="">
            <a:extLst xmlns:a="http://schemas.openxmlformats.org/drawingml/2006/main">
              <a:ext uri="{FF2B5EF4-FFF2-40B4-BE49-F238E27FC236}">
                <a16:creationId xmlns:a16="http://schemas.microsoft.com/office/drawing/2014/main" id="{0923AF9E-9155-4EF7-8323-0E70764ADD95}"/>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6C82DFA3-68E9-4EAE-83C5-1CB36D174305}"/>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EE75211E-8F2F-48E7-BD9F-E9C2585995DD}"/>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3773425B-16E8-4C26-BD1E-69B99FAF1BD5}"/>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Real pilot evidence plus a peer-pair forensic audit</a:t>
            </a:r>
          </a:p>
        </p:txBody>
      </p:sp>
    </p:spTree>
    <p:extLst>
      <p:ext uri="{BB962C8B-B14F-4D97-AF65-F5344CB8AC3E}">
        <p14:creationId xmlns:p14="http://schemas.microsoft.com/office/powerpoint/2010/main" val="15459050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AB40349-6FA3-4BA5-8EF0-C612AA9187B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A0F27E8C-7BA1-429D-BD32-78F792FDA5A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D0CC2A7E-F56D-45A9-BD56-38AEF4C1D64B}"/>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A16B87-CFAC-43B5-A1EB-20BE2B2AF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DBA9AAFA-A2E5-4ECF-9B97-89700C9D2A4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28CF9C63-C615-4A95-85B2-664D4FE015CC}"/>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B134D047-CB51-436F-BBF0-A71DF0BC04D0}"/>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Public pilot</a:t>
            </a:r>
          </a:p>
        </p:txBody>
      </p:sp>
      <p:sp>
        <p:nvSpPr>
          <p:cNvPr id="8" name="">
            <a:extLst xmlns:a="http://schemas.openxmlformats.org/drawingml/2006/main">
              <a:ext uri="{FF2B5EF4-FFF2-40B4-BE49-F238E27FC236}">
                <a16:creationId xmlns:a16="http://schemas.microsoft.com/office/drawing/2014/main" id="{3193E9C0-3E92-44E8-8C17-923BA711DD24}"/>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speaker/source splits</a:t>
            </a:r>
          </a:p>
        </p:txBody>
      </p:sp>
      <p:sp>
        <p:nvSpPr>
          <p:cNvPr id="9" name="">
            <a:extLst xmlns:a="http://schemas.openxmlformats.org/drawingml/2006/main">
              <a:ext uri="{FF2B5EF4-FFF2-40B4-BE49-F238E27FC236}">
                <a16:creationId xmlns:a16="http://schemas.microsoft.com/office/drawing/2014/main" id="{104709AB-7EFC-4423-B90A-94203FCED267}"/>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14B848B2-0B3C-4EC1-9F13-76B9E07E8401}"/>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CB294896-1D17-45B8-B8A3-3D08A0EAAE7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C51ECAB0-7A75-49A7-BFC6-CC65544F21FC}"/>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EF58857D-3664-45AC-8C08-FA1ABACD5AEF}"/>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0015D242-5AB5-48E2-BC3D-E35759DA5740}"/>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MediaPipe geometry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 vs weak context</a:t>
            </a:r>
          </a:p>
        </p:txBody>
      </p:sp>
      <p:sp>
        <p:nvSpPr>
          <p:cNvPr id="15" name="">
            <a:extLst xmlns:a="http://schemas.openxmlformats.org/drawingml/2006/main">
              <a:ext uri="{FF2B5EF4-FFF2-40B4-BE49-F238E27FC236}">
                <a16:creationId xmlns:a16="http://schemas.microsoft.com/office/drawing/2014/main" id="{6F37B765-7900-4D7C-9A2B-5ED173E10E5C}"/>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A21478CE-7591-4DEE-B736-134185232A92}"/>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7F9038C8-C9BF-4781-98B8-6F6C1124B906}"/>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CD486B40-F26A-41D5-8A0A-5273162FD1E9}"/>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0CC22962-2971-4ECB-8F80-187E1462F2B6}"/>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metrics</a:t>
            </a:r>
          </a:p>
        </p:txBody>
      </p:sp>
      <p:sp>
        <p:nvSpPr>
          <p:cNvPr id="20" name="">
            <a:extLst xmlns:a="http://schemas.openxmlformats.org/drawingml/2006/main">
              <a:ext uri="{FF2B5EF4-FFF2-40B4-BE49-F238E27FC236}">
                <a16:creationId xmlns:a16="http://schemas.microsoft.com/office/drawing/2014/main" id="{FFF7343B-C2B2-4B62-8EF6-3CD7EE420D59}"/>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Macro-F1, AUROC</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Failures and bootstrap intervals</a:t>
            </a:r>
          </a:p>
        </p:txBody>
      </p:sp>
      <p:sp>
        <p:nvSpPr>
          <p:cNvPr id="21" name="">
            <a:extLst xmlns:a="http://schemas.openxmlformats.org/drawingml/2006/main">
              <a:ext uri="{FF2B5EF4-FFF2-40B4-BE49-F238E27FC236}">
                <a16:creationId xmlns:a16="http://schemas.microsoft.com/office/drawing/2014/main" id="{BACFC0EE-E76C-45C9-8D64-7B83B11FA464}"/>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FA1F882F-2B3A-47B3-98E7-3945D6DBF393}"/>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8B08501-42CB-41E5-8A8C-47052497A3C3}"/>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2E77C054-BC3A-4BD0-B562-A39DA87BAF38}"/>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0B6F7EFC-A904-4C8D-83C8-D0C310E059B7}"/>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3B7B9681-654A-4E5F-99E0-4180BBFA708D}"/>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F875EEC9-AD40-4C0A-84BF-372391DBDB9B}"/>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87754E86-044D-41A4-BC32-A60BCB9D3AC1}"/>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stStyle>
          <a:p xmlns:a="http://schemas.openxmlformats.org/drawingml/2006/main">
            <a:pPr algn="ctr">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121938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D85A356-6BBB-4567-9D41-FF1B5557C7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CC2E3D12-AA27-4750-9F7A-6CF04D0F297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DD75D33-AB5E-455C-ACE8-C6DEA325D5A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FA160D-9271-4226-97DD-EAF2267628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DD3ADE68-2617-49CC-87F3-CD1EB0D67A5C}"/>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693674AD-D653-40D5-A080-30664CC61631}"/>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1915F208-9095-4C20-ACD7-9714F770A8D2}"/>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733382B8-4E8E-42A0-AEF7-870EFDBAEDC7}"/>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42859E8C-A0FE-41AB-A9BF-E3678E98AB65}"/>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F25A2D2F-2D56-423E-80BE-DB0543807780}"/>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7D04131-D7FA-4AE0-BCA8-41EF2666EFAD}"/>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13E9E90F-9E22-4DFB-9B42-4CDC2689B2C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755A267F-6DDF-454A-852B-B3DC2B80124E}"/>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CF7490A2-1494-418D-95C3-0AEB543A86A0}"/>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0043184D-29B2-4869-962F-5165D6AD69FF}"/>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E547732E-3CC7-46A3-880A-D7E8B31E794B}"/>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69FDF231-A33C-47DE-8126-5C42D7C47D57}"/>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1D40246-368D-4707-8C2E-830E0CDA5BF5}"/>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stStyle>
          <a:p xmlns:a="http://schemas.openxmlformats.org/drawingml/2006/main">
            <a:pPr algn="l">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62CD780B-73AA-491B-B72C-6B5727720CBC}"/>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stStyle>
          <a:p xmlns:a="http://schemas.openxmlformats.org/drawingml/2006/main">
            <a:pPr algn="ctr">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121C4781-A05C-4687-A3D0-6A8EA3F0148E}"/>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stStyle>
          <a:p xmlns:a="http://schemas.openxmlformats.org/drawingml/2006/main">
            <a:pPr algn="ct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CDD6B5DD-8023-4ABC-9032-89597B176DD4}"/>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8456625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5935BCE-8361-45C2-B086-9D3B0415C07F}"/>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lip dynamics in phonetic context</a:t>
            </a:r>
          </a:p>
        </p:txBody>
      </p:sp>
      <p:sp>
        <p:nvSpPr>
          <p:cNvPr id="2" name="">
            <a:extLst xmlns:a="http://schemas.openxmlformats.org/drawingml/2006/main">
              <a:ext uri="{FF2B5EF4-FFF2-40B4-BE49-F238E27FC236}">
                <a16:creationId xmlns:a16="http://schemas.microsoft.com/office/drawing/2014/main" id="{23DEF771-0588-434A-BA6F-50F7C9C9EA4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D5316D59-26CD-4408-8330-DEF694D16178}"/>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36F778-DDF1-4F78-8116-D758E3C1BEA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9D0B250A-AE39-4AFE-8CBE-56566F58E8E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EC21096B-497F-4702-A261-D35C72C739A2}"/>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35A2B65C-AC83-4834-82B3-9DF55ABA16E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24 clips</a:t>
            </a:r>
          </a:p>
        </p:txBody>
      </p:sp>
      <p:sp>
        <p:nvSpPr>
          <p:cNvPr id="8" name="">
            <a:extLst xmlns:a="http://schemas.openxmlformats.org/drawingml/2006/main">
              <a:ext uri="{FF2B5EF4-FFF2-40B4-BE49-F238E27FC236}">
                <a16:creationId xmlns:a16="http://schemas.microsoft.com/office/drawing/2014/main" id="{8A23523C-5406-4266-8D2E-6CB0EDE3C2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25 FPS, 512 canvas</a:t>
            </a:r>
          </a:p>
        </p:txBody>
      </p:sp>
      <p:sp>
        <p:nvSpPr>
          <p:cNvPr id="9" name="">
            <a:extLst xmlns:a="http://schemas.openxmlformats.org/drawingml/2006/main">
              <a:ext uri="{FF2B5EF4-FFF2-40B4-BE49-F238E27FC236}">
                <a16:creationId xmlns:a16="http://schemas.microsoft.com/office/drawing/2014/main" id="{6F4B8B65-4B2B-41C8-A9CF-2A2ED65AC1C6}"/>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285D527D-8A7E-4AEB-B203-7B9E5615E268}"/>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AB987D6-3CE7-41C2-B222-5E43FC9F2308}"/>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36952580-590E-474A-A65B-AB26F4080C99}"/>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E8201684-595E-49FB-ADD1-42B6B10C7AEA}"/>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4A7E36C5-23AA-4423-9FB7-031EE68B54B2}"/>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5CB091D8-A724-4DA7-B93C-11449A888EDF}"/>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3807DFD-66F4-4E2D-B505-50D91D343A35}"/>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3A7C71C8-B15D-426A-A6A1-18E3A64F6991}"/>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17C4E7DD-F58A-49C9-A204-7E3A4406006E}"/>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FA07957B-12F2-4706-8C03-09572A7A2C35}"/>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Two models</a:t>
            </a:r>
          </a:p>
        </p:txBody>
      </p:sp>
      <p:sp>
        <p:nvSpPr>
          <p:cNvPr id="20" name="">
            <a:extLst xmlns:a="http://schemas.openxmlformats.org/drawingml/2006/main">
              <a:ext uri="{FF2B5EF4-FFF2-40B4-BE49-F238E27FC236}">
                <a16:creationId xmlns:a16="http://schemas.microsoft.com/office/drawing/2014/main" id="{8B609C4F-1293-40D7-A8C6-6707DF0FD187}"/>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Weak context</a:t>
            </a:r>
          </a:p>
        </p:txBody>
      </p:sp>
      <p:sp>
        <p:nvSpPr>
          <p:cNvPr id="21" name="">
            <a:extLst xmlns:a="http://schemas.openxmlformats.org/drawingml/2006/main">
              <a:ext uri="{FF2B5EF4-FFF2-40B4-BE49-F238E27FC236}">
                <a16:creationId xmlns:a16="http://schemas.microsoft.com/office/drawing/2014/main" id="{85B76FFF-E314-42B0-98B8-695C45453144}"/>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66224D23-5D5B-498B-B4CF-7E8E718FC083}"/>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53405A55-FCF1-4601-83F7-689C49E35892}"/>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test</a:t>
            </a:r>
          </a:p>
        </p:txBody>
      </p:sp>
      <p:sp>
        <p:nvSpPr>
          <p:cNvPr id="24" name="">
            <a:extLst xmlns:a="http://schemas.openxmlformats.org/drawingml/2006/main">
              <a:ext uri="{FF2B5EF4-FFF2-40B4-BE49-F238E27FC236}">
                <a16:creationId xmlns:a16="http://schemas.microsoft.com/office/drawing/2014/main" id="{1D18FE10-71ED-49A2-AC0C-F4B10231B80F}"/>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n=6</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FB2F8C89-7BF1-4DC0-A919-911F8F13E06D}"/>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Same clips and split for both models</a:t>
            </a:r>
          </a:p>
        </p:txBody>
      </p:sp>
      <p:sp>
        <p:nvSpPr>
          <p:cNvPr id="26" name="">
            <a:extLst xmlns:a="http://schemas.openxmlformats.org/drawingml/2006/main">
              <a:ext uri="{FF2B5EF4-FFF2-40B4-BE49-F238E27FC236}">
                <a16:creationId xmlns:a16="http://schemas.microsoft.com/office/drawing/2014/main" id="{A59B970D-E583-4F0E-A972-9D1F96F781F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central vowel proxy per clip</a:t>
            </a:r>
          </a:p>
        </p:txBody>
      </p:sp>
      <p:sp>
        <p:nvSpPr>
          <p:cNvPr id="27" name="">
            <a:extLst xmlns:a="http://schemas.openxmlformats.org/drawingml/2006/main">
              <a:ext uri="{FF2B5EF4-FFF2-40B4-BE49-F238E27FC236}">
                <a16:creationId xmlns:a16="http://schemas.microsoft.com/office/drawing/2014/main" id="{D308C7CD-CD89-4E0D-AB60-234DE1CC3F06}"/>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Not forced alignment</a:t>
            </a:r>
          </a:p>
        </p:txBody>
      </p:sp>
      <p:sp>
        <p:nvSpPr>
          <p:cNvPr id="28" name="">
            <a:extLst xmlns:a="http://schemas.openxmlformats.org/drawingml/2006/main">
              <a:ext uri="{FF2B5EF4-FFF2-40B4-BE49-F238E27FC236}">
                <a16:creationId xmlns:a16="http://schemas.microsoft.com/office/drawing/2014/main" id="{5933C3E0-B287-4B52-A67A-49E970D8524E}"/>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Feasibility pilot, not generalisation evidence</a:t>
            </a:r>
          </a:p>
        </p:txBody>
      </p:sp>
      <p:sp>
        <p:nvSpPr>
          <p:cNvPr id="29" name="">
            <a:extLst xmlns:a="http://schemas.openxmlformats.org/drawingml/2006/main">
              <a:ext uri="{FF2B5EF4-FFF2-40B4-BE49-F238E27FC236}">
                <a16:creationId xmlns:a16="http://schemas.microsoft.com/office/drawing/2014/main" id="{B16C5DA8-69AD-489F-8D0D-B2E6AE803BF4}"/>
              </a:ext>
            </a:extLst>
          </p:cNvPr>
          <p:cNvSpPr>
            <a:spLocks xmlns:a="http://schemas.openxmlformats.org/drawingml/2006/main" noGrp="1"/>
          </p:cNvSpPr>
          <p:nvPr/>
        </p:nvSpPr>
        <p:spPr>
          <a:xfrm xmlns:a="http://schemas.openxmlformats.org/drawingml/2006/main">
            <a:off x="666750" y="578167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stStyle>
          <a:p xmlns:a="http://schemas.openxmlformats.org/drawingml/2006/main">
            <a:pPr algn="l">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Zhiheng</a:t>
            </a:r>
          </a:p>
        </p:txBody>
      </p:sp>
    </p:spTree>
    <p:extLst>
      <p:ext uri="{BB962C8B-B14F-4D97-AF65-F5344CB8AC3E}">
        <p14:creationId xmlns:p14="http://schemas.microsoft.com/office/powerpoint/2010/main" val="9215192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C31C49-F58F-49B5-8A99-FA5B46BE485B}"/>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Weak context did not improve the held-out pilot</a:t>
            </a:r>
          </a:p>
        </p:txBody>
      </p:sp>
      <p:sp>
        <p:nvSpPr>
          <p:cNvPr id="2" name="">
            <a:extLst xmlns:a="http://schemas.openxmlformats.org/drawingml/2006/main">
              <a:ext uri="{FF2B5EF4-FFF2-40B4-BE49-F238E27FC236}">
                <a16:creationId xmlns:a16="http://schemas.microsoft.com/office/drawing/2014/main" id="{E18DBA4B-608A-4105-BE0F-8505376FF44C}"/>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7A9C48D-A6D1-48BF-B0A6-8BC3A8B5A18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351643-6B7E-43AA-95C1-08F58C0AE0D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FA23405-C99B-46C8-866C-916749DF104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547125B1-DCF7-477D-934F-F7A7154BDE7F}"/>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9cf648752b5e4040"/>
          </a:graphicData>
        </a:graphic>
      </p:graphicFrame>
      <p:sp>
        <p:nvSpPr>
          <p:cNvPr id="7" name="">
            <a:extLst xmlns:a="http://schemas.openxmlformats.org/drawingml/2006/main">
              <a:ext uri="{FF2B5EF4-FFF2-40B4-BE49-F238E27FC236}">
                <a16:creationId xmlns:a16="http://schemas.microsoft.com/office/drawing/2014/main" id="{AB2DFB8E-9029-4F65-8082-D73CDE2C14AC}"/>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stStyle>
          <a:p xmlns:a="http://schemas.openxmlformats.org/drawingml/2006/main">
            <a:pPr algn="l">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B59DCE8B-1079-4E40-A474-3526139FB7EE}"/>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stStyle>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84970148-3B1E-43F9-9111-2E84ECACEC90}"/>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E4244A22-BAF6-42A1-ACDA-D94143231517}"/>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56F7B29F-F484-4D3D-92B0-F6CCCD62748F}"/>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stStyle>
          <a:p xmlns:a="http://schemas.openxmlformats.org/drawingml/2006/main">
            <a:pPr algn="l">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523D14FE-F0C9-4923-8DBF-C606149DCEB4}"/>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90B4C1E1-C298-42BF-830B-D204B438C8B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stStyle>
          <a:p xmlns:a="http://schemas.openxmlformats.org/drawingml/2006/main">
            <a:pPr algn="ctr">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Saved local run shown. Fresh Colab (15 Oct): AUROC 0.556 vs 0.222; the weak proxy still degrades.</a:t>
            </a:r>
          </a:p>
        </p:txBody>
      </p:sp>
    </p:spTree>
    <p:extLst>
      <p:ext uri="{BB962C8B-B14F-4D97-AF65-F5344CB8AC3E}">
        <p14:creationId xmlns:p14="http://schemas.microsoft.com/office/powerpoint/2010/main" val="13965163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8B3503-5A2F-4558-96A0-7257399CC8D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Multi-event follow-up: local gain not reproduced in Colab</a:t>
            </a:r>
          </a:p>
        </p:txBody>
      </p:sp>
      <p:sp>
        <p:nvSpPr>
          <p:cNvPr id="2" name="">
            <a:extLst xmlns:a="http://schemas.openxmlformats.org/drawingml/2006/main">
              <a:ext uri="{FF2B5EF4-FFF2-40B4-BE49-F238E27FC236}">
                <a16:creationId xmlns:a16="http://schemas.microsoft.com/office/drawing/2014/main" id="{27654596-6548-4694-B2A4-6AC3712C2F14}"/>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F1DB7A4-8991-4320-A802-92066555EDB0}"/>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1B32E8-B54E-4C17-866C-2080E2D0F419}"/>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8579F026-6B04-4474-9C95-6B4C9CC6250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AB09948B-38FA-4989-A084-A12799B9D364}"/>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d4064046af184ac7"/>
          </a:graphicData>
        </a:graphic>
      </p:graphicFrame>
      <p:sp>
        <p:nvSpPr>
          <p:cNvPr id="7" name="">
            <a:extLst xmlns:a="http://schemas.openxmlformats.org/drawingml/2006/main">
              <a:ext uri="{FF2B5EF4-FFF2-40B4-BE49-F238E27FC236}">
                <a16:creationId xmlns:a16="http://schemas.microsoft.com/office/drawing/2014/main" id="{45647CB1-BCA6-4837-BF6B-8012B5478ED5}"/>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Saved local split, n = 6</a:t>
            </a:r>
          </a:p>
        </p:txBody>
      </p:sp>
      <p:graphicFrame>
        <p:nvGraphicFramePr>
          <p:cNvPr id="8" name="Chart">
            <a:extLst xmlns:a="http://schemas.openxmlformats.org/drawingml/2006/main">
              <a:ext uri="{FF2B5EF4-FFF2-40B4-BE49-F238E27FC236}">
                <a16:creationId xmlns:a16="http://schemas.microsoft.com/office/drawing/2014/main" id="{C5095AF1-811C-49DB-800A-2BE6E676B8C7}"/>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138a5d7db16e48d3"/>
          </a:graphicData>
        </a:graphic>
      </p:graphicFrame>
      <p:sp>
        <p:nvSpPr>
          <p:cNvPr id="9" name="">
            <a:extLst xmlns:a="http://schemas.openxmlformats.org/drawingml/2006/main">
              <a:ext uri="{FF2B5EF4-FFF2-40B4-BE49-F238E27FC236}">
                <a16:creationId xmlns:a16="http://schemas.microsoft.com/office/drawing/2014/main" id="{F50FA209-D5D2-42C2-8C30-355BF77C801A}"/>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Saved local: 20 repeated four-fold runs</a:t>
            </a:r>
          </a:p>
        </p:txBody>
      </p:sp>
      <p:sp>
        <p:nvSpPr>
          <p:cNvPr id="10" name="">
            <a:extLst xmlns:a="http://schemas.openxmlformats.org/drawingml/2006/main">
              <a:ext uri="{FF2B5EF4-FFF2-40B4-BE49-F238E27FC236}">
                <a16:creationId xmlns:a16="http://schemas.microsoft.com/office/drawing/2014/main" id="{7DEB6B3D-7D77-4D0C-9F44-0323988D551F}"/>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stStyle>
          <a:p xmlns:a="http://schemas.openxmlformats.org/drawingml/2006/main">
            <a:pPr algn="l">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547 vowel events, median 20 per clip</a:t>
            </a:r>
          </a:p>
        </p:txBody>
      </p:sp>
      <p:sp>
        <p:nvSpPr>
          <p:cNvPr id="11" name="">
            <a:extLst xmlns:a="http://schemas.openxmlformats.org/drawingml/2006/main">
              <a:ext uri="{FF2B5EF4-FFF2-40B4-BE49-F238E27FC236}">
                <a16:creationId xmlns:a16="http://schemas.microsoft.com/office/drawing/2014/main" id="{C389AD4A-F194-4114-A1C7-E609903C5E63}"/>
              </a:ext>
            </a:extLst>
          </p:cNvPr>
          <p:cNvSpPr>
            <a:spLocks xmlns:a="http://schemas.openxmlformats.org/drawingml/2006/main" noGrp="1"/>
          </p:cNvSpPr>
          <p:nvPr/>
        </p:nvSpPr>
        <p:spPr>
          <a:xfrm xmlns:a="http://schemas.openxmlformats.org/drawingml/2006/main">
            <a:off x="6477000" y="54292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stStyle>
          <a:p xmlns:a="http://schemas.openxmlformats.org/drawingml/2006/main">
            <a:pPr algn="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Mean change: -0.010 F1, +0.011 AUROC</a:t>
            </a:r>
          </a:p>
        </p:txBody>
      </p:sp>
      <p:sp>
        <p:nvSpPr>
          <p:cNvPr id="12" name="">
            <a:extLst xmlns:a="http://schemas.openxmlformats.org/drawingml/2006/main">
              <a:ext uri="{FF2B5EF4-FFF2-40B4-BE49-F238E27FC236}">
                <a16:creationId xmlns:a16="http://schemas.microsoft.com/office/drawing/2014/main" id="{0D9541A0-01BB-498A-9BE1-49D22C2A3516}"/>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14B1AD-2C6E-4EBF-B944-43B30B9F191B}"/>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stStyle>
          <a:p xmlns:a="http://schemas.openxmlformats.org/drawingml/2006/main">
            <a:pPr algn="ctr">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Fresh Colab: test F1 0.486 / AUROC 0.444; CV mean deltas -0.057 F1 / -0.067 AUROC.</a:t>
            </a:r>
          </a:p>
        </p:txBody>
      </p:sp>
    </p:spTree>
    <p:extLst>
      <p:ext uri="{BB962C8B-B14F-4D97-AF65-F5344CB8AC3E}">
        <p14:creationId xmlns:p14="http://schemas.microsoft.com/office/powerpoint/2010/main" val="7368121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EA7A057-CD9D-4474-B0A3-07CC7B5DE6D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00998E09-0443-462B-8409-64A162DCF99C}"/>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8FCF9B1-5EC3-41CB-86D7-99F72EC5D608}"/>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F63CEE-208C-4F6C-B2EA-04EF636A537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29EA6C56-D9A6-4B33-84F3-5B0FE3C8B5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91182A07-2567-4A19-A1F2-969D42224436}"/>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79595491-DA60-42C3-BE6F-255C00364ED7}"/>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95D73FB8-27DF-4AEC-B44B-C125CF7D786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117D3999-65FE-405E-BB8C-A7B191771094}"/>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69D67F25-88C7-47BE-A722-05597714963B}"/>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267CBC0B-40FA-4527-906F-AA5CC1FB108E}"/>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8526788F-E246-4BF9-BDBC-95CDFF3B4965}"/>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598571A7-B754-4D2E-80B4-3DCB82EAF77C}"/>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3B93CD13-7ADA-4DCA-BD10-138F4884D232}"/>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EB558F64-B8AF-44B3-A945-9B47C03514D8}"/>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3975F7D4-9063-418D-9C9F-58E801EA2630}"/>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CA3B8094-32A5-442F-A974-E6955FBF0E42}"/>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54B764F-33DA-43EE-8114-F784518B8E45}"/>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ADC679F-8F4A-4D90-8719-4A76D38A8881}"/>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5B367E19-66F0-4681-AAE3-96059AA2DB7E}"/>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4418FF11-A9E3-436C-A8FB-44E37E8ADFC3}"/>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47A55ACD-561F-4AF6-97DC-C02EB9696360}"/>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stStyle>
          <a:p xmlns:a="http://schemas.openxmlformats.org/drawingml/2006/main">
            <a:pPr algn="l">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BB6A1B84-96DD-45B8-83F0-02E8807A9C93}"/>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BFFD7FC7-4621-4CBF-8810-7B689216B8A8}"/>
              </a:ext>
            </a:extLst>
          </p:cNvPr>
          <p:cNvSpPr>
            <a:spLocks xmlns:a="http://schemas.openxmlformats.org/drawingml/2006/main" noGrp="1"/>
          </p:cNvSpPr>
          <p:nvPr/>
        </p:nvSpPr>
        <p:spPr>
          <a:xfrm xmlns:a="http://schemas.openxmlformats.org/drawingml/2006/main">
            <a:off x="1714500" y="59055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Paired forensic evidence. No pulse recovery and no arbitrary-video classifier.</a:t>
            </a:r>
          </a:p>
        </p:txBody>
      </p:sp>
    </p:spTree>
    <p:extLst>
      <p:ext uri="{BB962C8B-B14F-4D97-AF65-F5344CB8AC3E}">
        <p14:creationId xmlns:p14="http://schemas.microsoft.com/office/powerpoint/2010/main" val="626063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4257F73-AECF-4B28-9001-35AF8B92142A}"/>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E1105C09-897A-45C8-AA9E-11860C60332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83372BD0-C4F2-4B5A-9FBB-D099ED57938C}"/>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216E89-F59B-47C4-A0C1-CC0D63E65EA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AAEFC98-E24A-43B4-9F6B-85580680C287}"/>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AB9EA7ED-DC1E-44E5-84D6-FD386501B66F}"/>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e454bd3f361e42bf"/>
          </a:graphicData>
        </a:graphic>
      </p:graphicFrame>
      <p:graphicFrame>
        <p:nvGraphicFramePr>
          <p:cNvPr id="7" name="Chart">
            <a:extLst xmlns:a="http://schemas.openxmlformats.org/drawingml/2006/main">
              <a:ext uri="{FF2B5EF4-FFF2-40B4-BE49-F238E27FC236}">
                <a16:creationId xmlns:a16="http://schemas.microsoft.com/office/drawing/2014/main" id="{51BBA3A7-9108-45DF-8F80-45DB57121559}"/>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75b86a04884b4cfe"/>
          </a:graphicData>
        </a:graphic>
      </p:graphicFrame>
      <p:sp>
        <p:nvSpPr>
          <p:cNvPr id="8" name="">
            <a:extLst xmlns:a="http://schemas.openxmlformats.org/drawingml/2006/main">
              <a:ext uri="{FF2B5EF4-FFF2-40B4-BE49-F238E27FC236}">
                <a16:creationId xmlns:a16="http://schemas.microsoft.com/office/drawing/2014/main" id="{DA0521BD-03C3-4A87-9D6C-B97E41C34B4E}"/>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F5D218F2-8E25-4029-8083-30D9E6426DEE}"/>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767AF941-F311-4BD5-AFC7-A1ED45801D6F}"/>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CA47D8EF-E81F-4FD9-8E81-09D0AA9687E0}"/>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stStyle>
          <a:p xmlns:a="http://schemas.openxmlformats.org/drawingml/2006/main">
            <a:pPr algn="l">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95092D44-5FB8-4AE2-A959-31D3E50AA17D}"/>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7F54F6E4-191B-41C9-8107-41E8CE7304BD}"/>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stStyle>
          <a:p xmlns:a="http://schemas.openxmlformats.org/drawingml/2006/main">
            <a:pPr algn="l">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E39A9636-8722-46E9-A119-A4CCDA9BFC49}"/>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6030B08C-9F38-4765-A788-510C1F380AA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07420948-1E37-4A86-A6BE-088B186A0ED7}"/>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stStyle>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B9A1990A-5949-4316-9C26-30973FC96CB0}"/>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stStyle>
          <a:p xmlns:a="http://schemas.openxmlformats.org/drawingml/2006/main">
            <a:pPr algn="l">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20045301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099DF02-8173-4EA8-8E16-996A922F646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61F601CE-D19E-48D6-86E4-929E9C93F86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1DD8CF8-3E47-45B6-8428-CFC2FE2DBA7D}"/>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D5B056-DCDE-4E63-8945-9A4C222CD88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D9956EB9-C228-46CE-A4C8-5962422E335F}"/>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C220E11E-3165-4310-84D3-D35A7A58DBAB}"/>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b8a0978802ca4cfd"/>
          </a:graphicData>
        </a:graphic>
      </p:graphicFrame>
      <p:sp>
        <p:nvSpPr>
          <p:cNvPr id="7" name="">
            <a:extLst xmlns:a="http://schemas.openxmlformats.org/drawingml/2006/main">
              <a:ext uri="{FF2B5EF4-FFF2-40B4-BE49-F238E27FC236}">
                <a16:creationId xmlns:a16="http://schemas.microsoft.com/office/drawing/2014/main" id="{18AE1501-9A85-4E73-ABDC-CD3639B6B505}"/>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stStyle>
          <a:p xmlns:a="http://schemas.openxmlformats.org/drawingml/2006/main">
            <a:pPr algn="l">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F8719F2E-4952-4EF6-94D8-76F4D425D0E0}"/>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E05AFDE1-2A34-4CE8-97D0-9EE94BD8EEC1}"/>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0FCADE59-3D1B-4FB4-B278-811A9AB80304}"/>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329919A5-0285-49E2-9858-232C739D8462}"/>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23B6899A-CA1A-42F8-AFA6-08ED99ADBBB7}"/>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FBD3201F-B00B-47FC-BC51-0BBE95521C57}"/>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3E24F7BD-F7C1-461F-AD00-EEBADB48CC26}"/>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C34D1F0A-F4D6-4AD5-ACAA-94A4EA82B325}"/>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579CA41B-7906-4AA4-8E59-0CFD8927A9A2}"/>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Promising forensic evidence for this pair</a:t>
            </a:r>
          </a:p>
        </p:txBody>
      </p:sp>
      <p:sp>
        <p:nvSpPr>
          <p:cNvPr id="17" name="">
            <a:extLst xmlns:a="http://schemas.openxmlformats.org/drawingml/2006/main">
              <a:ext uri="{FF2B5EF4-FFF2-40B4-BE49-F238E27FC236}">
                <a16:creationId xmlns:a16="http://schemas.microsoft.com/office/drawing/2014/main" id="{72B9EA8F-09D8-4163-8CDB-D32D5867EED9}"/>
              </a:ext>
            </a:extLst>
          </p:cNvPr>
          <p:cNvSpPr>
            <a:spLocks xmlns:a="http://schemas.openxmlformats.org/drawingml/2006/main" noGrp="1"/>
          </p:cNvSpPr>
          <p:nvPr/>
        </p:nvSpPr>
        <p:spPr>
          <a:xfrm xmlns:a="http://schemas.openxmlformats.org/drawingml/2006/main">
            <a:off x="6858000" y="5905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500" b="1">
                <a:solidFill>
                  <a:srgbClr val="D64545"/>
                </a:solidFill>
                <a:latin typeface="Helvetica Neue"/>
                <a:ea typeface="Helvetica Neue"/>
                <a:cs typeface="Helvetica Neue"/>
              </a:defRPr>
            </a:defPPr>
          </a:lstStyle>
          <a:p xmlns:a="http://schemas.openxmlformats.org/drawingml/2006/main">
            <a:pPr algn="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Not population-level detector accuracy</a:t>
            </a:r>
          </a:p>
        </p:txBody>
      </p:sp>
    </p:spTree>
    <p:extLst>
      <p:ext uri="{BB962C8B-B14F-4D97-AF65-F5344CB8AC3E}">
        <p14:creationId xmlns:p14="http://schemas.microsoft.com/office/powerpoint/2010/main" val="6944371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5CE4C68-1E6C-4EAD-9970-F34A9F994AC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1FA1338E-1DBE-4A3E-A0A8-6155DF32C8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11FBFEC5-18A2-4589-B1F8-A9FB17C678AA}"/>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21D0FE-577B-4BF8-9D2B-AB5F05F60BE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FC9C418-9067-4AD3-9B48-D871C278B52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12CD15ED-C012-4626-8219-5F93F4254621}"/>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stStyle>
          <a:p xmlns:a="http://schemas.openxmlformats.org/drawingml/2006/main">
            <a:pPr algn="l">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A1E67DEC-5335-44D9-B9FD-A7B0761CBCF0}"/>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Weak context failed; the local multi-event gain did not reproduce in Colab</a:t>
            </a:r>
          </a:p>
        </p:txBody>
      </p:sp>
      <p:sp>
        <p:nvSpPr>
          <p:cNvPr id="8" name="">
            <a:extLst xmlns:a="http://schemas.openxmlformats.org/drawingml/2006/main">
              <a:ext uri="{FF2B5EF4-FFF2-40B4-BE49-F238E27FC236}">
                <a16:creationId xmlns:a16="http://schemas.microsoft.com/office/drawing/2014/main" id="{E53E4625-FB56-4069-9306-A2679ED4AD2A}"/>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reproducible negative result plus a transparent follow-up.</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forced alignment and a fresh matched hold-out set.</a:t>
            </a:r>
          </a:p>
        </p:txBody>
      </p:sp>
      <p:sp>
        <p:nvSpPr>
          <p:cNvPr id="9" name="">
            <a:extLst xmlns:a="http://schemas.openxmlformats.org/drawingml/2006/main">
              <a:ext uri="{FF2B5EF4-FFF2-40B4-BE49-F238E27FC236}">
                <a16:creationId xmlns:a16="http://schemas.microsoft.com/office/drawing/2014/main" id="{42F9B021-DDFB-4FE8-9275-4C70E1677101}"/>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6C452AA8-4B68-479C-B142-4FD4BA15BC26}"/>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stStyle>
          <a:p xmlns:a="http://schemas.openxmlformats.org/drawingml/2006/main">
            <a:pPr algn="l">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29FB3C81-1492-48BE-91F3-C5D8E9AFD924}"/>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5CA0CCDE-675C-4627-A2E7-32269AB180AE}"/>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controlled paired forensic audit.</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unpaired features and false-positive tests.</a:t>
            </a:r>
          </a:p>
        </p:txBody>
      </p:sp>
      <p:sp>
        <p:nvSpPr>
          <p:cNvPr id="13" name="">
            <a:extLst xmlns:a="http://schemas.openxmlformats.org/drawingml/2006/main">
              <a:ext uri="{FF2B5EF4-FFF2-40B4-BE49-F238E27FC236}">
                <a16:creationId xmlns:a16="http://schemas.microsoft.com/office/drawing/2014/main" id="{85E7B289-083D-4893-B27E-337AC5B55F48}"/>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2A0407-B728-43FC-8B0D-BEC00624EAF0}"/>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39AB49DD-6CB2-4003-978A-ACF6C382F9AD}"/>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DB2C23EC-18ED-4D53-8EBA-718ABEEA3F34}"/>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stStyle>
          <a:p xmlns:a="http://schemas.openxmlformats.org/drawingml/2006/main">
            <a:pPr algn="ctr">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Complete course evidence now. Larger matched study before any paper claim.</a:t>
            </a:r>
          </a:p>
        </p:txBody>
      </p:sp>
    </p:spTree>
    <p:extLst>
      <p:ext uri="{BB962C8B-B14F-4D97-AF65-F5344CB8AC3E}">
        <p14:creationId xmlns:p14="http://schemas.microsoft.com/office/powerpoint/2010/main" val="256714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2026-10-15T10:39:25.8720000Z</dcterms:created>
  <dcterms:modified xsi:type="dcterms:W3CDTF">2026-10-15T10:39:25.8720000Z</dcterms:modified>
</coreProperties>
</file>