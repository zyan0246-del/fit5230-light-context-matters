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a1a15ee2354f51" /><Relationship Type="http://schemas.openxmlformats.org/officeDocument/2006/relationships/extended-properties" Target="/docProps/app.xml" Id="R906d39204a0745b5" /><Relationship Type="http://schemas.openxmlformats.org/officeDocument/2006/relationships/officeDocument" Target="/ppt/presentation.xml" Id="Rdef80215f9ff46b8" /></Relationships>
</file>

<file path=ppt/presentation.xml><?xml version="1.0" encoding="utf-8"?>
<p:presentation xmlns:p="http://schemas.openxmlformats.org/presentationml/2006/main">
  <p:sldMasterIdLst>
    <p:sldMasterId xmlns:r="http://schemas.openxmlformats.org/officeDocument/2006/relationships" id="2147483648" r:id="Ra79e3344f10446ce"/>
  </p:sldMasterIdLst>
  <p:notesMasterIdLst>
    <p:notesMasterId xmlns:r="http://schemas.openxmlformats.org/officeDocument/2006/relationships" r:id="Reb07b24a7b5b4d31"/>
  </p:notesMasterIdLst>
  <p:sldIdLst>
    <p:sldId xmlns:r="http://schemas.openxmlformats.org/officeDocument/2006/relationships" id="256" r:id="Reb5d687d9e0f4dac"/>
    <p:sldId xmlns:r="http://schemas.openxmlformats.org/officeDocument/2006/relationships" id="257" r:id="R409fbb8f93174b5f"/>
    <p:sldId xmlns:r="http://schemas.openxmlformats.org/officeDocument/2006/relationships" id="258" r:id="Rfd5257b3e16847e7"/>
    <p:sldId xmlns:r="http://schemas.openxmlformats.org/officeDocument/2006/relationships" id="259" r:id="Rf16563c266714869"/>
    <p:sldId xmlns:r="http://schemas.openxmlformats.org/officeDocument/2006/relationships" id="260" r:id="R203dd0f006524e0e"/>
    <p:sldId xmlns:r="http://schemas.openxmlformats.org/officeDocument/2006/relationships" id="261" r:id="Ra8570cd87aa1428b"/>
    <p:sldId xmlns:r="http://schemas.openxmlformats.org/officeDocument/2006/relationships" id="262" r:id="Rb8c176257a7b4ee1"/>
    <p:sldId xmlns:r="http://schemas.openxmlformats.org/officeDocument/2006/relationships" id="263" r:id="R2994f1433ca34814"/>
    <p:sldId xmlns:r="http://schemas.openxmlformats.org/officeDocument/2006/relationships" id="264" r:id="Rf038d2ac198a4a72"/>
    <p:sldId xmlns:r="http://schemas.openxmlformats.org/officeDocument/2006/relationships" id="265" r:id="R322ac9edc7ff4ff1"/>
    <p:sldId xmlns:r="http://schemas.openxmlformats.org/officeDocument/2006/relationships" id="266" r:id="R31bbd41bc33244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135ab6e48f4f0d" /><Relationship Type="http://schemas.openxmlformats.org/officeDocument/2006/relationships/slideMaster" Target="/ppt/slideMasters/slideMaster1.xml" Id="Ra79e3344f10446ce" /><Relationship Type="http://schemas.openxmlformats.org/officeDocument/2006/relationships/notesMaster" Target="/ppt/notesMasters/notesMaster1.xml" Id="Reb07b24a7b5b4d31" /><Relationship Type="http://schemas.openxmlformats.org/officeDocument/2006/relationships/presProps" Target="/ppt/presProps.xml" Id="Rf7e3c3b55bb144df" /><Relationship Type="http://schemas.openxmlformats.org/officeDocument/2006/relationships/tableStyles" Target="/ppt/tableStyles.xml" Id="R1445c06543444061" /><Relationship Type="http://schemas.openxmlformats.org/officeDocument/2006/relationships/slide" Target="/ppt/slides/slide1.xml" Id="Reb5d687d9e0f4dac" /><Relationship Type="http://schemas.openxmlformats.org/officeDocument/2006/relationships/slide" Target="/ppt/slides/slide2.xml" Id="R409fbb8f93174b5f" /><Relationship Type="http://schemas.openxmlformats.org/officeDocument/2006/relationships/slide" Target="/ppt/slides/slide3.xml" Id="Rfd5257b3e16847e7" /><Relationship Type="http://schemas.openxmlformats.org/officeDocument/2006/relationships/slide" Target="/ppt/slides/slide4.xml" Id="Rf16563c266714869" /><Relationship Type="http://schemas.openxmlformats.org/officeDocument/2006/relationships/slide" Target="/ppt/slides/slide5.xml" Id="R203dd0f006524e0e" /><Relationship Type="http://schemas.openxmlformats.org/officeDocument/2006/relationships/slide" Target="/ppt/slides/slide6.xml" Id="Ra8570cd87aa1428b" /><Relationship Type="http://schemas.openxmlformats.org/officeDocument/2006/relationships/slide" Target="/ppt/slides/slide7.xml" Id="Rb8c176257a7b4ee1" /><Relationship Type="http://schemas.openxmlformats.org/officeDocument/2006/relationships/slide" Target="/ppt/slides/slide8.xml" Id="R2994f1433ca34814" /><Relationship Type="http://schemas.openxmlformats.org/officeDocument/2006/relationships/slide" Target="/ppt/slides/slide9.xml" Id="Rf038d2ac198a4a72" /><Relationship Type="http://schemas.openxmlformats.org/officeDocument/2006/relationships/slide" Target="/ppt/slides/slide10.xml" Id="R322ac9edc7ff4ff1" /><Relationship Type="http://schemas.openxmlformats.org/officeDocument/2006/relationships/slide" Target="/ppt/slides/slide11.xml" Id="R31bbd41bc33244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a88f8732294d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9d8621f064c6d" /><Relationship Type="http://schemas.openxmlformats.org/officeDocument/2006/relationships/notesMaster" Target="/ppt/notesMasters/notesMaster1.xml" Id="R52704ae793204e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a16ec0d7de490d" /><Relationship Type="http://schemas.openxmlformats.org/officeDocument/2006/relationships/notesMaster" Target="/ppt/notesMasters/notesMaster1.xml" Id="R8c597d50fa9b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f18746a7aa4134" /><Relationship Type="http://schemas.openxmlformats.org/officeDocument/2006/relationships/notesMaster" Target="/ppt/notesMasters/notesMaster1.xml" Id="Rc8326f265c0349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b85b5aea824214" /><Relationship Type="http://schemas.openxmlformats.org/officeDocument/2006/relationships/notesMaster" Target="/ppt/notesMasters/notesMaster1.xml" Id="R8638aae996e345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844b59cf2b4b4b" /><Relationship Type="http://schemas.openxmlformats.org/officeDocument/2006/relationships/notesMaster" Target="/ppt/notesMasters/notesMaster1.xml" Id="Rb162d50f937f4e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bdfc21f4b7482e" /><Relationship Type="http://schemas.openxmlformats.org/officeDocument/2006/relationships/notesMaster" Target="/ppt/notesMasters/notesMaster1.xml" Id="R558df074a7444d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def4d676a545f3" /><Relationship Type="http://schemas.openxmlformats.org/officeDocument/2006/relationships/notesMaster" Target="/ppt/notesMasters/notesMaster1.xml" Id="Re2110b70d3a04b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ff6c56582645f1" /><Relationship Type="http://schemas.openxmlformats.org/officeDocument/2006/relationships/notesMaster" Target="/ppt/notesMasters/notesMaster1.xml" Id="R5d06a02014f345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fff901de154d56" /><Relationship Type="http://schemas.openxmlformats.org/officeDocument/2006/relationships/notesMaster" Target="/ppt/notesMasters/notesMaster1.xml" Id="Rc558678e3ffb43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30440b463a4fde" /><Relationship Type="http://schemas.openxmlformats.org/officeDocument/2006/relationships/notesMaster" Target="/ppt/notesMasters/notesMaster1.xml" Id="R8e2626c1547f4a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40836972574d86" /><Relationship Type="http://schemas.openxmlformats.org/officeDocument/2006/relationships/notesMaster" Target="/ppt/notesMasters/notesMaster1.xml" Id="Rb82699cc87f249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are Light.Ningyizhuo.No.1. Our question is whether a speech-to-face fake that passes a physiological detector still leaves evidence in mouth motion or in the manipulation used to repair physiological signals. We test those two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At Milestone 2, we had reproducible code, synthetic checks and public-video preprocessing, but no real classifier experiment. For Milestone 3 we added a 24-clip public pilot, actual held-out evaluation, weak phonetic alignment, a peer-pair forensic analyser, a neutral codec control and post-processing tests. All 24 clips passed landmark extraction and 35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The first branch extracts lip geometry and compares a context-free model with a weak context model. The second branch compares aligned RGB signals from the Dark.Mimic control and modified video. We report each branch separately because one peer pair cannot calibrate a valid fusion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My strategy tests context-conditioned lip dynamics. The context-free model summarizes aperture, width and their time derivatives over a clip. The context version adds before, during and after statistics around one central vowel, conditioned on neighbouring phonetic classes. Both models use the same clips and fixed threshold. Whisper word timestamps plus CMUdict give a weak proxy. I do not call it forced alignment. Public sources: Wikitongues English videos and TalkingHeadBench Hallo/LivePortrait.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On six held-out clips, the saved reference run gave macro-F1 0.486 for both models and AUROC 0.667 versus 0.556. A fresh Colab CPU rerun gave the same macro-F1 and AUROC 0.556 versus 0.444. The AUROC change remained minus 0.111. Five thousand paired stratified bootstrap resamples give wide intervals because the test set contains only three real and three fake clips. The correct conclusion is that this weak context implementation does not improve the pilot. Sources: artifacts/m3_results/test_metrics_with_bootstrap.csv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We addressed one clear limitation by using all eligible vowel proxies rather than one interval per clip. This gives 547 events, with a median of 20 per clip. A model learned expected central mouth geometry from real training speech and aggregated residuals back to one row per clip. On the original six-clip split, macro-F1 increased from 0.486 to 0.829 and AUROC from 0.667 to 0.778. This follow-up was designed after seeing that split, so it is post-hoc. In 20 repeated four-fold runs, mean F1 changed from 0.655 to 0.645 and mean AUROC from 0.678 to 0.689. The average gain is not stable. We need forced alignment and a fresh matched hold-out set. Source: artifacts/m3_improvement.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red-channel attack-to-neutral ratio remains above one after all three transformations: 8.45 under H.264 CRF 35, 6.28 after resizing to 256 by 224, and 20.86 at 15 FPS. This is promising forensic evidence for this pair. It is not a general accuracy result because we have only one identity and require an aligned control. Source: artifacts/m3_results/robustness_summary.csv.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includes a negative first result and a transparent post-hoc follow-up. The original split improves, but repeated folds do not show a stable average gain. The colour branch finds a strong but narrow trace in one peer pair. Yan: For the course project, we have an executable two-strategy evaluation with clear claim boundaries. For a paper, we need a fresh matched multi-generator dataset with forced alignment and many attacked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e9165f58384d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aa60c02e7e4a6c" /><Relationship Type="http://schemas.openxmlformats.org/officeDocument/2006/relationships/slideLayout" Target="/ppt/slideLayouts/slideLayout1.xml" Id="R956f9de159d44b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6f9de159d44b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20c1d2215d4f5a" /><Relationship Type="http://schemas.openxmlformats.org/officeDocument/2006/relationships/notesSlide" Target="/ppt/notesSlides/notesSlide1.xml" Id="Rf3ced66adb6547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bf366e6ed94378" /><Relationship Type="http://schemas.openxmlformats.org/officeDocument/2006/relationships/notesSlide" Target="/ppt/notesSlides/notesSlide2.xml" Id="Rce7c638c146a4e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be67995f244d15" /><Relationship Type="http://schemas.openxmlformats.org/officeDocument/2006/relationships/notesSlide" Target="/ppt/notesSlides/notesSlide3.xml" Id="R236a95e9409848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67f8990a104eae" /><Relationship Type="http://schemas.openxmlformats.org/officeDocument/2006/relationships/notesSlide" Target="/ppt/notesSlides/notesSlide4.xml" Id="R25d747632a9449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b2efacc1324bf5" /><Relationship Type="http://schemas.openxmlformats.org/officeDocument/2006/relationships/notesSlide" Target="/ppt/notesSlides/notesSlide5.xml" Id="Raedc9d29783f4d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3d519734ec4d5f" /><Relationship Type="http://schemas.openxmlformats.org/officeDocument/2006/relationships/chart" Target="/ppt/slides/charts/chart1.xml" Id="R4edefa1af4e3448c" /><Relationship Type="http://schemas.openxmlformats.org/officeDocument/2006/relationships/notesSlide" Target="/ppt/notesSlides/notesSlide6.xml" Id="Rdd16969001714e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27db2981b74fc1" /><Relationship Type="http://schemas.openxmlformats.org/officeDocument/2006/relationships/chart" Target="/ppt/slides/charts/chart2.xml" Id="Rf504b3d8d9024b12" /><Relationship Type="http://schemas.openxmlformats.org/officeDocument/2006/relationships/chart" Target="/ppt/slides/charts/chart3.xml" Id="R7894241a91ad495f" /><Relationship Type="http://schemas.openxmlformats.org/officeDocument/2006/relationships/notesSlide" Target="/ppt/notesSlides/notesSlide7.xml" Id="Rd24728433a9c4c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7d004cd70d442d" /><Relationship Type="http://schemas.openxmlformats.org/officeDocument/2006/relationships/notesSlide" Target="/ppt/notesSlides/notesSlide8.xml" Id="R6dfa816462024f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6d0f9d0b214150" /><Relationship Type="http://schemas.openxmlformats.org/officeDocument/2006/relationships/chart" Target="/ppt/slides/charts/chart4.xml" Id="R7ef2e712704242c1" /><Relationship Type="http://schemas.openxmlformats.org/officeDocument/2006/relationships/chart" Target="/ppt/slides/charts/chart5.xml" Id="R19d07c0712fa48c7" /><Relationship Type="http://schemas.openxmlformats.org/officeDocument/2006/relationships/notesSlide" Target="/ppt/notesSlides/notesSlide9.xml" Id="R82a6f67365df49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dd8981736c4272" /><Relationship Type="http://schemas.openxmlformats.org/officeDocument/2006/relationships/chart" Target="/ppt/slides/charts/chart6.xml" Id="Rbedc357b1d714158" /><Relationship Type="http://schemas.openxmlformats.org/officeDocument/2006/relationships/notesSlide" Target="/ppt/notesSlides/notesSlide10.xml" Id="R4549822b26d940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a207c355b94942" /><Relationship Type="http://schemas.openxmlformats.org/officeDocument/2006/relationships/notesSlide" Target="/ppt/notesSlides/notesSlide11.xml" Id="Rcb6c6b5d7ac343ed"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cat>
            <c:strLit>
              <c:ptCount val="2"/>
              <c:pt idx="0">
                <c:v>Macro-F1</c:v>
              </c:pt>
              <c:pt idx="1">
                <c:v>AUROC</c:v>
              </c:pt>
            </c:strLit>
          </c:cat>
          <c:val>
            <c:numLit>
              <c:formatCode>0.0</c:formatCode>
              <c:ptCount val="2"/>
              <c:pt idx="0">
                <c:v>0.485714</c:v>
              </c:pt>
              <c:pt idx="1">
                <c:v>0.666667</c:v>
              </c:pt>
            </c:numLit>
          </c:val>
        </c:ser>
        <c:ser>
          <c:idx val="1"/>
          <c:order val="1"/>
          <c:tx>
            <c:v>Multi-event context</c:v>
          </c:tx>
          <c:spPr>
            <a:solidFill xmlns:a="http://schemas.openxmlformats.org/drawingml/2006/main">
              <a:srgbClr val="159E9C"/>
            </a:solidFill>
          </c:spPr>
          <c:cat>
            <c:strLit>
              <c:ptCount val="2"/>
              <c:pt idx="0">
                <c:v>Macro-F1</c:v>
              </c:pt>
              <c:pt idx="1">
                <c:v>AUROC</c:v>
              </c:pt>
            </c:strLit>
          </c:cat>
          <c:val>
            <c:numLit>
              <c:formatCode>0.0</c:formatCode>
              <c:ptCount val="2"/>
              <c:pt idx="0">
                <c:v>0.828571</c:v>
              </c:pt>
              <c:pt idx="1">
                <c:v>0.777778</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cat>
            <c:strLit>
              <c:ptCount val="2"/>
              <c:pt idx="0">
                <c:v>Macro-F1</c:v>
              </c:pt>
              <c:pt idx="1">
                <c:v>AUROC</c:v>
              </c:pt>
            </c:strLit>
          </c:cat>
          <c:val>
            <c:numLit>
              <c:formatCode>0.0</c:formatCode>
              <c:ptCount val="2"/>
              <c:pt idx="0">
                <c:v>0.654926</c:v>
              </c:pt>
              <c:pt idx="1">
                <c:v>0.677778</c:v>
              </c:pt>
            </c:numLit>
          </c:val>
        </c:ser>
        <c:ser>
          <c:idx val="1"/>
          <c:order val="1"/>
          <c:tx>
            <c:v>Multi-event context</c:v>
          </c:tx>
          <c:spPr>
            <a:solidFill xmlns:a="http://schemas.openxmlformats.org/drawingml/2006/main">
              <a:srgbClr val="159E9C"/>
            </a:solidFill>
          </c:spPr>
          <c:cat>
            <c:strLit>
              <c:ptCount val="2"/>
              <c:pt idx="0">
                <c:v>Macro-F1</c:v>
              </c:pt>
              <c:pt idx="1">
                <c:v>AUROC</c:v>
              </c:pt>
            </c:strLit>
          </c:cat>
          <c:val>
            <c:numLit>
              <c:formatCode>0.0</c:formatCode>
              <c:ptCount val="2"/>
              <c:pt idx="0">
                <c:v>0.645193</c:v>
              </c:pt>
              <c:pt idx="1">
                <c:v>0.688889</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05B44D-1E4C-4B39-8FDA-86D378F488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A12344-95B9-4724-B161-03414FC46490}"/>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1775C680-8B9B-4E2B-9464-2DE6E60A1E93}"/>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E1715781-8032-4BCA-8C05-4721DF3D7663}"/>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A8E3B2-E049-4C66-B382-EAEFA9B05F5A}"/>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Lip dynamics in phonetic context</a:t>
            </a:r>
          </a:p>
        </p:txBody>
      </p:sp>
      <p:sp>
        <p:nvSpPr>
          <p:cNvPr id="6" name="">
            <a:extLst xmlns:a="http://schemas.openxmlformats.org/drawingml/2006/main">
              <a:ext uri="{FF2B5EF4-FFF2-40B4-BE49-F238E27FC236}">
                <a16:creationId xmlns:a16="http://schemas.microsoft.com/office/drawing/2014/main" id="{FC36749C-8005-4787-B09B-436112C5058C}"/>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5ABDCB74-F104-4242-83CC-0F14DC0E008D}"/>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CDFCD534-343D-4B62-A38D-7DF0571F1F76}"/>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B27551A7-CE8E-4A25-9884-972234259DE3}"/>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20410437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180E8C-690F-45F6-9AB5-2E133CAA565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3C2D464C-E279-4D5B-8B8F-B7F9A250A9F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DBDFC2A7-1150-447B-830C-1A312145EEE8}"/>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7CD688-9F35-44B9-9949-FD1613A32A0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0A55512-77B0-4672-82EE-C6A08A728E1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0D7085B5-0AF5-4BC4-865E-FBF9416AC08D}"/>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AAB706FB-83DC-4C9B-882A-EC32F36CCD5E}"/>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7A865D28-EDC8-48F4-831B-9DF0F433CB6A}"/>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751F16F3-27B4-42A0-8F92-086D8C94E14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Synthetic classifier checks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Two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held-out real-data experiment</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DCF8F066-F928-4EAC-8014-59C2B603AB06}"/>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CCFA22F9-C2F8-4869-979D-A6BD4358F258}"/>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landmark coverage</a:t>
            </a:r>
          </a:p>
        </p:txBody>
      </p:sp>
      <p:sp>
        <p:nvSpPr>
          <p:cNvPr id="12" name="">
            <a:extLst xmlns:a="http://schemas.openxmlformats.org/drawingml/2006/main">
              <a:ext uri="{FF2B5EF4-FFF2-40B4-BE49-F238E27FC236}">
                <a16:creationId xmlns:a16="http://schemas.microsoft.com/office/drawing/2014/main" id="{87B6F4A4-8358-4BE0-92F9-80C61798C0F7}"/>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4B3386DB-3458-421B-B16C-81218DDDE4A4}"/>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A5F8AE2E-8435-4A61-AFCC-376C2C64D198}"/>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35</a:t>
            </a:r>
          </a:p>
        </p:txBody>
      </p:sp>
      <p:sp>
        <p:nvSpPr>
          <p:cNvPr id="15" name="">
            <a:extLst xmlns:a="http://schemas.openxmlformats.org/drawingml/2006/main">
              <a:ext uri="{FF2B5EF4-FFF2-40B4-BE49-F238E27FC236}">
                <a16:creationId xmlns:a16="http://schemas.microsoft.com/office/drawing/2014/main" id="{02CF7ECB-CBBA-46E6-82F2-A6DFFA2E6B78}"/>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1D7F2B5F-6CCB-4314-A2C9-C50667607A5F}"/>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F5D3C9A6-23F2-4CC7-A065-1F7AF649C44A}"/>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852A3542-C605-47A2-BB27-885224726DFE}"/>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Real pilot evidence plus a peer-pair forensic audit</a:t>
            </a:r>
          </a:p>
        </p:txBody>
      </p:sp>
    </p:spTree>
    <p:extLst>
      <p:ext uri="{BB962C8B-B14F-4D97-AF65-F5344CB8AC3E}">
        <p14:creationId xmlns:p14="http://schemas.microsoft.com/office/powerpoint/2010/main" val="2387507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247A94B-0FC4-450F-BBE5-1D5A118EDFD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72442615-8673-41CF-8DD1-658C11A7F28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8E9C9A4-E3F8-46CB-ACEE-02E099BCA09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ED1F51-E63C-4471-A3BB-C43B610CD56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0EFDFB5-CE1B-4286-B49C-6D107C258FAB}"/>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944D1CE4-941B-4C1F-86B9-2C02907853B7}"/>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AEAC2AC-280B-4480-AABD-67DC00F9AB13}"/>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Public pilot</a:t>
            </a:r>
          </a:p>
        </p:txBody>
      </p:sp>
      <p:sp>
        <p:nvSpPr>
          <p:cNvPr id="8" name="">
            <a:extLst xmlns:a="http://schemas.openxmlformats.org/drawingml/2006/main">
              <a:ext uri="{FF2B5EF4-FFF2-40B4-BE49-F238E27FC236}">
                <a16:creationId xmlns:a16="http://schemas.microsoft.com/office/drawing/2014/main" id="{D6D0BB63-7EAB-4A59-8350-8BE59D260C4B}"/>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speaker/source splits</a:t>
            </a:r>
          </a:p>
        </p:txBody>
      </p:sp>
      <p:sp>
        <p:nvSpPr>
          <p:cNvPr id="9" name="">
            <a:extLst xmlns:a="http://schemas.openxmlformats.org/drawingml/2006/main">
              <a:ext uri="{FF2B5EF4-FFF2-40B4-BE49-F238E27FC236}">
                <a16:creationId xmlns:a16="http://schemas.microsoft.com/office/drawing/2014/main" id="{2EABA5C0-7651-4B66-9CD7-8E99BD71E688}"/>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F831EF74-2D16-400D-A1BE-B6F66F763243}"/>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8D0D104F-1F43-4131-B9C5-D493894A611D}"/>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4FAC9D48-6ED5-4C3A-B5AF-C39B3D77260D}"/>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492A2AF-14F5-412A-8767-E35744FDCCF4}"/>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033A0763-AE0B-484D-8396-43E589D3D9EB}"/>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MediaPipe geometry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 vs weak context</a:t>
            </a:r>
          </a:p>
        </p:txBody>
      </p:sp>
      <p:sp>
        <p:nvSpPr>
          <p:cNvPr id="15" name="">
            <a:extLst xmlns:a="http://schemas.openxmlformats.org/drawingml/2006/main">
              <a:ext uri="{FF2B5EF4-FFF2-40B4-BE49-F238E27FC236}">
                <a16:creationId xmlns:a16="http://schemas.microsoft.com/office/drawing/2014/main" id="{62B0918C-4462-493F-A578-24BE6CDB79CA}"/>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121171E5-9B6D-4387-977D-4AE7E4D02148}"/>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CC739506-FA75-4953-A33A-09B9BCD48B24}"/>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1AE171C4-2E50-497C-8FFF-5DEF3263D7B4}"/>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0C77EAB4-A8B1-43BC-A1A4-9D83C80C37B1}"/>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metrics</a:t>
            </a:r>
          </a:p>
        </p:txBody>
      </p:sp>
      <p:sp>
        <p:nvSpPr>
          <p:cNvPr id="20" name="">
            <a:extLst xmlns:a="http://schemas.openxmlformats.org/drawingml/2006/main">
              <a:ext uri="{FF2B5EF4-FFF2-40B4-BE49-F238E27FC236}">
                <a16:creationId xmlns:a16="http://schemas.microsoft.com/office/drawing/2014/main" id="{DB7BF124-32DC-458C-B58B-379936B12B3F}"/>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Macro-F1, AUROC</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Failures and bootstrap intervals</a:t>
            </a:r>
          </a:p>
        </p:txBody>
      </p:sp>
      <p:sp>
        <p:nvSpPr>
          <p:cNvPr id="21" name="">
            <a:extLst xmlns:a="http://schemas.openxmlformats.org/drawingml/2006/main">
              <a:ext uri="{FF2B5EF4-FFF2-40B4-BE49-F238E27FC236}">
                <a16:creationId xmlns:a16="http://schemas.microsoft.com/office/drawing/2014/main" id="{96D4E4FD-2C24-4FE0-AEBE-0DB7B424B711}"/>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A62C655-7CA2-452C-B300-F13BB746DBC8}"/>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93499574-496B-47D1-A7C7-272A79E24A18}"/>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BDA7505E-4DA9-4204-B632-4ECF1A93623C}"/>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063FE900-5F60-478A-BDD8-D1DA3297B09F}"/>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9D89EB8B-E343-4418-94E7-028B1BC3E5EF}"/>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D5F07D2C-E21F-4EBA-875D-DCB3DD04E31A}"/>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A47E8526-2A19-4A3A-AE5C-884FFA7F6675}"/>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1176004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725ADE7-27CC-4EA1-8801-7113D48E0BEA}"/>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1C418D89-AE95-4430-89AF-BB8520A2E70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9B249811-D563-4F25-AD3D-0CB6A86BA86D}"/>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05CDC9-30EE-42DA-905F-75761561EAFC}"/>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4167D01-42C1-4262-9690-8563DF1111F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DEBEF835-C7E2-49E5-91F0-264D75AB057E}"/>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7C9D25E9-D021-4FEB-9E13-ED6451EDF229}"/>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14B66F7D-768F-4316-B60E-E63A5A6CB346}"/>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543C084-6CE3-48A7-9773-D55DB4172A00}"/>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B10A8095-FF16-47CA-ABE7-628D651D7286}"/>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83027DA3-7FD8-463C-B8C5-09D35EF5FADF}"/>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70C4249B-555D-4733-97AB-156D594F9275}"/>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ABE947D-6E8C-419F-97A3-A0C8DFA49B13}"/>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10CDF2E7-F504-4969-B7B7-C093EDA3EF0E}"/>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2C3BFCA7-3677-45AD-9499-F461FC6C729B}"/>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BAFD422E-0200-4BE9-A282-A1954D929CB2}"/>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9BC89A5E-B3DA-4821-AF5F-EF36014A83B1}"/>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AD7C10-1AF1-4108-86FE-BAD7EC797F41}"/>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FD4AD34C-88B9-4DD6-B168-95798E5B5EB7}"/>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B4FDBCB5-57A5-433F-9582-EC2A6D046682}"/>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FA1E6D34-6631-4758-BF8B-031BB62B0D38}"/>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90285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2FF687-8FE4-4A51-B463-32F61C8E06E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lip dynamics in phonetic context</a:t>
            </a:r>
          </a:p>
        </p:txBody>
      </p:sp>
      <p:sp>
        <p:nvSpPr>
          <p:cNvPr id="2" name="">
            <a:extLst xmlns:a="http://schemas.openxmlformats.org/drawingml/2006/main">
              <a:ext uri="{FF2B5EF4-FFF2-40B4-BE49-F238E27FC236}">
                <a16:creationId xmlns:a16="http://schemas.microsoft.com/office/drawing/2014/main" id="{BE7C4029-7CB9-415F-A669-0B35C6AB3702}"/>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8126D950-FE6E-4C59-9718-54D7761099B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33C109-7BEB-4AD0-926E-A8CB2E1F178C}"/>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2A17B85-C3C3-4C5F-868B-A5E7331F5EC7}"/>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BC37AA3E-B408-4901-9CCA-07E418C56435}"/>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9314735A-8CD6-42CE-B1CC-89C4636283A8}"/>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24 clips</a:t>
            </a:r>
          </a:p>
        </p:txBody>
      </p:sp>
      <p:sp>
        <p:nvSpPr>
          <p:cNvPr id="8" name="">
            <a:extLst xmlns:a="http://schemas.openxmlformats.org/drawingml/2006/main">
              <a:ext uri="{FF2B5EF4-FFF2-40B4-BE49-F238E27FC236}">
                <a16:creationId xmlns:a16="http://schemas.microsoft.com/office/drawing/2014/main" id="{0CDCC7A5-C843-4592-8D02-9BEB0EFA9A55}"/>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25 FPS, 512 canvas</a:t>
            </a:r>
          </a:p>
        </p:txBody>
      </p:sp>
      <p:sp>
        <p:nvSpPr>
          <p:cNvPr id="9" name="">
            <a:extLst xmlns:a="http://schemas.openxmlformats.org/drawingml/2006/main">
              <a:ext uri="{FF2B5EF4-FFF2-40B4-BE49-F238E27FC236}">
                <a16:creationId xmlns:a16="http://schemas.microsoft.com/office/drawing/2014/main" id="{C3962D66-1AEF-4EF2-840B-14F95D3C09B4}"/>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3EE06E14-8E78-4BD3-8F3D-475F5EA646F3}"/>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147BA8D4-DA76-41C3-9223-9DA4E1797A74}"/>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DF5EEA20-616D-4344-BD69-0D0F8512F36E}"/>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7A8A1D32-D5D0-4FD5-9A2F-B3C1598BF8A1}"/>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3EFE8526-F5DE-4433-97DB-3E72EDD6C097}"/>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8F8F0F28-A645-48FA-9C45-6520548F00A0}"/>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91983DA7-A9EF-4460-9255-CC49B99BA352}"/>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43692E0A-5CCA-4746-A413-CCC9441FDDDB}"/>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928B75F7-B39D-430E-90E7-895FF4100925}"/>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26500271-A04C-4812-8213-7274D3CCF6A3}"/>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Two models</a:t>
            </a:r>
          </a:p>
        </p:txBody>
      </p:sp>
      <p:sp>
        <p:nvSpPr>
          <p:cNvPr id="20" name="">
            <a:extLst xmlns:a="http://schemas.openxmlformats.org/drawingml/2006/main">
              <a:ext uri="{FF2B5EF4-FFF2-40B4-BE49-F238E27FC236}">
                <a16:creationId xmlns:a16="http://schemas.microsoft.com/office/drawing/2014/main" id="{2DDA089C-6685-4147-A88D-42DAC1AB0E8C}"/>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Weak context</a:t>
            </a:r>
          </a:p>
        </p:txBody>
      </p:sp>
      <p:sp>
        <p:nvSpPr>
          <p:cNvPr id="21" name="">
            <a:extLst xmlns:a="http://schemas.openxmlformats.org/drawingml/2006/main">
              <a:ext uri="{FF2B5EF4-FFF2-40B4-BE49-F238E27FC236}">
                <a16:creationId xmlns:a16="http://schemas.microsoft.com/office/drawing/2014/main" id="{0B1CB2BF-10E7-49E8-B3A4-1FABED1A0271}"/>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047CFB76-8FA0-46A4-807C-21CBAE2B5BE1}"/>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65EE5738-9F4C-41F6-BB18-4014784B5D1C}"/>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test</a:t>
            </a:r>
          </a:p>
        </p:txBody>
      </p:sp>
      <p:sp>
        <p:nvSpPr>
          <p:cNvPr id="24" name="">
            <a:extLst xmlns:a="http://schemas.openxmlformats.org/drawingml/2006/main">
              <a:ext uri="{FF2B5EF4-FFF2-40B4-BE49-F238E27FC236}">
                <a16:creationId xmlns:a16="http://schemas.microsoft.com/office/drawing/2014/main" id="{EE4B1E8F-7099-44A3-8E24-A3C04EBFA529}"/>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n=6</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56126C97-45FC-4BD0-A0BE-DBC5596D2362}"/>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Same clips and split for both models</a:t>
            </a:r>
          </a:p>
        </p:txBody>
      </p:sp>
      <p:sp>
        <p:nvSpPr>
          <p:cNvPr id="26" name="">
            <a:extLst xmlns:a="http://schemas.openxmlformats.org/drawingml/2006/main">
              <a:ext uri="{FF2B5EF4-FFF2-40B4-BE49-F238E27FC236}">
                <a16:creationId xmlns:a16="http://schemas.microsoft.com/office/drawing/2014/main" id="{09C80762-1582-44D2-9F7E-4254EFF240EB}"/>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central vowel proxy per clip</a:t>
            </a:r>
          </a:p>
        </p:txBody>
      </p:sp>
      <p:sp>
        <p:nvSpPr>
          <p:cNvPr id="27" name="">
            <a:extLst xmlns:a="http://schemas.openxmlformats.org/drawingml/2006/main">
              <a:ext uri="{FF2B5EF4-FFF2-40B4-BE49-F238E27FC236}">
                <a16:creationId xmlns:a16="http://schemas.microsoft.com/office/drawing/2014/main" id="{0D4E31C4-B875-42B5-AE10-BC09282D1505}"/>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Not forced alignment</a:t>
            </a:r>
          </a:p>
        </p:txBody>
      </p:sp>
      <p:sp>
        <p:nvSpPr>
          <p:cNvPr id="28" name="">
            <a:extLst xmlns:a="http://schemas.openxmlformats.org/drawingml/2006/main">
              <a:ext uri="{FF2B5EF4-FFF2-40B4-BE49-F238E27FC236}">
                <a16:creationId xmlns:a16="http://schemas.microsoft.com/office/drawing/2014/main" id="{8C4903C4-FB39-407C-8F27-665E87FE3474}"/>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Feasibility pilot, not generalisation evidence</a:t>
            </a:r>
          </a:p>
        </p:txBody>
      </p:sp>
      <p:sp>
        <p:nvSpPr>
          <p:cNvPr id="29" name="">
            <a:extLst xmlns:a="http://schemas.openxmlformats.org/drawingml/2006/main">
              <a:ext uri="{FF2B5EF4-FFF2-40B4-BE49-F238E27FC236}">
                <a16:creationId xmlns:a16="http://schemas.microsoft.com/office/drawing/2014/main" id="{B3DD3B79-2C2E-4057-BA69-7536555F08A8}"/>
              </a:ext>
            </a:extLst>
          </p:cNvPr>
          <p:cNvSpPr>
            <a:spLocks xmlns:a="http://schemas.openxmlformats.org/drawingml/2006/main" noGrp="1"/>
          </p:cNvSpPr>
          <p:nvPr/>
        </p:nvSpPr>
        <p:spPr>
          <a:xfrm xmlns:a="http://schemas.openxmlformats.org/drawingml/2006/main">
            <a:off x="666750" y="578167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Zhiheng</a:t>
            </a:r>
          </a:p>
        </p:txBody>
      </p:sp>
    </p:spTree>
    <p:extLst>
      <p:ext uri="{BB962C8B-B14F-4D97-AF65-F5344CB8AC3E}">
        <p14:creationId xmlns:p14="http://schemas.microsoft.com/office/powerpoint/2010/main" val="19350038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E5DE78-A4A0-45F1-A11A-8A5C8781148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Weak context did not improve the held-out pilot</a:t>
            </a:r>
          </a:p>
        </p:txBody>
      </p:sp>
      <p:sp>
        <p:nvSpPr>
          <p:cNvPr id="2" name="">
            <a:extLst xmlns:a="http://schemas.openxmlformats.org/drawingml/2006/main">
              <a:ext uri="{FF2B5EF4-FFF2-40B4-BE49-F238E27FC236}">
                <a16:creationId xmlns:a16="http://schemas.microsoft.com/office/drawing/2014/main" id="{313E1C08-4CD9-4101-86BB-7F508467CA98}"/>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CA2B6C9-3A34-41DB-B2C6-BA9B79FE008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648F1D-1C00-4803-92E1-2FE05734A75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1D777C9F-E51C-48FB-813C-7E5482D99DD7}"/>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19" name="Chart"/>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4edefa1af4e3448c"/>
          </a:graphicData>
        </a:graphic>
      </p:graphicFrame>
      <p:sp>
        <p:nvSpPr>
          <p:cNvPr id="7" name="">
            <a:extLst xmlns:a="http://schemas.openxmlformats.org/drawingml/2006/main">
              <a:ext uri="{FF2B5EF4-FFF2-40B4-BE49-F238E27FC236}">
                <a16:creationId xmlns:a16="http://schemas.microsoft.com/office/drawing/2014/main" id="{772CCC12-2C3E-4C15-A404-89D715B79C71}"/>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400F38F9-AA84-42CC-921A-F748BEE4646A}"/>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7A14659D-AFE6-4F0A-8B1F-84C7C4ABCBD3}"/>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B8443B69-6C00-454B-8A16-490BE7B67A6F}"/>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2372B3A8-B1FD-4E61-B260-5D95EA562F60}"/>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52AD9E94-9EF8-48C9-8C00-B07B4D99085B}"/>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9B496A84-D249-49DE-994D-1C56A2D68151}"/>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Saved reference run shown. Fresh Colab: AUROC 0.556 vs 0.444; same -0.111 change.</a:t>
            </a:r>
          </a:p>
        </p:txBody>
      </p:sp>
    </p:spTree>
    <p:extLst>
      <p:ext uri="{BB962C8B-B14F-4D97-AF65-F5344CB8AC3E}">
        <p14:creationId xmlns:p14="http://schemas.microsoft.com/office/powerpoint/2010/main" val="4935265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8A4AC5-38AC-4EF4-B9D8-8451A48735A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Multi-event follow-up: promising split, unstable average</a:t>
            </a:r>
          </a:p>
        </p:txBody>
      </p:sp>
      <p:sp>
        <p:nvSpPr>
          <p:cNvPr id="2" name="">
            <a:extLst xmlns:a="http://schemas.openxmlformats.org/drawingml/2006/main">
              <a:ext uri="{FF2B5EF4-FFF2-40B4-BE49-F238E27FC236}">
                <a16:creationId xmlns:a16="http://schemas.microsoft.com/office/drawing/2014/main" id="{ECB2F756-D096-47FA-B704-0013D40C0C16}"/>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7ABE2B7-BE31-4E66-A77A-BD3DDE12B326}"/>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20F4C-BC85-4236-8557-309DAC2851E9}"/>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9B2C6B0A-089F-4D8E-8C13-227B01717F9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19" name="Chart"/>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f504b3d8d9024b12"/>
          </a:graphicData>
        </a:graphic>
      </p:graphicFrame>
      <p:sp>
        <p:nvSpPr>
          <p:cNvPr id="7" name="">
            <a:extLst xmlns:a="http://schemas.openxmlformats.org/drawingml/2006/main">
              <a:ext uri="{FF2B5EF4-FFF2-40B4-BE49-F238E27FC236}">
                <a16:creationId xmlns:a16="http://schemas.microsoft.com/office/drawing/2014/main" id="{5446B492-AB24-44D4-AF62-3FD6420036FB}"/>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Original split, n = 6</a:t>
            </a:r>
          </a:p>
        </p:txBody>
      </p:sp>
      <p:graphicFrame>
        <p:nvGraphicFramePr>
          <p:cNvPr id="21" name="Chart"/>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7894241a91ad495f"/>
          </a:graphicData>
        </a:graphic>
      </p:graphicFrame>
      <p:sp>
        <p:nvSpPr>
          <p:cNvPr id="9" name="">
            <a:extLst xmlns:a="http://schemas.openxmlformats.org/drawingml/2006/main">
              <a:ext uri="{FF2B5EF4-FFF2-40B4-BE49-F238E27FC236}">
                <a16:creationId xmlns:a16="http://schemas.microsoft.com/office/drawing/2014/main" id="{86BBD419-B71E-4ADC-9CF8-FB5523C1EBD5}"/>
              </a:ext>
            </a:extLst>
          </p:cNvPr>
          <p:cNvSpPr>
            <a:spLocks xmlns:a="http://schemas.openxmlformats.org/drawingml/2006/main" noGrp="1"/>
          </p:cNvSpPr>
          <p:nvPr/>
        </p:nvSpPr>
        <p:spPr>
          <a:xfrm xmlns:a="http://schemas.openxmlformats.org/drawingml/2006/main">
            <a:off x="7191375" y="12382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20 repeated four-fold runs</a:t>
            </a:r>
          </a:p>
        </p:txBody>
      </p:sp>
      <p:sp>
        <p:nvSpPr>
          <p:cNvPr id="10" name="">
            <a:extLst xmlns:a="http://schemas.openxmlformats.org/drawingml/2006/main">
              <a:ext uri="{FF2B5EF4-FFF2-40B4-BE49-F238E27FC236}">
                <a16:creationId xmlns:a16="http://schemas.microsoft.com/office/drawing/2014/main" id="{B945E6AD-83EF-4E34-A5F1-6F9B4E4D8A47}"/>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547 vowel events, median 20 per clip</a:t>
            </a:r>
          </a:p>
        </p:txBody>
      </p:sp>
      <p:sp>
        <p:nvSpPr>
          <p:cNvPr id="11" name="">
            <a:extLst xmlns:a="http://schemas.openxmlformats.org/drawingml/2006/main">
              <a:ext uri="{FF2B5EF4-FFF2-40B4-BE49-F238E27FC236}">
                <a16:creationId xmlns:a16="http://schemas.microsoft.com/office/drawing/2014/main" id="{5EDF87C8-AECF-4F49-B4C6-80F611EC2170}"/>
              </a:ext>
            </a:extLst>
          </p:cNvPr>
          <p:cNvSpPr>
            <a:spLocks xmlns:a="http://schemas.openxmlformats.org/drawingml/2006/main" noGrp="1"/>
          </p:cNvSpPr>
          <p:nvPr/>
        </p:nvSpPr>
        <p:spPr>
          <a:xfrm xmlns:a="http://schemas.openxmlformats.org/drawingml/2006/main">
            <a:off x="6477000" y="54292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Mean change: -0.010 F1, +0.011 AUROC</a:t>
            </a:r>
          </a:p>
        </p:txBody>
      </p:sp>
      <p:sp>
        <p:nvSpPr>
          <p:cNvPr id="12" name="">
            <a:extLst xmlns:a="http://schemas.openxmlformats.org/drawingml/2006/main">
              <a:ext uri="{FF2B5EF4-FFF2-40B4-BE49-F238E27FC236}">
                <a16:creationId xmlns:a16="http://schemas.microsoft.com/office/drawing/2014/main" id="{44B24871-7D92-4449-8089-BBEF3470039B}"/>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52EACD-9CCE-4E07-96AF-40F772B4A23B}"/>
              </a:ext>
            </a:extLst>
          </p:cNvPr>
          <p:cNvSpPr>
            <a:spLocks xmlns:a="http://schemas.openxmlformats.org/drawingml/2006/main" noGrp="1"/>
          </p:cNvSpPr>
          <p:nvPr/>
        </p:nvSpPr>
        <p:spPr>
          <a:xfrm xmlns:a="http://schemas.openxmlformats.org/drawingml/2006/main">
            <a:off x="1524000" y="5953125"/>
            <a:ext cx="914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Post-hoc result. A fresh matched hold-out set must confirm any gain.</a:t>
            </a:r>
          </a:p>
        </p:txBody>
      </p:sp>
    </p:spTree>
    <p:extLst>
      <p:ext uri="{BB962C8B-B14F-4D97-AF65-F5344CB8AC3E}">
        <p14:creationId xmlns:p14="http://schemas.microsoft.com/office/powerpoint/2010/main" val="1883491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5D15E46-FC14-4292-85B1-4CAA0A6B43BE}"/>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75EE4292-54EE-430A-90E3-CED895153E0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636D91F-FE63-422B-9AED-303E20F1EE3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337669-F498-4261-B3F8-90074FBD074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DC0AD576-CCB3-4D7A-83C1-5060F60F02E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3890D505-C0F2-4BB3-A2FD-A32B78093ED7}"/>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D14F876F-B6E4-450F-B8D3-7F36EA503F67}"/>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F467D2C1-982D-4E8F-B344-C69302E5AA45}"/>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BF9F8434-025F-4B86-9B29-66A5907CB583}"/>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48FAB452-AF1F-4B25-8E67-53559B21F09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17309BD7-754F-47BB-8E38-8BDEEBED525D}"/>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07DF99DD-4AE0-457D-85EF-B1506615DD68}"/>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A8D99C9B-1176-4596-8F1C-EAF8CAC8B1F3}"/>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BF881641-5418-4827-B102-51ADA30BC9E1}"/>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4B3364D5-E2F9-4A5F-8253-B45FBD69714C}"/>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FB73C62A-E893-44D1-B958-6E22DDB8DC3F}"/>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D6FE837-FAE0-4FAC-8E8F-0B56DF8160E6}"/>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019F3DAB-1C9A-4EF3-9239-63A8981DE726}"/>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14D89E8-4A36-4E3C-AF1E-CB9D4E7B27C0}"/>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C3999933-D108-4DF3-B3B6-23894E2DA660}"/>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83437A93-3F9A-4381-A1CD-76CECC8EDC8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EDD630AB-4540-487A-93C6-C0AFCB02537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4A01BCEC-5513-4356-A04C-5D57BCD84F31}"/>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38468EB8-0991-49D1-9D99-DD1A98FB5575}"/>
              </a:ext>
            </a:extLst>
          </p:cNvPr>
          <p:cNvSpPr>
            <a:spLocks xmlns:a="http://schemas.openxmlformats.org/drawingml/2006/main" noGrp="1"/>
          </p:cNvSpPr>
          <p:nvPr/>
        </p:nvSpPr>
        <p:spPr>
          <a:xfrm xmlns:a="http://schemas.openxmlformats.org/drawingml/2006/main">
            <a:off x="1714500" y="59055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Paired forensic evidence. No pulse recovery and no arbitrary-video classifier.</a:t>
            </a:r>
          </a:p>
        </p:txBody>
      </p:sp>
    </p:spTree>
    <p:extLst>
      <p:ext uri="{BB962C8B-B14F-4D97-AF65-F5344CB8AC3E}">
        <p14:creationId xmlns:p14="http://schemas.microsoft.com/office/powerpoint/2010/main" val="5272327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D8FDC9E-67AE-46A3-A98B-0B3C9F3741F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874C78A6-85D6-4F53-B143-E368EA0ADB9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C86FF4D7-7871-4B4F-B5A7-34941C539B4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1AB5E9-1C44-4424-8136-A8BAEBC4C1E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3D108D10-B19A-4D16-9B6D-9AE904A6D17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23" name="Chart"/>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7ef2e712704242c1"/>
          </a:graphicData>
        </a:graphic>
      </p:graphicFrame>
      <p:graphicFrame>
        <p:nvGraphicFramePr>
          <p:cNvPr id="24" name="Chart"/>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19d07c0712fa48c7"/>
          </a:graphicData>
        </a:graphic>
      </p:graphicFrame>
      <p:sp>
        <p:nvSpPr>
          <p:cNvPr id="8" name="">
            <a:extLst xmlns:a="http://schemas.openxmlformats.org/drawingml/2006/main">
              <a:ext uri="{FF2B5EF4-FFF2-40B4-BE49-F238E27FC236}">
                <a16:creationId xmlns:a16="http://schemas.microsoft.com/office/drawing/2014/main" id="{89EDF099-C5B0-496B-9DBE-ECA537122642}"/>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76C2D92B-4F8E-4D93-BD9C-A8E003DA784A}"/>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A916057C-5446-4132-ADF1-32237D7EEAF5}"/>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F52501F5-2980-4D09-B31A-920990A3AA04}"/>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BD64052A-C9F3-42ED-8F74-D7CEDE007061}"/>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80BBE674-ED6C-49BC-BCAC-A0DCA527B3E8}"/>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0CBF57C3-27CA-4913-A7FE-812F58895F22}"/>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3253CD1C-C0FF-46AF-9F67-4FCE23BB2D0E}"/>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5C50B199-64D5-48B9-B1B1-B5E5E24D3A00}"/>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17631B42-5A53-4B66-A305-11A337A81854}"/>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213613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1D4E2C7-E6AA-478B-AFFB-2FBF6BCFC530}"/>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3B3C13EB-526C-4ABC-B53E-B1A1850876B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65AFD762-49B7-4794-8D6F-E7892F1C658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E192D7-D291-48D9-9145-14EC09A7FFF0}"/>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272E6304-3383-4D04-85A9-536AEA86A1A6}"/>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23" name="Chart"/>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bedc357b1d714158"/>
          </a:graphicData>
        </a:graphic>
      </p:graphicFrame>
      <p:sp>
        <p:nvSpPr>
          <p:cNvPr id="7" name="">
            <a:extLst xmlns:a="http://schemas.openxmlformats.org/drawingml/2006/main">
              <a:ext uri="{FF2B5EF4-FFF2-40B4-BE49-F238E27FC236}">
                <a16:creationId xmlns:a16="http://schemas.microsoft.com/office/drawing/2014/main" id="{B592A090-8D95-4F5D-A195-4A939664464E}"/>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7E43CF77-8661-4BE2-ACED-38FC57132E16}"/>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58B045E9-52D3-4C6B-B42D-36D6162A18AC}"/>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263CCF73-E9A3-4102-BECE-3EAE9AF1DE72}"/>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6CA2D5B7-D9C9-4479-984B-9C61321510C9}"/>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25082738-307D-464A-900C-204D3C4B3669}"/>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7D6B68C9-6F90-43A7-BF69-742B52EADB23}"/>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CB410F3B-D8A4-4EEC-90F3-7A25E21F4E8F}"/>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0676BAAA-DDFB-4744-837B-99DCCA299CE6}"/>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5ABF53E1-033B-4959-851D-FE576571E45B}"/>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Promising forensic evidence for this pair</a:t>
            </a:r>
          </a:p>
        </p:txBody>
      </p:sp>
      <p:sp>
        <p:nvSpPr>
          <p:cNvPr id="17" name="">
            <a:extLst xmlns:a="http://schemas.openxmlformats.org/drawingml/2006/main">
              <a:ext uri="{FF2B5EF4-FFF2-40B4-BE49-F238E27FC236}">
                <a16:creationId xmlns:a16="http://schemas.microsoft.com/office/drawing/2014/main" id="{2E19AFEC-8320-421E-92BC-56C6CE950367}"/>
              </a:ext>
            </a:extLst>
          </p:cNvPr>
          <p:cNvSpPr>
            <a:spLocks xmlns:a="http://schemas.openxmlformats.org/drawingml/2006/main" noGrp="1"/>
          </p:cNvSpPr>
          <p:nvPr/>
        </p:nvSpPr>
        <p:spPr>
          <a:xfrm xmlns:a="http://schemas.openxmlformats.org/drawingml/2006/main">
            <a:off x="6858000" y="5905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Not population-level detector accuracy</a:t>
            </a:r>
          </a:p>
        </p:txBody>
      </p:sp>
    </p:spTree>
    <p:extLst>
      <p:ext uri="{BB962C8B-B14F-4D97-AF65-F5344CB8AC3E}">
        <p14:creationId xmlns:p14="http://schemas.microsoft.com/office/powerpoint/2010/main" val="3950908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08F271-232B-4F49-A9D9-C0D9CEBA62A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9FB8B209-AF44-40C2-869A-D05EAFCFC898}"/>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134BC6EF-BBA1-4992-9218-8262BF5B7DC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BAC236-6B1E-47EB-9C65-F6355F264D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85E91BA-CEBE-47D9-A965-12EEBD5F9112}"/>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7030F844-B2DD-4240-AE46-9BD34482A415}"/>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3FD461EB-7F14-4236-BA0A-752179883565}"/>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Single weak context failed; the multi-event follow-up improved one split only</a:t>
            </a:r>
          </a:p>
        </p:txBody>
      </p:sp>
      <p:sp>
        <p:nvSpPr>
          <p:cNvPr id="8" name="">
            <a:extLst xmlns:a="http://schemas.openxmlformats.org/drawingml/2006/main">
              <a:ext uri="{FF2B5EF4-FFF2-40B4-BE49-F238E27FC236}">
                <a16:creationId xmlns:a16="http://schemas.microsoft.com/office/drawing/2014/main" id="{C5CB4A52-4181-473E-B514-89D4C7492B41}"/>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reproducible negative result plus a transparent follow-up.</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forced alignment and a fresh matched hold-out set.</a:t>
            </a:r>
          </a:p>
        </p:txBody>
      </p:sp>
      <p:sp>
        <p:nvSpPr>
          <p:cNvPr id="9" name="">
            <a:extLst xmlns:a="http://schemas.openxmlformats.org/drawingml/2006/main">
              <a:ext uri="{FF2B5EF4-FFF2-40B4-BE49-F238E27FC236}">
                <a16:creationId xmlns:a16="http://schemas.microsoft.com/office/drawing/2014/main" id="{E5E59E23-B79A-47EC-ABF9-6B19A4923131}"/>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AA5331B5-8E0B-41E9-A1E1-17066F4C2D0E}"/>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09B6526B-C784-4788-8BC1-EF1F752B4F74}"/>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5A0C5219-3CB5-4F66-BF25-17BA8F51C381}"/>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controlled paired forensic audit.</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unpaired features and false-positive tests.</a:t>
            </a:r>
          </a:p>
        </p:txBody>
      </p:sp>
      <p:sp>
        <p:nvSpPr>
          <p:cNvPr id="13" name="">
            <a:extLst xmlns:a="http://schemas.openxmlformats.org/drawingml/2006/main">
              <a:ext uri="{FF2B5EF4-FFF2-40B4-BE49-F238E27FC236}">
                <a16:creationId xmlns:a16="http://schemas.microsoft.com/office/drawing/2014/main" id="{AED577FC-195F-4C83-95CA-22C5FC583B23}"/>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1C5AFD9-02CA-4C7C-8D4B-85DA936E62DF}"/>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3A85875D-F262-4DB8-995C-1ECEB1D05674}"/>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838D8E2C-4E03-4432-9BAB-F50051032AE3}"/>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Complete course evidence now. Larger matched study before any paper claim.</a:t>
            </a:r>
          </a:p>
        </p:txBody>
      </p:sp>
    </p:spTree>
    <p:extLst>
      <p:ext uri="{BB962C8B-B14F-4D97-AF65-F5344CB8AC3E}">
        <p14:creationId xmlns:p14="http://schemas.microsoft.com/office/powerpoint/2010/main" val="1168261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2026-10-07T15:11:05.2200000Z</dcterms:created>
  <dcterms:modified xsi:type="dcterms:W3CDTF">2026-10-07T15:11:05.2200000Z</dcterms:modified>
</coreProperties>
</file>