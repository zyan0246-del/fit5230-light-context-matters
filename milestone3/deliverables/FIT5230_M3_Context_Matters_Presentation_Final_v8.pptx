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3bd5508f5e4c18" /><Relationship Type="http://schemas.openxmlformats.org/officeDocument/2006/relationships/extended-properties" Target="/docProps/app.xml" Id="R1ad6d26659014ca5" /><Relationship Type="http://schemas.openxmlformats.org/officeDocument/2006/relationships/officeDocument" Target="/ppt/presentation.xml" Id="R15d3cf3148d846e1" /></Relationships>
</file>

<file path=ppt/presentation.xml><?xml version="1.0" encoding="utf-8"?>
<p:presentation xmlns:p="http://schemas.openxmlformats.org/presentationml/2006/main">
  <p:sldMasterIdLst>
    <p:sldMasterId xmlns:r="http://schemas.openxmlformats.org/officeDocument/2006/relationships" id="2147483648" r:id="R8d5f31f9c31940e4"/>
  </p:sldMasterIdLst>
  <p:notesMasterIdLst>
    <p:notesMasterId xmlns:r="http://schemas.openxmlformats.org/officeDocument/2006/relationships" r:id="Rf6e0160899b94b33"/>
  </p:notesMasterIdLst>
  <p:sldIdLst>
    <p:sldId xmlns:r="http://schemas.openxmlformats.org/officeDocument/2006/relationships" id="256" r:id="R1e5c4a26576a4373"/>
    <p:sldId xmlns:r="http://schemas.openxmlformats.org/officeDocument/2006/relationships" id="257" r:id="R936b736d57324931"/>
    <p:sldId xmlns:r="http://schemas.openxmlformats.org/officeDocument/2006/relationships" id="258" r:id="R026b63732f4e4dd1"/>
    <p:sldId xmlns:r="http://schemas.openxmlformats.org/officeDocument/2006/relationships" id="259" r:id="R8617d195a36e4de4"/>
    <p:sldId xmlns:r="http://schemas.openxmlformats.org/officeDocument/2006/relationships" id="260" r:id="R600a8b8de3b7410b"/>
    <p:sldId xmlns:r="http://schemas.openxmlformats.org/officeDocument/2006/relationships" id="261" r:id="R37d992e16ec5486f"/>
    <p:sldId xmlns:r="http://schemas.openxmlformats.org/officeDocument/2006/relationships" id="262" r:id="Rcb7f284392c54891"/>
    <p:sldId xmlns:r="http://schemas.openxmlformats.org/officeDocument/2006/relationships" id="263" r:id="Rd477f8d6c8bd4d24"/>
    <p:sldId xmlns:r="http://schemas.openxmlformats.org/officeDocument/2006/relationships" id="264" r:id="R44ed8fc7ed474f5c"/>
    <p:sldId xmlns:r="http://schemas.openxmlformats.org/officeDocument/2006/relationships" id="265" r:id="R41bfd1f7d91541c3"/>
    <p:sldId xmlns:r="http://schemas.openxmlformats.org/officeDocument/2006/relationships" id="266" r:id="R439c2e11d46744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c62ac338d24bfa" /><Relationship Type="http://schemas.openxmlformats.org/officeDocument/2006/relationships/slideMaster" Target="/ppt/slideMasters/slideMaster1.xml" Id="R8d5f31f9c31940e4" /><Relationship Type="http://schemas.openxmlformats.org/officeDocument/2006/relationships/notesMaster" Target="/ppt/notesMasters/notesMaster1.xml" Id="Rf6e0160899b94b33" /><Relationship Type="http://schemas.openxmlformats.org/officeDocument/2006/relationships/presProps" Target="/ppt/presProps.xml" Id="R53761a4c103a490c" /><Relationship Type="http://schemas.openxmlformats.org/officeDocument/2006/relationships/tableStyles" Target="/ppt/tableStyles.xml" Id="R3c26364ce3db41cf" /><Relationship Type="http://schemas.openxmlformats.org/officeDocument/2006/relationships/slide" Target="/ppt/slides/slide1.xml" Id="R1e5c4a26576a4373" /><Relationship Type="http://schemas.openxmlformats.org/officeDocument/2006/relationships/slide" Target="/ppt/slides/slide2.xml" Id="R936b736d57324931" /><Relationship Type="http://schemas.openxmlformats.org/officeDocument/2006/relationships/slide" Target="/ppt/slides/slide3.xml" Id="R026b63732f4e4dd1" /><Relationship Type="http://schemas.openxmlformats.org/officeDocument/2006/relationships/slide" Target="/ppt/slides/slide4.xml" Id="R8617d195a36e4de4" /><Relationship Type="http://schemas.openxmlformats.org/officeDocument/2006/relationships/slide" Target="/ppt/slides/slide5.xml" Id="R600a8b8de3b7410b" /><Relationship Type="http://schemas.openxmlformats.org/officeDocument/2006/relationships/slide" Target="/ppt/slides/slide6.xml" Id="R37d992e16ec5486f" /><Relationship Type="http://schemas.openxmlformats.org/officeDocument/2006/relationships/slide" Target="/ppt/slides/slide7.xml" Id="Rcb7f284392c54891" /><Relationship Type="http://schemas.openxmlformats.org/officeDocument/2006/relationships/slide" Target="/ppt/slides/slide8.xml" Id="Rd477f8d6c8bd4d24" /><Relationship Type="http://schemas.openxmlformats.org/officeDocument/2006/relationships/slide" Target="/ppt/slides/slide9.xml" Id="R44ed8fc7ed474f5c" /><Relationship Type="http://schemas.openxmlformats.org/officeDocument/2006/relationships/slide" Target="/ppt/slides/slide10.xml" Id="R41bfd1f7d91541c3" /><Relationship Type="http://schemas.openxmlformats.org/officeDocument/2006/relationships/slide" Target="/ppt/slides/slide11.xml" Id="R439c2e11d46744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b21317d75149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7b59dfeec64aca" /><Relationship Type="http://schemas.openxmlformats.org/officeDocument/2006/relationships/notesMaster" Target="/ppt/notesMasters/notesMaster1.xml" Id="R7aba92c0aaa84f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5f5c580f0c46e1" /><Relationship Type="http://schemas.openxmlformats.org/officeDocument/2006/relationships/notesMaster" Target="/ppt/notesMasters/notesMaster1.xml" Id="R2896a7c61e8e46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2609a29dac4b80" /><Relationship Type="http://schemas.openxmlformats.org/officeDocument/2006/relationships/notesMaster" Target="/ppt/notesMasters/notesMaster1.xml" Id="R317b6649040946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21ab2384ad41b4" /><Relationship Type="http://schemas.openxmlformats.org/officeDocument/2006/relationships/notesMaster" Target="/ppt/notesMasters/notesMaster1.xml" Id="Ra11476657f4340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8f3a9eb6dd4dbb" /><Relationship Type="http://schemas.openxmlformats.org/officeDocument/2006/relationships/notesMaster" Target="/ppt/notesMasters/notesMaster1.xml" Id="R0ee360c77f004e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d24c0134b84a40" /><Relationship Type="http://schemas.openxmlformats.org/officeDocument/2006/relationships/notesMaster" Target="/ppt/notesMasters/notesMaster1.xml" Id="R626fdf617e254d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e0c16c274945dc" /><Relationship Type="http://schemas.openxmlformats.org/officeDocument/2006/relationships/notesMaster" Target="/ppt/notesMasters/notesMaster1.xml" Id="Rccdbdc073d194c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5b294c898343a9" /><Relationship Type="http://schemas.openxmlformats.org/officeDocument/2006/relationships/notesMaster" Target="/ppt/notesMasters/notesMaster1.xml" Id="R6fa0df9a08224d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e65b6328024011" /><Relationship Type="http://schemas.openxmlformats.org/officeDocument/2006/relationships/notesMaster" Target="/ppt/notesMasters/notesMaster1.xml" Id="R43b4e7dcdb1049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c3c4d5cb754c26" /><Relationship Type="http://schemas.openxmlformats.org/officeDocument/2006/relationships/notesMaster" Target="/ppt/notesMasters/notesMaster1.xml" Id="Ra04eb101bcca41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3085190d8c43f7" /><Relationship Type="http://schemas.openxmlformats.org/officeDocument/2006/relationships/notesMaster" Target="/ppt/notesMasters/notesMaster1.xml" Id="R4a6ec1c830b441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30 seconds. We are Light.Ningyizhuo.No.1. Our question is whether a speech-to-face fake that passes a physiological detector still leaves evidence in mouth motion or in the manipulation used to repair physiological signals. We test those two channels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75 seconds. The submitted M2 notebook used 32 synthetic trajectory fixtures with 16 artificial identity IDs. Its two public videos checked preprocessing only; M2 reported no real-video detection accuracy. M3 adds a 24-clip public pilot, held-out evaluation and the Dark.Mimic paired audit. The updated notebook runs 38 regression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first 30 seconds: the public branch extracts lip geometry and compares context-free with weak context. He, next 45 seconds: the peer branch compares aligned RGB signals from the Dark.Mimic control and modified video. Together: we report branches separately because one peer pair cannot calibrate a valid fusion model. This balances speaking time; it does not establish personal implementation credit.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two minutes. Dark.Mimic aims to inject a more realistic periodic physiological signal into a generated talking face so that an rPPG detector is less likely to reject it. They gave us an aligned control and A=1 modified video. Our earlier paired analysis found identical audio and almost unchanged mouth geometry. That motivates a new forensic question: does the injected signal create an unusually periodic colour trace? The raw peer files remain private. Source: peer exchange package and reports/peer_dark_mimic.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90 seconds. My strategy tests context-conditioned lip dynamics. The context-free model summarizes aperture, width and their time derivatives over a clip. The context version adds before, during and after statistics around one central vowel, conditioned on neighbouring phonetic classes. Both models use the same clips and fixed threshold. Whisper word timestamps plus CMUdict give a weak proxy. I do not call it forced alignment. Public sources: Wikitongues English videos and TalkingHeadBench Hallo/LivePortrait.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On six held-out clips, the saved local reference run gave macro-F1 0.486 for both models and AUROC 0.667 versus 0.556. A fresh Colab CPU rerun on 15 October gave the same macro-F1 and AUROC 0.556 versus 0.222, so the absolute ranking changed but the negative conclusion did not. Five thousand paired stratified bootstrap resamples on the local run give wide intervals because the test set contains only three real and three fake clips. Sources: artifacts/m3_results/test_metrics_with_bootstrap.csv and reports/M3_COLAB_VERIFICATION.md.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Yan, 105 seconds. A controlled no-phone ablation uses the same 547 local vowel events, window features, ridge penalty, logistic classifier and splits. Only phonetic categories are removed. On the known six-clip test, context versus no-phone gives Macro-F1 0.829 versus 0.625 and AUROC 0.778 versus 0.667. Across 20 repeated four-fold runs, context gives F1 0.645 versus 0.632 but AUROC 0.689 versus 0.694. This is mixed, post-hoc evidence. The earlier Colab run did not reproduce the multi-event improvement. The revised ablation needs a fresh Colab rerun and independent matched data. Sources: artifacts/m3_improvement/matched_context_ablation_fixed.csv and matched_context_ablation_summary.csv.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90 seconds. My strategy subtracts control RGB values from the modified video, then measures spectral energy near the peer-reported 1.2 Hz. I use the full frame, forehead and cheek regions. A neutral re-encode of the control estimates how much periodic energy an ordinary codec change creates. This is a paired forensic audit. It does not estimate a pulse waveform and it does not decide whether an arbitrary video is real or fake.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In the original pair, the global red-channel peak is 1.159 Hz. Energy near 1.2 Hz is 0.946 for A=1 and 0.204 for neutral re-encoding, a ratio of 4.63. The green-channel ratio is 8.48. The time-domain trace shows a clear periodic pattern. This evidence applies to one aligned pair only. Source: outputs/m3_work/dark_mimic_attack and artifacts/m3_results/attack_vs_neutral.csv.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75 seconds. The red attack-to-neutral ratio remains above one after all three transformations: 8.45 under H.264 CRF 35, 6.28 after resizing to 256 by 224, and 20.86 at 15 FPS. A 16 October hash-checked rerun matched these rounded values. A newly documented neutral recipe also gave ratios above one, though their magnitude changed. In twelve public real-speaker codec-only controls, the red target-band fraction median was 0.074. A synthetic 1.2 Hz global brightness oscillation raised it to median 0.981 in 12/12 real speakers. Thus the frequency metric is not attack-specific. Natural lighting/motion and multiple attacked identities remain untested. Sources: robustness_summary.csv, benign_chromatic_controls.csv, periodic_light_controls.csv and robustness_reproduced_neutral.csv.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 45 seconds, then Yan closes for 15 seconds. The lip branch includes a negative first result and a matched but post-hoc ablation with mixed repeated-fold evidence. The colour branch finds a strong trace in one attacked peer pair; twelve public benign codec controls and a regenerated neutral improve auditability, while synthetic periodic light triggers the metric on all twelve real speakers. It is not attack-specific. Yan: Our course pilot is executable and its limits are explicit. A paper needs fresh matched data, forced alignment, multiple attacked identities and natural lighting/motion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198dbfc2bb46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d5ab2ed1c949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d5cfd24db544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2c5ac8a9be44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c91f51ccec4b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12a97db9b549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AA835A-95EC-4B7E-A261-DDF5DFB16D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7FC759-7CBD-4331-867B-E1118A65CE1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FC69FE-F991-4A5D-A157-F2DAB031742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1881C6-0411-4EBF-A657-8C13C9FE9C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E903742-2C98-428F-9CFF-68C5E1094E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8C85A5-0F1B-4EF2-8508-1432C500D6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2DDBE4-370E-48AE-99DC-814485AA46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C579A9-7198-40E2-AE26-1EDACE616F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52D999-5147-4504-9CE6-D6B81F9C8FD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D90EBA9-4160-4B23-B658-528818A46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8d9a94f4ff4e5b" /><Relationship Type="http://schemas.openxmlformats.org/officeDocument/2006/relationships/slideLayout" Target="/ppt/slideLayouts/slideLayout1.xml" Id="R54026436331942d8" /><Relationship Type="http://schemas.openxmlformats.org/officeDocument/2006/relationships/slideLayout" Target="/ppt/slideLayouts/slideLayout2.xml" Id="Rab2e03b931d9452f" /><Relationship Type="http://schemas.openxmlformats.org/officeDocument/2006/relationships/slideLayout" Target="/ppt/slideLayouts/slideLayout3.xml" Id="Refb52019d8df436b" /><Relationship Type="http://schemas.openxmlformats.org/officeDocument/2006/relationships/slideLayout" Target="/ppt/slideLayouts/slideLayout4.xml" Id="R98dccd03b1314df7" /><Relationship Type="http://schemas.openxmlformats.org/officeDocument/2006/relationships/slideLayout" Target="/ppt/slideLayouts/slideLayout5.xml" Id="R998d1f3e09b84bc9" /><Relationship Type="http://schemas.openxmlformats.org/officeDocument/2006/relationships/slideLayout" Target="/ppt/slideLayouts/slideLayout6.xml" Id="R148278453acc49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026436331942d8"/>
    <p:sldLayoutId xmlns:r="http://schemas.openxmlformats.org/officeDocument/2006/relationships" id="2147483650" r:id="Rab2e03b931d9452f"/>
    <p:sldLayoutId xmlns:r="http://schemas.openxmlformats.org/officeDocument/2006/relationships" id="2147483651" r:id="Refb52019d8df436b"/>
    <p:sldLayoutId xmlns:r="http://schemas.openxmlformats.org/officeDocument/2006/relationships" id="2147483652" r:id="R98dccd03b1314df7"/>
    <p:sldLayoutId xmlns:r="http://schemas.openxmlformats.org/officeDocument/2006/relationships" id="2147483653" r:id="R998d1f3e09b84bc9"/>
    <p:sldLayoutId xmlns:r="http://schemas.openxmlformats.org/officeDocument/2006/relationships" id="2147483654" r:id="R148278453acc49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496be0f17b4ec2" /><Relationship Type="http://schemas.openxmlformats.org/officeDocument/2006/relationships/notesSlide" Target="/ppt/notesSlides/notesSlide1.xml" Id="R8fbfaac894604f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cc32439d044c70" /><Relationship Type="http://schemas.openxmlformats.org/officeDocument/2006/relationships/notesSlide" Target="/ppt/notesSlides/notesSlide2.xml" Id="R89daf46e43c148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e54e82197e14582" /><Relationship Type="http://schemas.openxmlformats.org/officeDocument/2006/relationships/notesSlide" Target="/ppt/notesSlides/notesSlide3.xml" Id="R01eb689662e34f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ee03cde0474d66" /><Relationship Type="http://schemas.openxmlformats.org/officeDocument/2006/relationships/notesSlide" Target="/ppt/notesSlides/notesSlide4.xml" Id="R186b322cc47e4d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38f6d672ce4ddd" /><Relationship Type="http://schemas.openxmlformats.org/officeDocument/2006/relationships/notesSlide" Target="/ppt/notesSlides/notesSlide5.xml" Id="R376dfce167df49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076a1680074444" /><Relationship Type="http://schemas.openxmlformats.org/officeDocument/2006/relationships/chart" Target="/ppt/slides/charts/chart1.xml" Id="R3212692546694136" /><Relationship Type="http://schemas.openxmlformats.org/officeDocument/2006/relationships/notesSlide" Target="/ppt/notesSlides/notesSlide6.xml" Id="R96a761b31b434a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789478822e45d6" /><Relationship Type="http://schemas.openxmlformats.org/officeDocument/2006/relationships/chart" Target="/ppt/slides/charts/chart2.xml" Id="R163611b32b1345af" /><Relationship Type="http://schemas.openxmlformats.org/officeDocument/2006/relationships/chart" Target="/ppt/slides/charts/chart3.xml" Id="R369897802be94df4" /><Relationship Type="http://schemas.openxmlformats.org/officeDocument/2006/relationships/notesSlide" Target="/ppt/notesSlides/notesSlide7.xml" Id="Rde8ae21e760c4b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1c76ff9d1f480b" /><Relationship Type="http://schemas.openxmlformats.org/officeDocument/2006/relationships/notesSlide" Target="/ppt/notesSlides/notesSlide8.xml" Id="R80be143545054c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1762e9360b14f44" /><Relationship Type="http://schemas.openxmlformats.org/officeDocument/2006/relationships/chart" Target="/ppt/slides/charts/chart4.xml" Id="R151acbf736614b80" /><Relationship Type="http://schemas.openxmlformats.org/officeDocument/2006/relationships/chart" Target="/ppt/slides/charts/chart5.xml" Id="Rb1e4e895c7a746c9" /><Relationship Type="http://schemas.openxmlformats.org/officeDocument/2006/relationships/notesSlide" Target="/ppt/notesSlides/notesSlide9.xml" Id="Rff659087669941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1e2af6a45e244b7" /><Relationship Type="http://schemas.openxmlformats.org/officeDocument/2006/relationships/chart" Target="/ppt/slides/charts/chart6.xml" Id="R7059ce157fc041b5" /><Relationship Type="http://schemas.openxmlformats.org/officeDocument/2006/relationships/notesSlide" Target="/ppt/notesSlides/notesSlide10.xml" Id="R86bd9a690ffa4d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effc00947f464d" /><Relationship Type="http://schemas.openxmlformats.org/officeDocument/2006/relationships/notesSlide" Target="/ppt/notesSlides/notesSlide11.xml" Id="R5be8f60dcd38442e" /></Relationships>
</file>

<file path=ppt/slides/charts/chart1.xml><?xml version="1.0" encoding="utf-8"?>
<c:chartSpace xmlns:c="http://schemas.openxmlformats.org/drawingml/2006/chart">
  <c:lang val="en-US"/>
  <c:chart>
    <c:plotArea>
      <c:barChart>
        <c:barDir val="col"/>
        <c:grouping val="clustered"/>
        <c:varyColors val="0"/>
        <c:ser>
          <c:idx val="0"/>
          <c:order val="0"/>
          <c:tx>
            <c:v>Context-free</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0.485714</c:v>
              </c:pt>
              <c:pt idx="1">
                <c:v>0.666667</c:v>
              </c:pt>
            </c:numLit>
          </c:val>
        </c:ser>
        <c:ser>
          <c:idx val="1"/>
          <c:order val="1"/>
          <c:tx>
            <c:v>Weak context</c:v>
          </c:tx>
          <c:spPr>
            <a:solidFill xmlns:a="http://schemas.openxmlformats.org/drawingml/2006/main">
              <a:srgbClr val="D64545"/>
            </a:solidFill>
          </c:spPr>
          <c:invertIfNegative val="0"/>
          <c:cat>
            <c:strLit>
              <c:ptCount val="2"/>
              <c:pt idx="0">
                <c:v>Macro-F1</c:v>
              </c:pt>
              <c:pt idx="1">
                <c:v>AUROC</c:v>
              </c:pt>
            </c:strLit>
          </c:cat>
          <c:val>
            <c:numLit>
              <c:formatCode>0.0</c:formatCode>
              <c:ptCount val="2"/>
              <c:pt idx="0">
                <c:v>0.485714</c:v>
              </c:pt>
              <c:pt idx="1">
                <c:v>0.555556</c:v>
              </c:pt>
            </c:numLit>
          </c:val>
        </c:ser>
        <c:dLbls>
          <c:txPr>
            <a:bodyPr xmlns:a="http://schemas.openxmlformats.org/drawingml/2006/main" anchorCtr="1"/>
            <a:lstStyle xmlns:a="http://schemas.openxmlformats.org/drawingml/2006/main"/>
            <a:p xmlns:a="http://schemas.openxmlformats.org/drawingml/2006/main">
              <a:pPr>
                <a:defRPr sz="1050"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No-phone multi-event</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0.625</c:v>
              </c:pt>
              <c:pt idx="1">
                <c:v>0.666667</c:v>
              </c:pt>
            </c:numLit>
          </c:val>
        </c:ser>
        <c:ser>
          <c:idx val="1"/>
          <c:order val="1"/>
          <c:tx>
            <c:v>Multi-event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0.828571</c:v>
              </c:pt>
              <c:pt idx="1">
                <c:v>0.777778</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barChart>
        <c:barDir val="col"/>
        <c:grouping val="clustered"/>
        <c:varyColors val="0"/>
        <c:ser>
          <c:idx val="0"/>
          <c:order val="0"/>
          <c:tx>
            <c:v>No-phone multi-event</c:v>
          </c:tx>
          <c:spPr>
            <a:solidFill xmlns:a="http://schemas.openxmlformats.org/drawingml/2006/main">
              <a:srgbClr val="2F6BFF"/>
            </a:solidFill>
          </c:spPr>
          <c:invertIfNegative val="0"/>
          <c:cat>
            <c:strLit>
              <c:ptCount val="2"/>
              <c:pt idx="0">
                <c:v>Macro-F1</c:v>
              </c:pt>
              <c:pt idx="1">
                <c:v>AUROC</c:v>
              </c:pt>
            </c:strLit>
          </c:cat>
          <c:val>
            <c:numLit>
              <c:formatCode>0.0</c:formatCode>
              <c:ptCount val="2"/>
              <c:pt idx="0">
                <c:v>0.632068</c:v>
              </c:pt>
              <c:pt idx="1">
                <c:v>0.694444</c:v>
              </c:pt>
            </c:numLit>
          </c:val>
        </c:ser>
        <c:ser>
          <c:idx val="1"/>
          <c:order val="1"/>
          <c:tx>
            <c:v>Multi-event context</c:v>
          </c:tx>
          <c:spPr>
            <a:solidFill xmlns:a="http://schemas.openxmlformats.org/drawingml/2006/main">
              <a:srgbClr val="159E9C"/>
            </a:solidFill>
          </c:spPr>
          <c:invertIfNegative val="0"/>
          <c:cat>
            <c:strLit>
              <c:ptCount val="2"/>
              <c:pt idx="0">
                <c:v>Macro-F1</c:v>
              </c:pt>
              <c:pt idx="1">
                <c:v>AUROC</c:v>
              </c:pt>
            </c:strLit>
          </c:cat>
          <c:val>
            <c:numLit>
              <c:formatCode>0.0</c:formatCode>
              <c:ptCount val="2"/>
              <c:pt idx="0">
                <c:v>0.645193</c:v>
              </c:pt>
              <c:pt idx="1">
                <c:v>0.688889</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lineChart>
        <c:grouping val="standard"/>
        <c:varyColors val="0"/>
        <c:ser>
          <c:idx val="0"/>
          <c:order val="0"/>
          <c:tx>
            <c:v>Red delta</c:v>
          </c:tx>
          <c:spPr>
            <a:ln xmlns:a="http://schemas.openxmlformats.org/drawingml/2006/main" w="19050">
              <a:solidFill>
                <a:srgbClr val="D64545"/>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-0.4143633161272078</c:v>
              </c:pt>
              <c:pt idx="4">
                <c:v>-0.412567138671875</c:v>
              </c:pt>
              <c:pt idx="5">
                <c:v>0</c:v>
              </c:pt>
              <c:pt idx="6">
                <c:v>0</c:v>
              </c:pt>
              <c:pt idx="7">
                <c:v>-0.4096810477120698</c:v>
              </c:pt>
              <c:pt idx="8">
                <c:v>-0.4296308244977638</c:v>
              </c:pt>
              <c:pt idx="9">
                <c:v>0.031607491629472406</c:v>
              </c:pt>
              <c:pt idx="10">
                <c:v>0</c:v>
              </c:pt>
              <c:pt idx="11">
                <c:v>-0.399627685546875</c:v>
              </c:pt>
              <c:pt idx="12">
                <c:v>-0.4138619559151948</c:v>
              </c:pt>
              <c:pt idx="13">
                <c:v>-0.013916015625</c:v>
              </c:pt>
              <c:pt idx="14">
                <c:v>-0.026576450892861203</c:v>
              </c:pt>
              <c:pt idx="15">
                <c:v>-0.4036865234375</c:v>
              </c:pt>
              <c:pt idx="16">
                <c:v>-0.4244515555245414</c:v>
              </c:pt>
              <c:pt idx="17">
                <c:v>0</c:v>
              </c:pt>
              <c:pt idx="18">
                <c:v>0</c:v>
              </c:pt>
              <c:pt idx="19">
                <c:v>-0.3768441336495414</c:v>
              </c:pt>
              <c:pt idx="20">
                <c:v>-0.4018423897879302</c:v>
              </c:pt>
              <c:pt idx="21">
                <c:v>-0.03975132533483361</c:v>
              </c:pt>
              <c:pt idx="22">
                <c:v>0</c:v>
              </c:pt>
              <c:pt idx="23">
                <c:v>-0.3576834542410552</c:v>
              </c:pt>
              <c:pt idx="24">
                <c:v>-0.4163774762834862</c:v>
              </c:pt>
              <c:pt idx="25">
                <c:v>-0.014556884765625</c:v>
              </c:pt>
              <c:pt idx="26">
                <c:v>0.012451171875</c:v>
              </c:pt>
              <c:pt idx="27">
                <c:v>0</c:v>
              </c:pt>
              <c:pt idx="28">
                <c:v>-0.4475010463169724</c:v>
              </c:pt>
              <c:pt idx="29">
                <c:v>-0.4424700055803612</c:v>
              </c:pt>
              <c:pt idx="30">
                <c:v>0.04420253208704139</c:v>
              </c:pt>
              <c:pt idx="31">
                <c:v>0.06489780970983361</c:v>
              </c:pt>
              <c:pt idx="32">
                <c:v>-0.4214739118303612</c:v>
              </c:pt>
              <c:pt idx="33">
                <c:v>-0.41204833984375</c:v>
              </c:pt>
              <c:pt idx="34">
                <c:v>0</c:v>
              </c:pt>
              <c:pt idx="35">
                <c:v>0</c:v>
              </c:pt>
              <c:pt idx="36">
                <c:v>-0.4158891950334862</c:v>
              </c:pt>
              <c:pt idx="37">
                <c:v>-0.4367762974330276</c:v>
              </c:pt>
              <c:pt idx="38">
                <c:v>0.032479422433056016</c:v>
              </c:pt>
              <c:pt idx="39">
                <c:v>0</c:v>
              </c:pt>
              <c:pt idx="40">
                <c:v>-0.4085824148995414</c:v>
              </c:pt>
              <c:pt idx="41">
                <c:v>-0.41741943359375</c:v>
              </c:pt>
              <c:pt idx="42">
                <c:v>0.00837489536829139</c:v>
              </c:pt>
              <c:pt idx="43">
                <c:v>0.043587820870527594</c:v>
              </c:pt>
              <c:pt idx="44">
                <c:v>-0.4385419573102638</c:v>
              </c:pt>
              <c:pt idx="45">
                <c:v>-0.466949462890625</c:v>
              </c:pt>
              <c:pt idx="46">
                <c:v>0.02656773158483361</c:v>
              </c:pt>
              <c:pt idx="47">
                <c:v>0.022059849330361203</c:v>
              </c:pt>
              <c:pt idx="48">
                <c:v>-0.383767264229931</c:v>
              </c:pt>
              <c:pt idx="49">
                <c:v>-0.3860081263950974</c:v>
              </c:pt>
              <c:pt idx="50">
                <c:v>0.016998291015625</c:v>
              </c:pt>
              <c:pt idx="51">
                <c:v>0</c:v>
              </c:pt>
              <c:pt idx="52">
                <c:v>0</c:v>
              </c:pt>
              <c:pt idx="53">
                <c:v>-0.4302542550223336</c:v>
              </c:pt>
              <c:pt idx="54">
                <c:v>-0.4677603585379586</c:v>
              </c:pt>
              <c:pt idx="55">
                <c:v>0.003169468470986203</c:v>
              </c:pt>
              <c:pt idx="56">
                <c:v>0</c:v>
              </c:pt>
              <c:pt idx="57">
                <c:v>-0.3912833077566802</c:v>
              </c:pt>
              <c:pt idx="58">
                <c:v>-0.39068603515625</c:v>
              </c:pt>
              <c:pt idx="59">
                <c:v>0.02470179966516639</c:v>
              </c:pt>
              <c:pt idx="60">
                <c:v>0</c:v>
              </c:pt>
            </c:numLit>
          </c:val>
        </c:ser>
        <c:ser>
          <c:idx val="1"/>
          <c:order val="1"/>
          <c:tx>
            <c:v>Green delta</c:v>
          </c:tx>
          <c:spPr>
            <a:ln xmlns:a="http://schemas.openxmlformats.org/drawingml/2006/main" w="19050">
              <a:solidFill>
                <a:srgbClr val="2B8A3E"/>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-0.7834385463169582</c:v>
              </c:pt>
              <c:pt idx="4">
                <c:v>-0.7651454380580418</c:v>
              </c:pt>
              <c:pt idx="5">
                <c:v>0</c:v>
              </c:pt>
              <c:pt idx="6">
                <c:v>0</c:v>
              </c:pt>
              <c:pt idx="7">
                <c:v>-0.7222769601004444</c:v>
              </c:pt>
              <c:pt idx="8">
                <c:v>-0.7588457380022362</c:v>
              </c:pt>
              <c:pt idx="9">
                <c:v>-0.1352146693638332</c:v>
              </c:pt>
              <c:pt idx="10">
                <c:v>0</c:v>
              </c:pt>
              <c:pt idx="11">
                <c:v>-0.6310817173549168</c:v>
              </c:pt>
              <c:pt idx="12">
                <c:v>-0.7615182059151806</c:v>
              </c:pt>
              <c:pt idx="13">
                <c:v>-0.1375340053013332</c:v>
              </c:pt>
              <c:pt idx="14">
                <c:v>-0.056435721261166805</c:v>
              </c:pt>
              <c:pt idx="15">
                <c:v>-0.6294032505580418</c:v>
              </c:pt>
              <c:pt idx="16">
                <c:v>-0.7135358537946388</c:v>
              </c:pt>
              <c:pt idx="17">
                <c:v>0</c:v>
              </c:pt>
              <c:pt idx="18">
                <c:v>0</c:v>
              </c:pt>
              <c:pt idx="19">
                <c:v>-0.6155831473214164</c:v>
              </c:pt>
              <c:pt idx="20">
                <c:v>-0.7376970563616112</c:v>
              </c:pt>
              <c:pt idx="21">
                <c:v>-0.2380022321428612</c:v>
              </c:pt>
              <c:pt idx="22">
                <c:v>0</c:v>
              </c:pt>
              <c:pt idx="23">
                <c:v>-0.4849897112165138</c:v>
              </c:pt>
              <c:pt idx="24">
                <c:v>-0.7569754464285694</c:v>
              </c:pt>
              <c:pt idx="25">
                <c:v>-0.2654811314174168</c:v>
              </c:pt>
              <c:pt idx="26">
                <c:v>-0.07031685965402801</c:v>
              </c:pt>
              <c:pt idx="27">
                <c:v>0</c:v>
              </c:pt>
              <c:pt idx="28">
                <c:v>-0.6883980887276806</c:v>
              </c:pt>
              <c:pt idx="29">
                <c:v>-0.7244480678013332</c:v>
              </c:pt>
              <c:pt idx="30">
                <c:v>-0.04806082589284699</c:v>
              </c:pt>
              <c:pt idx="31">
                <c:v>-0.0322701590401806</c:v>
              </c:pt>
              <c:pt idx="32">
                <c:v>-0.7096470424107082</c:v>
              </c:pt>
              <c:pt idx="33">
                <c:v>-0.7142987932477638</c:v>
              </c:pt>
              <c:pt idx="34">
                <c:v>0</c:v>
              </c:pt>
              <c:pt idx="35">
                <c:v>0</c:v>
              </c:pt>
              <c:pt idx="36">
                <c:v>-0.7640773228236668</c:v>
              </c:pt>
              <c:pt idx="37">
                <c:v>-0.7662484305245414</c:v>
              </c:pt>
              <c:pt idx="38">
                <c:v>-0.187774658203125</c:v>
              </c:pt>
              <c:pt idx="39">
                <c:v>0</c:v>
              </c:pt>
              <c:pt idx="40">
                <c:v>-0.627349853515625</c:v>
              </c:pt>
              <c:pt idx="41">
                <c:v>-0.7471051897321388</c:v>
              </c:pt>
              <c:pt idx="42">
                <c:v>-0.1837942940848194</c:v>
              </c:pt>
              <c:pt idx="43">
                <c:v>-0.06387765066965301</c:v>
              </c:pt>
              <c:pt idx="44">
                <c:v>-0.538508823939722</c:v>
              </c:pt>
              <c:pt idx="45">
                <c:v>-0.67822265625</c:v>
              </c:pt>
              <c:pt idx="46">
                <c:v>-0.232121058872778</c:v>
              </c:pt>
              <c:pt idx="47">
                <c:v>-0.124053955078125</c:v>
              </c:pt>
              <c:pt idx="48">
                <c:v>-0.7782941545758888</c:v>
              </c:pt>
              <c:pt idx="49">
                <c:v>-0.7961556570870556</c:v>
              </c:pt>
              <c:pt idx="50">
                <c:v>-0.153228759765625</c:v>
              </c:pt>
              <c:pt idx="51">
                <c:v>0</c:v>
              </c:pt>
              <c:pt idx="52">
                <c:v>0</c:v>
              </c:pt>
              <c:pt idx="53">
                <c:v>-0.7846897670200974</c:v>
              </c:pt>
              <c:pt idx="54">
                <c:v>-0.784580775669653</c:v>
              </c:pt>
              <c:pt idx="55">
                <c:v>-0.087921142578125</c:v>
              </c:pt>
              <c:pt idx="56">
                <c:v>0</c:v>
              </c:pt>
              <c:pt idx="57">
                <c:v>-0.6194370814732082</c:v>
              </c:pt>
              <c:pt idx="58">
                <c:v>-0.7602364676339306</c:v>
              </c:pt>
              <c:pt idx="59">
                <c:v>-0.0968584333147362</c:v>
              </c:pt>
              <c:pt idx="60">
                <c:v>0</c:v>
              </c:pt>
            </c:numLit>
          </c:val>
        </c:ser>
        <c:ser>
          <c:idx val="2"/>
          <c:order val="2"/>
          <c:tx>
            <c:v>Blue delta</c:v>
          </c:tx>
          <c:spPr>
            <a:ln xmlns:a="http://schemas.openxmlformats.org/drawingml/2006/main" w="19050">
              <a:solidFill>
                <a:srgbClr val="2F6BFF"/>
              </a:solidFill>
              <a:prstDash val="solid"/>
            </a:ln>
          </c:spPr>
          <c:marker>
            <c:symbol val="none"/>
          </c:marker>
          <c:cat>
            <c:numLit>
              <c:formatCode>General</c:formatCode>
              <c:ptCount val="61"/>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numLit>
          </c:cat>
          <c:val>
            <c:numLit>
              <c:formatCode>General</c:formatCode>
              <c:ptCount val="61"/>
              <c:pt idx="0">
                <c:v>0</c:v>
              </c:pt>
              <c:pt idx="1">
                <c:v>0</c:v>
              </c:pt>
              <c:pt idx="2">
                <c:v>0</c:v>
              </c:pt>
              <c:pt idx="3">
                <c:v>0.4245256696428612</c:v>
              </c:pt>
              <c:pt idx="4">
                <c:v>0.374424525669653</c:v>
              </c:pt>
              <c:pt idx="5">
                <c:v>0</c:v>
              </c:pt>
              <c:pt idx="6">
                <c:v>0</c:v>
              </c:pt>
              <c:pt idx="7">
                <c:v>0.1763741629464306</c:v>
              </c:pt>
              <c:pt idx="8">
                <c:v>0.4195469447544582</c:v>
              </c:pt>
              <c:pt idx="9">
                <c:v>0.3387058803013332</c:v>
              </c:pt>
              <c:pt idx="10">
                <c:v>0</c:v>
              </c:pt>
              <c:pt idx="11">
                <c:v>0.2032209123883888</c:v>
              </c:pt>
              <c:pt idx="12">
                <c:v>0.449676513671875</c:v>
              </c:pt>
              <c:pt idx="13">
                <c:v>0.3600812639508888</c:v>
              </c:pt>
              <c:pt idx="14">
                <c:v>0.2743704659598194</c:v>
              </c:pt>
              <c:pt idx="15">
                <c:v>0.2025844029017918</c:v>
              </c:pt>
              <c:pt idx="16">
                <c:v>0.338134765625</c:v>
              </c:pt>
              <c:pt idx="17">
                <c:v>0</c:v>
              </c:pt>
              <c:pt idx="18">
                <c:v>0</c:v>
              </c:pt>
              <c:pt idx="19">
                <c:v>0.0983668736049026</c:v>
              </c:pt>
              <c:pt idx="20">
                <c:v>0.4485604422433056</c:v>
              </c:pt>
              <c:pt idx="21">
                <c:v>0.4308253696986668</c:v>
              </c:pt>
              <c:pt idx="22">
                <c:v>0</c:v>
              </c:pt>
              <c:pt idx="23">
                <c:v>0.1352103097098194</c:v>
              </c:pt>
              <c:pt idx="24">
                <c:v>0.4003470284598194</c:v>
              </c:pt>
              <c:pt idx="25">
                <c:v>0.4747270856584862</c:v>
              </c:pt>
              <c:pt idx="26">
                <c:v>0.329616001674097</c:v>
              </c:pt>
              <c:pt idx="27">
                <c:v>0</c:v>
              </c:pt>
              <c:pt idx="28">
                <c:v>0.2153363909040138</c:v>
              </c:pt>
              <c:pt idx="29">
                <c:v>0.4968479701450974</c:v>
              </c:pt>
              <c:pt idx="30">
                <c:v>0.2441493443080418</c:v>
              </c:pt>
              <c:pt idx="31">
                <c:v>0.1488255092075974</c:v>
              </c:pt>
              <c:pt idx="32">
                <c:v>0.210784912109375</c:v>
              </c:pt>
              <c:pt idx="33">
                <c:v>0.324650355747778</c:v>
              </c:pt>
              <c:pt idx="34">
                <c:v>0</c:v>
              </c:pt>
              <c:pt idx="35">
                <c:v>0</c:v>
              </c:pt>
              <c:pt idx="36">
                <c:v>0.4257420131138474</c:v>
              </c:pt>
              <c:pt idx="37">
                <c:v>0.4450160435267776</c:v>
              </c:pt>
              <c:pt idx="38">
                <c:v>0.4252493722098194</c:v>
              </c:pt>
              <c:pt idx="39">
                <c:v>0</c:v>
              </c:pt>
              <c:pt idx="40">
                <c:v>0.11968994140625</c:v>
              </c:pt>
              <c:pt idx="41">
                <c:v>0.3784266880580418</c:v>
              </c:pt>
              <c:pt idx="42">
                <c:v>0.4236493791852638</c:v>
              </c:pt>
              <c:pt idx="43">
                <c:v>0.2369820731026806</c:v>
              </c:pt>
              <c:pt idx="44">
                <c:v>0.0337088448660694</c:v>
              </c:pt>
              <c:pt idx="45">
                <c:v>0.174774169921875</c:v>
              </c:pt>
              <c:pt idx="46">
                <c:v>0.4495195661272362</c:v>
              </c:pt>
              <c:pt idx="47">
                <c:v>0.1924307686941944</c:v>
              </c:pt>
              <c:pt idx="48">
                <c:v>0.3893040248325974</c:v>
              </c:pt>
              <c:pt idx="49">
                <c:v>0.4510018484933056</c:v>
              </c:pt>
              <c:pt idx="50">
                <c:v>0.2525547572544724</c:v>
              </c:pt>
              <c:pt idx="51">
                <c:v>0</c:v>
              </c:pt>
              <c:pt idx="52">
                <c:v>0</c:v>
              </c:pt>
              <c:pt idx="53">
                <c:v>0.4493756975446388</c:v>
              </c:pt>
              <c:pt idx="54">
                <c:v>0.3855024065290138</c:v>
              </c:pt>
              <c:pt idx="55">
                <c:v>0.2458060128348194</c:v>
              </c:pt>
              <c:pt idx="56">
                <c:v>0</c:v>
              </c:pt>
              <c:pt idx="57">
                <c:v>0.2301810128348194</c:v>
              </c:pt>
              <c:pt idx="58">
                <c:v>0.3696681431361668</c:v>
              </c:pt>
              <c:pt idx="59">
                <c:v>0.259159633091528</c:v>
              </c:pt>
              <c:pt idx="60">
                <c:v>0</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0 to 12 seconds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Modified minus control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3"/>
              <c:pt idx="0">
                <c:v>Red</c:v>
              </c:pt>
              <c:pt idx="1">
                <c:v>Green</c:v>
              </c:pt>
              <c:pt idx="2">
                <c:v>Blue</c:v>
              </c:pt>
            </c:strLit>
          </c:cat>
          <c:val>
            <c:numLit>
              <c:formatCode>0.0</c:formatCode>
              <c:ptCount val="3"/>
              <c:pt idx="0">
                <c:v>0.9456918104760784</c:v>
              </c:pt>
              <c:pt idx="1">
                <c:v>0.9388008421856344</c:v>
              </c:pt>
              <c:pt idx="2">
                <c:v>0.6602763128284589</c:v>
              </c:pt>
            </c:numLit>
          </c:val>
        </c:ser>
        <c:ser>
          <c:idx val="1"/>
          <c:order val="1"/>
          <c:tx>
            <c:v>Neutral re-encode</c:v>
          </c:tx>
          <c:spPr>
            <a:solidFill xmlns:a="http://schemas.openxmlformats.org/drawingml/2006/main">
              <a:srgbClr val="627D98"/>
            </a:solidFill>
          </c:spPr>
          <c:invertIfNegative val="0"/>
          <c:cat>
            <c:strLit>
              <c:ptCount val="3"/>
              <c:pt idx="0">
                <c:v>Red</c:v>
              </c:pt>
              <c:pt idx="1">
                <c:v>Green</c:v>
              </c:pt>
              <c:pt idx="2">
                <c:v>Blue</c:v>
              </c:pt>
            </c:strLit>
          </c:cat>
          <c:val>
            <c:numLit>
              <c:formatCode>0.0</c:formatCode>
              <c:ptCount val="3"/>
              <c:pt idx="0">
                <c:v>0.2043617083266858</c:v>
              </c:pt>
              <c:pt idx="1">
                <c:v>0.1107587540702676</c:v>
              </c:pt>
              <c:pt idx="2">
                <c:v>0.0039781535791344</c:v>
              </c:pt>
            </c:numLit>
          </c:val>
        </c:ser>
        <c:dLbls>
          <c:txPr>
            <a:bodyPr xmlns:a="http://schemas.openxmlformats.org/drawingml/2006/main" anchorCtr="1"/>
            <a:lstStyle xmlns:a="http://schemas.openxmlformats.org/drawingml/2006/main"/>
            <a:p xmlns:a="http://schemas.openxmlformats.org/drawingml/2006/main">
              <a:pPr>
                <a:defRPr sz="900">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A=1 attack</c:v>
          </c:tx>
          <c:spPr>
            <a:solidFill xmlns:a="http://schemas.openxmlformats.org/drawingml/2006/main">
              <a:srgbClr val="E67E22"/>
            </a:solidFill>
          </c:spPr>
          <c:invertIfNegative val="0"/>
          <c:cat>
            <c:strLit>
              <c:ptCount val="4"/>
              <c:pt idx="0">
                <c:v>Original</c:v>
              </c:pt>
              <c:pt idx="1">
                <c:v>H.264 CRF 35</c:v>
              </c:pt>
              <c:pt idx="2">
                <c:v>256×224</c:v>
              </c:pt>
              <c:pt idx="3">
                <c:v>15 FPS</c:v>
              </c:pt>
            </c:strLit>
          </c:cat>
          <c:val>
            <c:numLit>
              <c:formatCode>0.0</c:formatCode>
              <c:ptCount val="4"/>
              <c:pt idx="0">
                <c:v>0.9456918104760784</c:v>
              </c:pt>
              <c:pt idx="1">
                <c:v>0.3672345169718491</c:v>
              </c:pt>
              <c:pt idx="2">
                <c:v>0.7997830616915408</c:v>
              </c:pt>
              <c:pt idx="3">
                <c:v>0.8732771056326861</c:v>
              </c:pt>
            </c:numLit>
          </c:val>
        </c:ser>
        <c:ser>
          <c:idx val="1"/>
          <c:order val="1"/>
          <c:tx>
            <c:v>Neutral re-encode</c:v>
          </c:tx>
          <c:spPr>
            <a:solidFill xmlns:a="http://schemas.openxmlformats.org/drawingml/2006/main">
              <a:srgbClr val="627D98"/>
            </a:solidFill>
          </c:spPr>
          <c:invertIfNegative val="0"/>
          <c:cat>
            <c:strLit>
              <c:ptCount val="4"/>
              <c:pt idx="0">
                <c:v>Original</c:v>
              </c:pt>
              <c:pt idx="1">
                <c:v>H.264 CRF 35</c:v>
              </c:pt>
              <c:pt idx="2">
                <c:v>256×224</c:v>
              </c:pt>
              <c:pt idx="3">
                <c:v>15 FPS</c:v>
              </c:pt>
            </c:strLit>
          </c:cat>
          <c:val>
            <c:numLit>
              <c:formatCode>0.0</c:formatCode>
              <c:ptCount val="4"/>
              <c:pt idx="0">
                <c:v>0.2043617083266858</c:v>
              </c:pt>
              <c:pt idx="1">
                <c:v>0.0434662282960078</c:v>
              </c:pt>
              <c:pt idx="2">
                <c:v>0.1272925039622935</c:v>
              </c:pt>
              <c:pt idx="3">
                <c:v>0.0418589577497892</c:v>
              </c:pt>
            </c:numLit>
          </c:val>
        </c:ser>
        <c:dLbls>
          <c:txPr>
            <a:bodyPr xmlns:a="http://schemas.openxmlformats.org/drawingml/2006/main" anchorCtr="1"/>
            <a:lstStyle xmlns:a="http://schemas.openxmlformats.org/drawingml/2006/main"/>
            <a:p xmlns:a="http://schemas.openxmlformats.org/drawingml/2006/main">
              <a:pPr>
                <a:defRPr sz="975" b="1">
                  <a:solidFill>
                    <a:srgbClr val="243B5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D9E2EC"/>
              </a:solidFill>
              <a:prstDash val="solid"/>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Red energy fraction near 1.2 Hz</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9E0341-1400-4D3A-8C2E-5A124F743B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7B9685A-9978-4C55-A869-ACCE6BDD6B5E}"/>
              </a:ext>
            </a:extLst>
          </p:cNvPr>
          <p:cNvSpPr>
            <a:spLocks xmlns:a="http://schemas.openxmlformats.org/drawingml/2006/main" noGrp="1"/>
          </p:cNvSpPr>
          <p:nvPr/>
        </p:nvSpPr>
        <p:spPr>
          <a:xfrm xmlns:a="http://schemas.openxmlformats.org/drawingml/2006/main">
            <a:off x="781050" y="12858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4050" b="1">
                <a:solidFill>
                  <a:srgbClr val="FFFFFF"/>
                </a:solidFill>
                <a:latin typeface="Helvetica Neue"/>
                <a:ea typeface="Helvetica Neue"/>
                <a:cs typeface="Helvetica Neue"/>
              </a:defRPr>
            </a:defPPr>
          </a:lstStyle>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Context Matters</a:t>
            </a:r>
          </a:p>
        </p:txBody>
      </p:sp>
      <p:sp>
        <p:nvSpPr>
          <p:cNvPr id="3" name="">
            <a:extLst xmlns:a="http://schemas.openxmlformats.org/drawingml/2006/main">
              <a:ext uri="{FF2B5EF4-FFF2-40B4-BE49-F238E27FC236}">
                <a16:creationId xmlns:a16="http://schemas.microsoft.com/office/drawing/2014/main" id="{E3D137E4-3161-4FDD-88F4-5B76F77AF022}"/>
              </a:ext>
            </a:extLst>
          </p:cNvPr>
          <p:cNvSpPr>
            <a:spLocks xmlns:a="http://schemas.openxmlformats.org/drawingml/2006/main" noGrp="1"/>
          </p:cNvSpPr>
          <p:nvPr/>
        </p:nvSpPr>
        <p:spPr>
          <a:xfrm xmlns:a="http://schemas.openxmlformats.org/drawingml/2006/main">
            <a:off x="800100" y="2066925"/>
            <a:ext cx="971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0">
                <a:solidFill>
                  <a:srgbClr val="D9E8F5"/>
                </a:solidFill>
                <a:latin typeface="Helvetica Neue"/>
                <a:ea typeface="Helvetica Neue"/>
                <a:cs typeface="Helvetica Neue"/>
              </a:defRPr>
            </a:defPPr>
          </a:lstStyle>
          <a:p xmlns:a="http://schemas.openxmlformats.org/drawingml/2006/main">
            <a:pPr algn="l">
              <a:defRPr sz="2250" b="0">
                <a:solidFill>
                  <a:srgbClr val="D9E8F5"/>
                </a:solidFill>
                <a:latin typeface="Helvetica Neue"/>
                <a:ea typeface="Helvetica Neue"/>
                <a:cs typeface="Helvetica Neue"/>
              </a:defRPr>
            </a:pPr>
            <a:r>
              <a:rPr sz="2250" b="0">
                <a:solidFill>
                  <a:srgbClr val="D9E8F5"/>
                </a:solidFill>
                <a:latin typeface="Helvetica Neue"/>
                <a:ea typeface="Helvetica Neue"/>
                <a:cs typeface="Helvetica Neue"/>
              </a:rPr>
              <a:t>Two defensive signals for speech-to-face deepfakes</a:t>
            </a:r>
          </a:p>
        </p:txBody>
      </p:sp>
      <p:sp>
        <p:nvSpPr>
          <p:cNvPr id="4" name="">
            <a:extLst xmlns:a="http://schemas.openxmlformats.org/drawingml/2006/main">
              <a:ext uri="{FF2B5EF4-FFF2-40B4-BE49-F238E27FC236}">
                <a16:creationId xmlns:a16="http://schemas.microsoft.com/office/drawing/2014/main" id="{73FC4BC6-5E57-4DFB-9316-D694BF4F0419}"/>
              </a:ext>
            </a:extLst>
          </p:cNvPr>
          <p:cNvSpPr>
            <a:spLocks xmlns:a="http://schemas.openxmlformats.org/drawingml/2006/main" noGrp="1"/>
          </p:cNvSpPr>
          <p:nvPr/>
        </p:nvSpPr>
        <p:spPr>
          <a:xfrm xmlns:a="http://schemas.openxmlformats.org/drawingml/2006/main">
            <a:off x="800100" y="2962275"/>
            <a:ext cx="7810500" cy="28575"/>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8D68B2-2AE5-4DD0-8D01-1C3039EA94F8}"/>
              </a:ext>
            </a:extLst>
          </p:cNvPr>
          <p:cNvSpPr>
            <a:spLocks xmlns:a="http://schemas.openxmlformats.org/drawingml/2006/main" noGrp="1"/>
          </p:cNvSpPr>
          <p:nvPr/>
        </p:nvSpPr>
        <p:spPr>
          <a:xfrm xmlns:a="http://schemas.openxmlformats.org/drawingml/2006/main">
            <a:off x="800100" y="32861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Lip dynamics in phonetic context</a:t>
            </a:r>
          </a:p>
        </p:txBody>
      </p:sp>
      <p:sp>
        <p:nvSpPr>
          <p:cNvPr id="6" name="">
            <a:extLst xmlns:a="http://schemas.openxmlformats.org/drawingml/2006/main">
              <a:ext uri="{FF2B5EF4-FFF2-40B4-BE49-F238E27FC236}">
                <a16:creationId xmlns:a16="http://schemas.microsoft.com/office/drawing/2014/main" id="{21A989EA-4ECD-43C2-BEAA-DFB9E1CD4A38}"/>
              </a:ext>
            </a:extLst>
          </p:cNvPr>
          <p:cNvSpPr>
            <a:spLocks xmlns:a="http://schemas.openxmlformats.org/drawingml/2006/main" noGrp="1"/>
          </p:cNvSpPr>
          <p:nvPr/>
        </p:nvSpPr>
        <p:spPr>
          <a:xfrm xmlns:a="http://schemas.openxmlformats.org/drawingml/2006/main">
            <a:off x="800100" y="37814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FFFFFF"/>
                </a:solidFill>
                <a:latin typeface="Helvetica Neue"/>
                <a:ea typeface="Helvetica Neue"/>
                <a:cs typeface="Helvetica Neue"/>
              </a:defRPr>
            </a:defPPr>
          </a:lstStyle>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Periodic chromatic traces from rPPG evasion</a:t>
            </a:r>
          </a:p>
        </p:txBody>
      </p:sp>
      <p:sp>
        <p:nvSpPr>
          <p:cNvPr id="7" name="">
            <a:extLst xmlns:a="http://schemas.openxmlformats.org/drawingml/2006/main">
              <a:ext uri="{FF2B5EF4-FFF2-40B4-BE49-F238E27FC236}">
                <a16:creationId xmlns:a16="http://schemas.microsoft.com/office/drawing/2014/main" id="{EFA709CD-6351-4B3F-B664-81CD581DED74}"/>
              </a:ext>
            </a:extLst>
          </p:cNvPr>
          <p:cNvSpPr>
            <a:spLocks xmlns:a="http://schemas.openxmlformats.org/drawingml/2006/main" noGrp="1"/>
          </p:cNvSpPr>
          <p:nvPr/>
        </p:nvSpPr>
        <p:spPr>
          <a:xfrm xmlns:a="http://schemas.openxmlformats.org/drawingml/2006/main">
            <a:off x="800100" y="514350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Light.Ningyizhuo_No.1</a:t>
            </a:r>
          </a:p>
        </p:txBody>
      </p:sp>
      <p:sp>
        <p:nvSpPr>
          <p:cNvPr id="8" name="">
            <a:extLst xmlns:a="http://schemas.openxmlformats.org/drawingml/2006/main">
              <a:ext uri="{FF2B5EF4-FFF2-40B4-BE49-F238E27FC236}">
                <a16:creationId xmlns:a16="http://schemas.microsoft.com/office/drawing/2014/main" id="{63E2EAA7-7B2E-4FDF-A2F7-43837AB0800A}"/>
              </a:ext>
            </a:extLst>
          </p:cNvPr>
          <p:cNvSpPr>
            <a:spLocks xmlns:a="http://schemas.openxmlformats.org/drawingml/2006/main" noGrp="1"/>
          </p:cNvSpPr>
          <p:nvPr/>
        </p:nvSpPr>
        <p:spPr>
          <a:xfrm xmlns:a="http://schemas.openxmlformats.org/drawingml/2006/main">
            <a:off x="800100" y="552450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FFFFFF"/>
                </a:solidFill>
                <a:latin typeface="Helvetica Neue"/>
                <a:ea typeface="Helvetica Neue"/>
                <a:cs typeface="Helvetica Neue"/>
              </a:defRPr>
            </a:defPPr>
          </a:lstStyle>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Yan Zhiheng  |  He Hongjie</a:t>
            </a:r>
          </a:p>
        </p:txBody>
      </p:sp>
      <p:sp>
        <p:nvSpPr>
          <p:cNvPr id="9" name="">
            <a:extLst xmlns:a="http://schemas.openxmlformats.org/drawingml/2006/main">
              <a:ext uri="{FF2B5EF4-FFF2-40B4-BE49-F238E27FC236}">
                <a16:creationId xmlns:a16="http://schemas.microsoft.com/office/drawing/2014/main" id="{E8A142B1-AE49-4237-A23A-AB802A416D6A}"/>
              </a:ext>
            </a:extLst>
          </p:cNvPr>
          <p:cNvSpPr>
            <a:spLocks xmlns:a="http://schemas.openxmlformats.org/drawingml/2006/main" noGrp="1"/>
          </p:cNvSpPr>
          <p:nvPr/>
        </p:nvSpPr>
        <p:spPr>
          <a:xfrm xmlns:a="http://schemas.openxmlformats.org/drawingml/2006/main">
            <a:off x="9048750" y="60960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125" b="0">
                <a:solidFill>
                  <a:srgbClr val="B7C9D9"/>
                </a:solidFill>
                <a:latin typeface="Helvetica Neue"/>
                <a:ea typeface="Helvetica Neue"/>
                <a:cs typeface="Helvetica Neue"/>
              </a:defRPr>
            </a:defPPr>
          </a:lstStyle>
          <a:p xmlns:a="http://schemas.openxmlformats.org/drawingml/2006/main">
            <a:pPr algn="r">
              <a:defRPr sz="1125" b="0">
                <a:solidFill>
                  <a:srgbClr val="B7C9D9"/>
                </a:solidFill>
                <a:latin typeface="Helvetica Neue"/>
                <a:ea typeface="Helvetica Neue"/>
                <a:cs typeface="Helvetica Neue"/>
              </a:defRPr>
            </a:pPr>
            <a:r>
              <a:rPr sz="1125" b="0">
                <a:solidFill>
                  <a:srgbClr val="B7C9D9"/>
                </a:solidFill>
                <a:latin typeface="Helvetica Neue"/>
                <a:ea typeface="Helvetica Neue"/>
                <a:cs typeface="Helvetica Neue"/>
              </a:rPr>
              <a:t>FIT5230 Milestone 3</a:t>
            </a:r>
          </a:p>
        </p:txBody>
      </p:sp>
    </p:spTree>
    <p:extLst>
      <p:ext uri="{BB962C8B-B14F-4D97-AF65-F5344CB8AC3E}">
        <p14:creationId xmlns:p14="http://schemas.microsoft.com/office/powerpoint/2010/main" val="6775764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C2D480E-F130-426A-A07A-C73228B0FCA2}"/>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Progress since Milestone 2</a:t>
            </a:r>
          </a:p>
        </p:txBody>
      </p:sp>
      <p:sp>
        <p:nvSpPr>
          <p:cNvPr id="2" name="">
            <a:extLst xmlns:a="http://schemas.openxmlformats.org/drawingml/2006/main">
              <a:ext uri="{FF2B5EF4-FFF2-40B4-BE49-F238E27FC236}">
                <a16:creationId xmlns:a16="http://schemas.microsoft.com/office/drawing/2014/main" id="{9936774B-F542-40AD-96C4-2CA66371150E}"/>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4B5498D-3A27-4BA5-B6DC-6426E4D9BA57}"/>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5CCABB-19AA-4352-A5C8-D2CF0E73DCCD}"/>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019207-D027-47EB-8C21-67684DBCE0F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2/11</a:t>
            </a:r>
          </a:p>
        </p:txBody>
      </p:sp>
      <p:sp>
        <p:nvSpPr>
          <p:cNvPr id="6" name="">
            <a:extLst xmlns:a="http://schemas.openxmlformats.org/drawingml/2006/main">
              <a:ext uri="{FF2B5EF4-FFF2-40B4-BE49-F238E27FC236}">
                <a16:creationId xmlns:a16="http://schemas.microsoft.com/office/drawing/2014/main" id="{A9ADA1B2-8512-4858-9B1B-FB884F4D46A8}"/>
              </a:ext>
            </a:extLst>
          </p:cNvPr>
          <p:cNvSpPr>
            <a:spLocks xmlns:a="http://schemas.openxmlformats.org/drawingml/2006/main" noGrp="1"/>
          </p:cNvSpPr>
          <p:nvPr/>
        </p:nvSpPr>
        <p:spPr>
          <a:xfrm xmlns:a="http://schemas.openxmlformats.org/drawingml/2006/main">
            <a:off x="66675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627D98"/>
                </a:solidFill>
                <a:latin typeface="Helvetica Neue"/>
                <a:ea typeface="Helvetica Neue"/>
                <a:cs typeface="Helvetica Neue"/>
              </a:defRPr>
            </a:defPPr>
          </a:lstStyle>
          <a:p xmlns:a="http://schemas.openxmlformats.org/drawingml/2006/main">
            <a:pPr algn="l">
              <a:defRPr sz="2100" b="1">
                <a:solidFill>
                  <a:srgbClr val="627D98"/>
                </a:solidFill>
                <a:latin typeface="Helvetica Neue"/>
                <a:ea typeface="Helvetica Neue"/>
                <a:cs typeface="Helvetica Neue"/>
              </a:defRPr>
            </a:pPr>
            <a:r>
              <a:rPr sz="2100" b="1">
                <a:solidFill>
                  <a:srgbClr val="627D98"/>
                </a:solidFill>
                <a:latin typeface="Helvetica Neue"/>
                <a:ea typeface="Helvetica Neue"/>
                <a:cs typeface="Helvetica Neue"/>
              </a:rPr>
              <a:t>M2</a:t>
            </a:r>
          </a:p>
        </p:txBody>
      </p:sp>
      <p:sp>
        <p:nvSpPr>
          <p:cNvPr id="7" name="">
            <a:extLst xmlns:a="http://schemas.openxmlformats.org/drawingml/2006/main">
              <a:ext uri="{FF2B5EF4-FFF2-40B4-BE49-F238E27FC236}">
                <a16:creationId xmlns:a16="http://schemas.microsoft.com/office/drawing/2014/main" id="{BBB03599-873A-4515-9D03-5315BE89F908}"/>
              </a:ext>
            </a:extLst>
          </p:cNvPr>
          <p:cNvSpPr>
            <a:spLocks xmlns:a="http://schemas.openxmlformats.org/drawingml/2006/main" noGrp="1"/>
          </p:cNvSpPr>
          <p:nvPr/>
        </p:nvSpPr>
        <p:spPr>
          <a:xfrm xmlns:a="http://schemas.openxmlformats.org/drawingml/2006/main">
            <a:off x="6477000" y="126682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2F6BFF"/>
                </a:solidFill>
                <a:latin typeface="Helvetica Neue"/>
                <a:ea typeface="Helvetica Neue"/>
                <a:cs typeface="Helvetica Neue"/>
              </a:defRPr>
            </a:defPPr>
          </a:lstStyle>
          <a:p xmlns:a="http://schemas.openxmlformats.org/drawingml/2006/main">
            <a:pPr algn="l">
              <a:defRPr sz="2100" b="1">
                <a:solidFill>
                  <a:srgbClr val="2F6BFF"/>
                </a:solidFill>
                <a:latin typeface="Helvetica Neue"/>
                <a:ea typeface="Helvetica Neue"/>
                <a:cs typeface="Helvetica Neue"/>
              </a:defRPr>
            </a:pPr>
            <a:r>
              <a:rPr sz="2100" b="1">
                <a:solidFill>
                  <a:srgbClr val="2F6BFF"/>
                </a:solidFill>
                <a:latin typeface="Helvetica Neue"/>
                <a:ea typeface="Helvetica Neue"/>
                <a:cs typeface="Helvetica Neue"/>
              </a:rPr>
              <a:t>M3</a:t>
            </a:r>
          </a:p>
        </p:txBody>
      </p:sp>
      <p:sp>
        <p:nvSpPr>
          <p:cNvPr id="8" name="">
            <a:extLst xmlns:a="http://schemas.openxmlformats.org/drawingml/2006/main">
              <a:ext uri="{FF2B5EF4-FFF2-40B4-BE49-F238E27FC236}">
                <a16:creationId xmlns:a16="http://schemas.microsoft.com/office/drawing/2014/main" id="{CE5B3C5C-7A80-4E23-8739-96C07C17C959}"/>
              </a:ext>
            </a:extLst>
          </p:cNvPr>
          <p:cNvSpPr>
            <a:spLocks xmlns:a="http://schemas.openxmlformats.org/drawingml/2006/main" noGrp="1"/>
          </p:cNvSpPr>
          <p:nvPr/>
        </p:nvSpPr>
        <p:spPr>
          <a:xfrm xmlns:a="http://schemas.openxmlformats.org/drawingml/2006/main">
            <a:off x="5905500" y="1276350"/>
            <a:ext cx="0" cy="457200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9" name="">
            <a:extLst xmlns:a="http://schemas.openxmlformats.org/drawingml/2006/main">
              <a:ext uri="{FF2B5EF4-FFF2-40B4-BE49-F238E27FC236}">
                <a16:creationId xmlns:a16="http://schemas.microsoft.com/office/drawing/2014/main" id="{20001812-CB98-40D5-9614-677CE35026E9}"/>
              </a:ext>
            </a:extLst>
          </p:cNvPr>
          <p:cNvSpPr>
            <a:spLocks xmlns:a="http://schemas.openxmlformats.org/drawingml/2006/main" noGrp="1"/>
          </p:cNvSpPr>
          <p:nvPr/>
        </p:nvSpPr>
        <p:spPr>
          <a:xfrm xmlns:a="http://schemas.openxmlformats.org/drawingml/2006/main">
            <a:off x="685800" y="1857375"/>
            <a:ext cx="4667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a:solidFill>
                  <a:srgbClr val="627D98"/>
                </a:solidFill>
                <a:latin typeface="Helvetica Neue"/>
                <a:ea typeface="Helvetica Neue"/>
                <a:cs typeface="Helvetica Neue"/>
              </a:defRPr>
            </a:defPPr>
          </a:lstStyle>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32 synthetic trajectories, 16 artificial IDs</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2 public videos for preprocessing</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No real-video accuracy measured</a:t>
            </a:r>
          </a:p>
          <a:p xmlns:a="http://schemas.openxmlformats.org/drawingml/2006/main">
            <a:pPr marL="228600" indent="-114300">
              <a:spcAft>
                <a:spcPts val="1600"/>
              </a:spcAft>
              <a:buChar char="•"/>
              <a:defRPr sz="1725">
                <a:solidFill>
                  <a:srgbClr val="627D98"/>
                </a:solidFill>
                <a:latin typeface="Helvetica Neue"/>
                <a:ea typeface="Helvetica Neue"/>
                <a:cs typeface="Helvetica Neue"/>
              </a:defRPr>
            </a:pPr>
            <a:r>
              <a:rPr sz="1725">
                <a:solidFill>
                  <a:srgbClr val="627D98"/>
                </a:solidFill>
                <a:latin typeface="Helvetica Neue"/>
                <a:ea typeface="Helvetica Neue"/>
                <a:cs typeface="Helvetica Neue"/>
              </a:rPr>
              <a:t>Peer score interface only</a:t>
            </a:r>
          </a:p>
        </p:txBody>
      </p:sp>
      <p:sp>
        <p:nvSpPr>
          <p:cNvPr id="10" name="">
            <a:extLst xmlns:a="http://schemas.openxmlformats.org/drawingml/2006/main">
              <a:ext uri="{FF2B5EF4-FFF2-40B4-BE49-F238E27FC236}">
                <a16:creationId xmlns:a16="http://schemas.microsoft.com/office/drawing/2014/main" id="{F3688A38-23F8-4E42-85FA-5B5FEBD556B0}"/>
              </a:ext>
            </a:extLst>
          </p:cNvPr>
          <p:cNvSpPr>
            <a:spLocks xmlns:a="http://schemas.openxmlformats.org/drawingml/2006/main" noGrp="1"/>
          </p:cNvSpPr>
          <p:nvPr/>
        </p:nvSpPr>
        <p:spPr>
          <a:xfrm xmlns:a="http://schemas.openxmlformats.org/drawingml/2006/main">
            <a:off x="647700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2F6BFF"/>
                </a:solidFill>
                <a:latin typeface="Helvetica Neue"/>
                <a:ea typeface="Helvetica Neue"/>
                <a:cs typeface="Helvetica Neue"/>
              </a:defRPr>
            </a:defPPr>
          </a:lstStyle>
          <a:p xmlns:a="http://schemas.openxmlformats.org/drawingml/2006/main">
            <a:pPr algn="l">
              <a:defRPr sz="2850" b="1">
                <a:solidFill>
                  <a:srgbClr val="2F6BFF"/>
                </a:solidFill>
                <a:latin typeface="Helvetica Neue"/>
                <a:ea typeface="Helvetica Neue"/>
                <a:cs typeface="Helvetica Neue"/>
              </a:defRPr>
            </a:pPr>
            <a:r>
              <a:rPr sz="2850" b="1">
                <a:solidFill>
                  <a:srgbClr val="2F6BFF"/>
                </a:solidFill>
                <a:latin typeface="Helvetica Neue"/>
                <a:ea typeface="Helvetica Neue"/>
                <a:cs typeface="Helvetica Neue"/>
              </a:rPr>
              <a:t>24/24</a:t>
            </a:r>
          </a:p>
        </p:txBody>
      </p:sp>
      <p:sp>
        <p:nvSpPr>
          <p:cNvPr id="11" name="">
            <a:extLst xmlns:a="http://schemas.openxmlformats.org/drawingml/2006/main">
              <a:ext uri="{FF2B5EF4-FFF2-40B4-BE49-F238E27FC236}">
                <a16:creationId xmlns:a16="http://schemas.microsoft.com/office/drawing/2014/main" id="{58CFC537-0B3E-4EF7-8F55-49F50ED648FF}"/>
              </a:ext>
            </a:extLst>
          </p:cNvPr>
          <p:cNvSpPr>
            <a:spLocks xmlns:a="http://schemas.openxmlformats.org/drawingml/2006/main" noGrp="1"/>
          </p:cNvSpPr>
          <p:nvPr/>
        </p:nvSpPr>
        <p:spPr>
          <a:xfrm xmlns:a="http://schemas.openxmlformats.org/drawingml/2006/main">
            <a:off x="647700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landmark coverage</a:t>
            </a:r>
          </a:p>
        </p:txBody>
      </p:sp>
      <p:sp>
        <p:nvSpPr>
          <p:cNvPr id="12" name="">
            <a:extLst xmlns:a="http://schemas.openxmlformats.org/drawingml/2006/main">
              <a:ext uri="{FF2B5EF4-FFF2-40B4-BE49-F238E27FC236}">
                <a16:creationId xmlns:a16="http://schemas.microsoft.com/office/drawing/2014/main" id="{2222E6C1-29CA-461F-9603-8AA86E14322D}"/>
              </a:ext>
            </a:extLst>
          </p:cNvPr>
          <p:cNvSpPr>
            <a:spLocks xmlns:a="http://schemas.openxmlformats.org/drawingml/2006/main" noGrp="1"/>
          </p:cNvSpPr>
          <p:nvPr/>
        </p:nvSpPr>
        <p:spPr>
          <a:xfrm xmlns:a="http://schemas.openxmlformats.org/drawingml/2006/main">
            <a:off x="9048750" y="18573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59E9C"/>
                </a:solidFill>
                <a:latin typeface="Helvetica Neue"/>
                <a:ea typeface="Helvetica Neue"/>
                <a:cs typeface="Helvetica Neue"/>
              </a:defRPr>
            </a:defPPr>
          </a:lstStyle>
          <a:p xmlns:a="http://schemas.openxmlformats.org/drawingml/2006/main">
            <a:pPr algn="l">
              <a:defRPr sz="2850" b="1">
                <a:solidFill>
                  <a:srgbClr val="159E9C"/>
                </a:solidFill>
                <a:latin typeface="Helvetica Neue"/>
                <a:ea typeface="Helvetica Neue"/>
                <a:cs typeface="Helvetica Neue"/>
              </a:defRPr>
            </a:pPr>
            <a:r>
              <a:rPr sz="2850" b="1">
                <a:solidFill>
                  <a:srgbClr val="159E9C"/>
                </a:solidFill>
                <a:latin typeface="Helvetica Neue"/>
                <a:ea typeface="Helvetica Neue"/>
                <a:cs typeface="Helvetica Neue"/>
              </a:rPr>
              <a:t>12 / 6 / 6</a:t>
            </a:r>
          </a:p>
        </p:txBody>
      </p:sp>
      <p:sp>
        <p:nvSpPr>
          <p:cNvPr id="13" name="">
            <a:extLst xmlns:a="http://schemas.openxmlformats.org/drawingml/2006/main">
              <a:ext uri="{FF2B5EF4-FFF2-40B4-BE49-F238E27FC236}">
                <a16:creationId xmlns:a16="http://schemas.microsoft.com/office/drawing/2014/main" id="{A86A7D01-B4BE-4926-B55F-5CDFEEA5F327}"/>
              </a:ext>
            </a:extLst>
          </p:cNvPr>
          <p:cNvSpPr>
            <a:spLocks xmlns:a="http://schemas.openxmlformats.org/drawingml/2006/main" noGrp="1"/>
          </p:cNvSpPr>
          <p:nvPr/>
        </p:nvSpPr>
        <p:spPr>
          <a:xfrm xmlns:a="http://schemas.openxmlformats.org/drawingml/2006/main">
            <a:off x="9048750" y="24669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train / val / test</a:t>
            </a:r>
          </a:p>
        </p:txBody>
      </p:sp>
      <p:sp>
        <p:nvSpPr>
          <p:cNvPr id="14" name="">
            <a:extLst xmlns:a="http://schemas.openxmlformats.org/drawingml/2006/main">
              <a:ext uri="{FF2B5EF4-FFF2-40B4-BE49-F238E27FC236}">
                <a16:creationId xmlns:a16="http://schemas.microsoft.com/office/drawing/2014/main" id="{E7E3FE49-FFB3-4D0B-8964-C1F0D8E07134}"/>
              </a:ext>
            </a:extLst>
          </p:cNvPr>
          <p:cNvSpPr>
            <a:spLocks xmlns:a="http://schemas.openxmlformats.org/drawingml/2006/main" noGrp="1"/>
          </p:cNvSpPr>
          <p:nvPr/>
        </p:nvSpPr>
        <p:spPr>
          <a:xfrm xmlns:a="http://schemas.openxmlformats.org/drawingml/2006/main">
            <a:off x="647700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E67E22"/>
                </a:solidFill>
                <a:latin typeface="Helvetica Neue"/>
                <a:ea typeface="Helvetica Neue"/>
                <a:cs typeface="Helvetica Neue"/>
              </a:defRPr>
            </a:defPPr>
          </a:lstStyle>
          <a:p xmlns:a="http://schemas.openxmlformats.org/drawingml/2006/main">
            <a:pPr algn="l">
              <a:defRPr sz="2850" b="1">
                <a:solidFill>
                  <a:srgbClr val="E67E22"/>
                </a:solidFill>
                <a:latin typeface="Helvetica Neue"/>
                <a:ea typeface="Helvetica Neue"/>
                <a:cs typeface="Helvetica Neue"/>
              </a:defRPr>
            </a:pPr>
            <a:r>
              <a:rPr sz="2850" b="1">
                <a:solidFill>
                  <a:srgbClr val="E67E22"/>
                </a:solidFill>
                <a:latin typeface="Helvetica Neue"/>
                <a:ea typeface="Helvetica Neue"/>
                <a:cs typeface="Helvetica Neue"/>
              </a:rPr>
              <a:t>38</a:t>
            </a:r>
          </a:p>
        </p:txBody>
      </p:sp>
      <p:sp>
        <p:nvSpPr>
          <p:cNvPr id="15" name="">
            <a:extLst xmlns:a="http://schemas.openxmlformats.org/drawingml/2006/main">
              <a:ext uri="{FF2B5EF4-FFF2-40B4-BE49-F238E27FC236}">
                <a16:creationId xmlns:a16="http://schemas.microsoft.com/office/drawing/2014/main" id="{7EAC1DF3-62B1-44FD-8BF1-CFADAA349B4C}"/>
              </a:ext>
            </a:extLst>
          </p:cNvPr>
          <p:cNvSpPr>
            <a:spLocks xmlns:a="http://schemas.openxmlformats.org/drawingml/2006/main" noGrp="1"/>
          </p:cNvSpPr>
          <p:nvPr/>
        </p:nvSpPr>
        <p:spPr>
          <a:xfrm xmlns:a="http://schemas.openxmlformats.org/drawingml/2006/main">
            <a:off x="647700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regression tests</a:t>
            </a:r>
          </a:p>
        </p:txBody>
      </p:sp>
      <p:sp>
        <p:nvSpPr>
          <p:cNvPr id="16" name="">
            <a:extLst xmlns:a="http://schemas.openxmlformats.org/drawingml/2006/main">
              <a:ext uri="{FF2B5EF4-FFF2-40B4-BE49-F238E27FC236}">
                <a16:creationId xmlns:a16="http://schemas.microsoft.com/office/drawing/2014/main" id="{F82315E7-4137-4C19-B0E5-FDF9E2FB205C}"/>
              </a:ext>
            </a:extLst>
          </p:cNvPr>
          <p:cNvSpPr>
            <a:spLocks xmlns:a="http://schemas.openxmlformats.org/drawingml/2006/main" noGrp="1"/>
          </p:cNvSpPr>
          <p:nvPr/>
        </p:nvSpPr>
        <p:spPr>
          <a:xfrm xmlns:a="http://schemas.openxmlformats.org/drawingml/2006/main">
            <a:off x="9048750" y="3571875"/>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8336DEE6-F0A9-4FEE-88AB-EF18EABEFAE5}"/>
              </a:ext>
            </a:extLst>
          </p:cNvPr>
          <p:cNvSpPr>
            <a:spLocks xmlns:a="http://schemas.openxmlformats.org/drawingml/2006/main" noGrp="1"/>
          </p:cNvSpPr>
          <p:nvPr/>
        </p:nvSpPr>
        <p:spPr>
          <a:xfrm xmlns:a="http://schemas.openxmlformats.org/drawingml/2006/main">
            <a:off x="9048750" y="4181475"/>
            <a:ext cx="219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243B53"/>
                </a:solidFill>
                <a:latin typeface="Helvetica Neue"/>
                <a:ea typeface="Helvetica Neue"/>
                <a:cs typeface="Helvetica Neue"/>
              </a:defRPr>
            </a:defPPr>
          </a:lstStyle>
          <a:p xmlns:a="http://schemas.openxmlformats.org/drawingml/2006/main">
            <a:pPr algn="l">
              <a:defRPr sz="1350" b="0">
                <a:solidFill>
                  <a:srgbClr val="243B53"/>
                </a:solidFill>
                <a:latin typeface="Helvetica Neue"/>
                <a:ea typeface="Helvetica Neue"/>
                <a:cs typeface="Helvetica Neue"/>
              </a:defRPr>
            </a:pPr>
            <a:r>
              <a:rPr sz="1350" b="0">
                <a:solidFill>
                  <a:srgbClr val="243B53"/>
                </a:solidFill>
                <a:latin typeface="Helvetica Neue"/>
                <a:ea typeface="Helvetica Neue"/>
                <a:cs typeface="Helvetica Neue"/>
              </a:rPr>
              <a:t>robustness conditions</a:t>
            </a:r>
          </a:p>
        </p:txBody>
      </p:sp>
      <p:sp>
        <p:nvSpPr>
          <p:cNvPr id="18" name="">
            <a:extLst xmlns:a="http://schemas.openxmlformats.org/drawingml/2006/main">
              <a:ext uri="{FF2B5EF4-FFF2-40B4-BE49-F238E27FC236}">
                <a16:creationId xmlns:a16="http://schemas.microsoft.com/office/drawing/2014/main" id="{F734FFFE-E13B-43F1-BC3C-C2970BD4DCFD}"/>
              </a:ext>
            </a:extLst>
          </p:cNvPr>
          <p:cNvSpPr>
            <a:spLocks xmlns:a="http://schemas.openxmlformats.org/drawingml/2006/main" noGrp="1"/>
          </p:cNvSpPr>
          <p:nvPr/>
        </p:nvSpPr>
        <p:spPr>
          <a:xfrm xmlns:a="http://schemas.openxmlformats.org/drawingml/2006/main">
            <a:off x="6477000" y="5334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02A43"/>
                </a:solidFill>
                <a:latin typeface="Helvetica Neue"/>
                <a:ea typeface="Helvetica Neue"/>
                <a:cs typeface="Helvetica Neue"/>
              </a:defRPr>
            </a:defPPr>
          </a:lstStyle>
          <a:p xmlns:a="http://schemas.openxmlformats.org/drawingml/2006/main">
            <a:pPr algn="l">
              <a:defRPr sz="1500" b="1">
                <a:solidFill>
                  <a:srgbClr val="102A43"/>
                </a:solidFill>
                <a:latin typeface="Helvetica Neue"/>
                <a:ea typeface="Helvetica Neue"/>
                <a:cs typeface="Helvetica Neue"/>
              </a:defRPr>
            </a:pPr>
            <a:r>
              <a:rPr sz="1500" b="1">
                <a:solidFill>
                  <a:srgbClr val="102A43"/>
                </a:solidFill>
                <a:latin typeface="Helvetica Neue"/>
                <a:ea typeface="Helvetica Neue"/>
                <a:cs typeface="Helvetica Neue"/>
              </a:rPr>
              <a:t>Real pilot evidence plus a peer-pair forensic audit</a:t>
            </a:r>
          </a:p>
        </p:txBody>
      </p:sp>
    </p:spTree>
    <p:extLst>
      <p:ext uri="{BB962C8B-B14F-4D97-AF65-F5344CB8AC3E}">
        <p14:creationId xmlns:p14="http://schemas.microsoft.com/office/powerpoint/2010/main" val="8231079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9C768A3-FE1F-458F-9F04-112F4FC705A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Two-channel experimental framework</a:t>
            </a:r>
          </a:p>
        </p:txBody>
      </p:sp>
      <p:sp>
        <p:nvSpPr>
          <p:cNvPr id="2" name="">
            <a:extLst xmlns:a="http://schemas.openxmlformats.org/drawingml/2006/main">
              <a:ext uri="{FF2B5EF4-FFF2-40B4-BE49-F238E27FC236}">
                <a16:creationId xmlns:a16="http://schemas.microsoft.com/office/drawing/2014/main" id="{E5169B62-681B-4C8D-9A6B-A5BB346FE47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5F9FE2C9-3517-4C54-9D71-86B5CB35310F}"/>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17A052-EA3D-4A4F-8FE8-A81412DB928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A33230CA-C89C-4081-9914-A0501B012D4D}"/>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3/11</a:t>
            </a:r>
          </a:p>
        </p:txBody>
      </p:sp>
      <p:sp>
        <p:nvSpPr>
          <p:cNvPr id="6" name="">
            <a:extLst xmlns:a="http://schemas.openxmlformats.org/drawingml/2006/main">
              <a:ext uri="{FF2B5EF4-FFF2-40B4-BE49-F238E27FC236}">
                <a16:creationId xmlns:a16="http://schemas.microsoft.com/office/drawing/2014/main" id="{459F0564-5C82-4F34-8602-4BCFAE0702B8}"/>
              </a:ext>
            </a:extLst>
          </p:cNvPr>
          <p:cNvSpPr>
            <a:spLocks xmlns:a="http://schemas.openxmlformats.org/drawingml/2006/main" noGrp="1"/>
          </p:cNvSpPr>
          <p:nvPr/>
        </p:nvSpPr>
        <p:spPr>
          <a:xfrm xmlns:a="http://schemas.openxmlformats.org/drawingml/2006/main">
            <a:off x="628650" y="1381125"/>
            <a:ext cx="2333625" cy="1333500"/>
          </a:xfrm>
          <a:prstGeom xmlns:a="http://schemas.openxmlformats.org/drawingml/2006/main" prst="roundRect">
            <a:avLst>
              <a:gd name="adj" fmla="val 5714"/>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6D08F3C0-9B88-4350-AC2E-5F38E3CED232}"/>
              </a:ext>
            </a:extLst>
          </p:cNvPr>
          <p:cNvSpPr>
            <a:spLocks xmlns:a="http://schemas.openxmlformats.org/drawingml/2006/main" noGrp="1"/>
          </p:cNvSpPr>
          <p:nvPr/>
        </p:nvSpPr>
        <p:spPr>
          <a:xfrm xmlns:a="http://schemas.openxmlformats.org/drawingml/2006/main">
            <a:off x="800100" y="1495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Public pilot</a:t>
            </a:r>
          </a:p>
        </p:txBody>
      </p:sp>
      <p:sp>
        <p:nvSpPr>
          <p:cNvPr id="8" name="">
            <a:extLst xmlns:a="http://schemas.openxmlformats.org/drawingml/2006/main">
              <a:ext uri="{FF2B5EF4-FFF2-40B4-BE49-F238E27FC236}">
                <a16:creationId xmlns:a16="http://schemas.microsoft.com/office/drawing/2014/main" id="{18A70829-E14A-47A7-966C-45BFCA7BD0CD}"/>
              </a:ext>
            </a:extLst>
          </p:cNvPr>
          <p:cNvSpPr>
            <a:spLocks xmlns:a="http://schemas.openxmlformats.org/drawingml/2006/main" noGrp="1"/>
          </p:cNvSpPr>
          <p:nvPr/>
        </p:nvSpPr>
        <p:spPr>
          <a:xfrm xmlns:a="http://schemas.openxmlformats.org/drawingml/2006/main">
            <a:off x="800100" y="1876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speaker/source splits</a:t>
            </a:r>
          </a:p>
        </p:txBody>
      </p:sp>
      <p:sp>
        <p:nvSpPr>
          <p:cNvPr id="9" name="">
            <a:extLst xmlns:a="http://schemas.openxmlformats.org/drawingml/2006/main">
              <a:ext uri="{FF2B5EF4-FFF2-40B4-BE49-F238E27FC236}">
                <a16:creationId xmlns:a16="http://schemas.microsoft.com/office/drawing/2014/main" id="{DDAF9E41-183C-4B3C-929A-FBD40213AEA2}"/>
              </a:ext>
            </a:extLst>
          </p:cNvPr>
          <p:cNvSpPr>
            <a:spLocks xmlns:a="http://schemas.openxmlformats.org/drawingml/2006/main" noGrp="1"/>
          </p:cNvSpPr>
          <p:nvPr/>
        </p:nvSpPr>
        <p:spPr>
          <a:xfrm xmlns:a="http://schemas.openxmlformats.org/drawingml/2006/main">
            <a:off x="628650" y="4048125"/>
            <a:ext cx="2333625" cy="1333500"/>
          </a:xfrm>
          <a:prstGeom xmlns:a="http://schemas.openxmlformats.org/drawingml/2006/main" prst="roundRect">
            <a:avLst>
              <a:gd name="adj" fmla="val 571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62AE872-C947-4979-959B-DEDA987497AA}"/>
              </a:ext>
            </a:extLst>
          </p:cNvPr>
          <p:cNvSpPr>
            <a:spLocks xmlns:a="http://schemas.openxmlformats.org/drawingml/2006/main" noGrp="1"/>
          </p:cNvSpPr>
          <p:nvPr/>
        </p:nvSpPr>
        <p:spPr>
          <a:xfrm xmlns:a="http://schemas.openxmlformats.org/drawingml/2006/main">
            <a:off x="800100" y="4162425"/>
            <a:ext cx="1990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Peer pair</a:t>
            </a:r>
          </a:p>
        </p:txBody>
      </p:sp>
      <p:sp>
        <p:nvSpPr>
          <p:cNvPr id="11" name="">
            <a:extLst xmlns:a="http://schemas.openxmlformats.org/drawingml/2006/main">
              <a:ext uri="{FF2B5EF4-FFF2-40B4-BE49-F238E27FC236}">
                <a16:creationId xmlns:a16="http://schemas.microsoft.com/office/drawing/2014/main" id="{7B7481B8-DC61-4927-B06A-719FC67CBCEF}"/>
              </a:ext>
            </a:extLst>
          </p:cNvPr>
          <p:cNvSpPr>
            <a:spLocks xmlns:a="http://schemas.openxmlformats.org/drawingml/2006/main" noGrp="1"/>
          </p:cNvSpPr>
          <p:nvPr/>
        </p:nvSpPr>
        <p:spPr>
          <a:xfrm xmlns:a="http://schemas.openxmlformats.org/drawingml/2006/main">
            <a:off x="800100" y="4543425"/>
            <a:ext cx="19907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Control + A=1 modified</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Private files, hash provenance</a:t>
            </a:r>
          </a:p>
        </p:txBody>
      </p:sp>
      <p:sp>
        <p:nvSpPr>
          <p:cNvPr id="12" name="">
            <a:extLst xmlns:a="http://schemas.openxmlformats.org/drawingml/2006/main">
              <a:ext uri="{FF2B5EF4-FFF2-40B4-BE49-F238E27FC236}">
                <a16:creationId xmlns:a16="http://schemas.microsoft.com/office/drawing/2014/main" id="{F5612057-4875-4CE8-8243-0F6379381342}"/>
              </a:ext>
            </a:extLst>
          </p:cNvPr>
          <p:cNvSpPr>
            <a:spLocks xmlns:a="http://schemas.openxmlformats.org/drawingml/2006/main" noGrp="1"/>
          </p:cNvSpPr>
          <p:nvPr/>
        </p:nvSpPr>
        <p:spPr>
          <a:xfrm xmlns:a="http://schemas.openxmlformats.org/drawingml/2006/main">
            <a:off x="4095750" y="1381125"/>
            <a:ext cx="2952750" cy="1333500"/>
          </a:xfrm>
          <a:prstGeom xmlns:a="http://schemas.openxmlformats.org/drawingml/2006/main" prst="roundRect">
            <a:avLst>
              <a:gd name="adj" fmla="val 5714"/>
            </a:avLst>
          </a:prstGeom>
          <a:solidFill xmlns:a="http://schemas.openxmlformats.org/drawingml/2006/main">
            <a:srgbClr val="E7F7F5"/>
          </a:solidFill>
          <a:ln xmlns:a="http://schemas.openxmlformats.org/drawingml/2006/main" w="19050">
            <a:solidFill>
              <a:srgbClr val="159E9C"/>
            </a:solidFill>
          </a:ln>
        </p:spPr>
      </p:sp>
      <p:sp>
        <p:nvSpPr>
          <p:cNvPr id="13" name="">
            <a:extLst xmlns:a="http://schemas.openxmlformats.org/drawingml/2006/main">
              <a:ext uri="{FF2B5EF4-FFF2-40B4-BE49-F238E27FC236}">
                <a16:creationId xmlns:a16="http://schemas.microsoft.com/office/drawing/2014/main" id="{A70DF086-9C36-4670-8921-8126973B546B}"/>
              </a:ext>
            </a:extLst>
          </p:cNvPr>
          <p:cNvSpPr>
            <a:spLocks xmlns:a="http://schemas.openxmlformats.org/drawingml/2006/main" noGrp="1"/>
          </p:cNvSpPr>
          <p:nvPr/>
        </p:nvSpPr>
        <p:spPr>
          <a:xfrm xmlns:a="http://schemas.openxmlformats.org/drawingml/2006/main">
            <a:off x="4267200" y="1495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Lip channel</a:t>
            </a:r>
          </a:p>
        </p:txBody>
      </p:sp>
      <p:sp>
        <p:nvSpPr>
          <p:cNvPr id="14" name="">
            <a:extLst xmlns:a="http://schemas.openxmlformats.org/drawingml/2006/main">
              <a:ext uri="{FF2B5EF4-FFF2-40B4-BE49-F238E27FC236}">
                <a16:creationId xmlns:a16="http://schemas.microsoft.com/office/drawing/2014/main" id="{76B94430-288F-4692-BB56-0910C627EA92}"/>
              </a:ext>
            </a:extLst>
          </p:cNvPr>
          <p:cNvSpPr>
            <a:spLocks xmlns:a="http://schemas.openxmlformats.org/drawingml/2006/main" noGrp="1"/>
          </p:cNvSpPr>
          <p:nvPr/>
        </p:nvSpPr>
        <p:spPr>
          <a:xfrm xmlns:a="http://schemas.openxmlformats.org/drawingml/2006/main">
            <a:off x="4267200" y="1876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MediaPipe geometry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 vs weak context</a:t>
            </a:r>
          </a:p>
        </p:txBody>
      </p:sp>
      <p:sp>
        <p:nvSpPr>
          <p:cNvPr id="15" name="">
            <a:extLst xmlns:a="http://schemas.openxmlformats.org/drawingml/2006/main">
              <a:ext uri="{FF2B5EF4-FFF2-40B4-BE49-F238E27FC236}">
                <a16:creationId xmlns:a16="http://schemas.microsoft.com/office/drawing/2014/main" id="{1FE98A58-D0C0-441C-9C4B-E228D83A18A2}"/>
              </a:ext>
            </a:extLst>
          </p:cNvPr>
          <p:cNvSpPr>
            <a:spLocks xmlns:a="http://schemas.openxmlformats.org/drawingml/2006/main" noGrp="1"/>
          </p:cNvSpPr>
          <p:nvPr/>
        </p:nvSpPr>
        <p:spPr>
          <a:xfrm xmlns:a="http://schemas.openxmlformats.org/drawingml/2006/main">
            <a:off x="4095750" y="4048125"/>
            <a:ext cx="2952750" cy="1333500"/>
          </a:xfrm>
          <a:prstGeom xmlns:a="http://schemas.openxmlformats.org/drawingml/2006/main" prst="roundRect">
            <a:avLst>
              <a:gd name="adj" fmla="val 5714"/>
            </a:avLst>
          </a:prstGeom>
          <a:solidFill xmlns:a="http://schemas.openxmlformats.org/drawingml/2006/main">
            <a:srgbClr val="FCECEC"/>
          </a:solidFill>
          <a:ln xmlns:a="http://schemas.openxmlformats.org/drawingml/2006/main" w="19050">
            <a:solidFill>
              <a:srgbClr val="D64545"/>
            </a:solidFill>
          </a:ln>
        </p:spPr>
      </p:sp>
      <p:sp>
        <p:nvSpPr>
          <p:cNvPr id="16" name="">
            <a:extLst xmlns:a="http://schemas.openxmlformats.org/drawingml/2006/main">
              <a:ext uri="{FF2B5EF4-FFF2-40B4-BE49-F238E27FC236}">
                <a16:creationId xmlns:a16="http://schemas.microsoft.com/office/drawing/2014/main" id="{DF842149-7405-467B-8928-B76C050F3C46}"/>
              </a:ext>
            </a:extLst>
          </p:cNvPr>
          <p:cNvSpPr>
            <a:spLocks xmlns:a="http://schemas.openxmlformats.org/drawingml/2006/main" noGrp="1"/>
          </p:cNvSpPr>
          <p:nvPr/>
        </p:nvSpPr>
        <p:spPr>
          <a:xfrm xmlns:a="http://schemas.openxmlformats.org/drawingml/2006/main">
            <a:off x="4267200" y="4162425"/>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Chromatic channel</a:t>
            </a:r>
          </a:p>
        </p:txBody>
      </p:sp>
      <p:sp>
        <p:nvSpPr>
          <p:cNvPr id="17" name="">
            <a:extLst xmlns:a="http://schemas.openxmlformats.org/drawingml/2006/main">
              <a:ext uri="{FF2B5EF4-FFF2-40B4-BE49-F238E27FC236}">
                <a16:creationId xmlns:a16="http://schemas.microsoft.com/office/drawing/2014/main" id="{B13E9D32-359C-43F5-ACDE-C3199C690081}"/>
              </a:ext>
            </a:extLst>
          </p:cNvPr>
          <p:cNvSpPr>
            <a:spLocks xmlns:a="http://schemas.openxmlformats.org/drawingml/2006/main" noGrp="1"/>
          </p:cNvSpPr>
          <p:nvPr/>
        </p:nvSpPr>
        <p:spPr>
          <a:xfrm xmlns:a="http://schemas.openxmlformats.org/drawingml/2006/main">
            <a:off x="4267200" y="4543425"/>
            <a:ext cx="2609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RGB difference + FFT</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Neutral re-encode control</a:t>
            </a:r>
          </a:p>
        </p:txBody>
      </p:sp>
      <p:sp>
        <p:nvSpPr>
          <p:cNvPr id="18" name="">
            <a:extLst xmlns:a="http://schemas.openxmlformats.org/drawingml/2006/main">
              <a:ext uri="{FF2B5EF4-FFF2-40B4-BE49-F238E27FC236}">
                <a16:creationId xmlns:a16="http://schemas.microsoft.com/office/drawing/2014/main" id="{D01FEDE2-09D5-4FFB-9642-30BD4DA9BD53}"/>
              </a:ext>
            </a:extLst>
          </p:cNvPr>
          <p:cNvSpPr>
            <a:spLocks xmlns:a="http://schemas.openxmlformats.org/drawingml/2006/main" noGrp="1"/>
          </p:cNvSpPr>
          <p:nvPr/>
        </p:nvSpPr>
        <p:spPr>
          <a:xfrm xmlns:a="http://schemas.openxmlformats.org/drawingml/2006/main">
            <a:off x="8334375" y="1381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19" name="">
            <a:extLst xmlns:a="http://schemas.openxmlformats.org/drawingml/2006/main">
              <a:ext uri="{FF2B5EF4-FFF2-40B4-BE49-F238E27FC236}">
                <a16:creationId xmlns:a16="http://schemas.microsoft.com/office/drawing/2014/main" id="{AC950D05-3A46-410A-A31B-2EA4FF27420E}"/>
              </a:ext>
            </a:extLst>
          </p:cNvPr>
          <p:cNvSpPr>
            <a:spLocks xmlns:a="http://schemas.openxmlformats.org/drawingml/2006/main" noGrp="1"/>
          </p:cNvSpPr>
          <p:nvPr/>
        </p:nvSpPr>
        <p:spPr>
          <a:xfrm xmlns:a="http://schemas.openxmlformats.org/drawingml/2006/main">
            <a:off x="8505825" y="1495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metrics</a:t>
            </a:r>
          </a:p>
        </p:txBody>
      </p:sp>
      <p:sp>
        <p:nvSpPr>
          <p:cNvPr id="20" name="">
            <a:extLst xmlns:a="http://schemas.openxmlformats.org/drawingml/2006/main">
              <a:ext uri="{FF2B5EF4-FFF2-40B4-BE49-F238E27FC236}">
                <a16:creationId xmlns:a16="http://schemas.microsoft.com/office/drawing/2014/main" id="{9DBF2EF0-54D2-45CD-84A0-BAE571F5B78D}"/>
              </a:ext>
            </a:extLst>
          </p:cNvPr>
          <p:cNvSpPr>
            <a:spLocks xmlns:a="http://schemas.openxmlformats.org/drawingml/2006/main" noGrp="1"/>
          </p:cNvSpPr>
          <p:nvPr/>
        </p:nvSpPr>
        <p:spPr>
          <a:xfrm xmlns:a="http://schemas.openxmlformats.org/drawingml/2006/main">
            <a:off x="8505825" y="1876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Macro-F1, AUROC</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Failures and bootstrap intervals</a:t>
            </a:r>
          </a:p>
        </p:txBody>
      </p:sp>
      <p:sp>
        <p:nvSpPr>
          <p:cNvPr id="21" name="">
            <a:extLst xmlns:a="http://schemas.openxmlformats.org/drawingml/2006/main">
              <a:ext uri="{FF2B5EF4-FFF2-40B4-BE49-F238E27FC236}">
                <a16:creationId xmlns:a16="http://schemas.microsoft.com/office/drawing/2014/main" id="{933CC561-38B7-40D0-8F44-BD66EBAB8825}"/>
              </a:ext>
            </a:extLst>
          </p:cNvPr>
          <p:cNvSpPr>
            <a:spLocks xmlns:a="http://schemas.openxmlformats.org/drawingml/2006/main" noGrp="1"/>
          </p:cNvSpPr>
          <p:nvPr/>
        </p:nvSpPr>
        <p:spPr>
          <a:xfrm xmlns:a="http://schemas.openxmlformats.org/drawingml/2006/main">
            <a:off x="8334375" y="4048125"/>
            <a:ext cx="2857500" cy="1333500"/>
          </a:xfrm>
          <a:prstGeom xmlns:a="http://schemas.openxmlformats.org/drawingml/2006/main" prst="roundRect">
            <a:avLst>
              <a:gd name="adj" fmla="val 5714"/>
            </a:avLst>
          </a:prstGeom>
          <a:solidFill xmlns:a="http://schemas.openxmlformats.org/drawingml/2006/main">
            <a:srgbClr val="F4F7FB"/>
          </a:solidFill>
          <a:ln xmlns:a="http://schemas.openxmlformats.org/drawingml/2006/main" w="19050">
            <a:solidFill>
              <a:srgbClr val="102A43"/>
            </a:solidFill>
          </a:ln>
        </p:spPr>
      </p:sp>
      <p:sp>
        <p:nvSpPr>
          <p:cNvPr id="22" name="">
            <a:extLst xmlns:a="http://schemas.openxmlformats.org/drawingml/2006/main">
              <a:ext uri="{FF2B5EF4-FFF2-40B4-BE49-F238E27FC236}">
                <a16:creationId xmlns:a16="http://schemas.microsoft.com/office/drawing/2014/main" id="{1E4F3403-A51B-4518-A1C4-7BBCD6EB6040}"/>
              </a:ext>
            </a:extLst>
          </p:cNvPr>
          <p:cNvSpPr>
            <a:spLocks xmlns:a="http://schemas.openxmlformats.org/drawingml/2006/main" noGrp="1"/>
          </p:cNvSpPr>
          <p:nvPr/>
        </p:nvSpPr>
        <p:spPr>
          <a:xfrm xmlns:a="http://schemas.openxmlformats.org/drawingml/2006/main">
            <a:off x="8505825" y="4162425"/>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Paired evidence</a:t>
            </a:r>
          </a:p>
        </p:txBody>
      </p:sp>
      <p:sp>
        <p:nvSpPr>
          <p:cNvPr id="23" name="">
            <a:extLst xmlns:a="http://schemas.openxmlformats.org/drawingml/2006/main">
              <a:ext uri="{FF2B5EF4-FFF2-40B4-BE49-F238E27FC236}">
                <a16:creationId xmlns:a16="http://schemas.microsoft.com/office/drawing/2014/main" id="{6E365D9C-84EB-456B-B2D4-D4A92260BC02}"/>
              </a:ext>
            </a:extLst>
          </p:cNvPr>
          <p:cNvSpPr>
            <a:spLocks xmlns:a="http://schemas.openxmlformats.org/drawingml/2006/main" noGrp="1"/>
          </p:cNvSpPr>
          <p:nvPr/>
        </p:nvSpPr>
        <p:spPr>
          <a:xfrm xmlns:a="http://schemas.openxmlformats.org/drawingml/2006/main">
            <a:off x="8505825" y="4543425"/>
            <a:ext cx="2514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Hz energy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Compression, resize, 15 FPS</a:t>
            </a:r>
          </a:p>
        </p:txBody>
      </p:sp>
      <p:sp>
        <p:nvSpPr>
          <p:cNvPr id="24" name="">
            <a:extLst xmlns:a="http://schemas.openxmlformats.org/drawingml/2006/main">
              <a:ext uri="{FF2B5EF4-FFF2-40B4-BE49-F238E27FC236}">
                <a16:creationId xmlns:a16="http://schemas.microsoft.com/office/drawing/2014/main" id="{1120E064-308A-45FF-A7BF-F9066DCDDBD6}"/>
              </a:ext>
            </a:extLst>
          </p:cNvPr>
          <p:cNvSpPr>
            <a:spLocks xmlns:a="http://schemas.openxmlformats.org/drawingml/2006/main" noGrp="1"/>
          </p:cNvSpPr>
          <p:nvPr/>
        </p:nvSpPr>
        <p:spPr>
          <a:xfrm xmlns:a="http://schemas.openxmlformats.org/drawingml/2006/main">
            <a:off x="2962275" y="2047875"/>
            <a:ext cx="11334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5" name="">
            <a:extLst xmlns:a="http://schemas.openxmlformats.org/drawingml/2006/main">
              <a:ext uri="{FF2B5EF4-FFF2-40B4-BE49-F238E27FC236}">
                <a16:creationId xmlns:a16="http://schemas.microsoft.com/office/drawing/2014/main" id="{395697C5-DCC0-4EE5-B0CE-1A279C4290AC}"/>
              </a:ext>
            </a:extLst>
          </p:cNvPr>
          <p:cNvSpPr>
            <a:spLocks xmlns:a="http://schemas.openxmlformats.org/drawingml/2006/main" noGrp="1"/>
          </p:cNvSpPr>
          <p:nvPr/>
        </p:nvSpPr>
        <p:spPr>
          <a:xfrm xmlns:a="http://schemas.openxmlformats.org/drawingml/2006/main">
            <a:off x="7048500" y="2047875"/>
            <a:ext cx="1285875" cy="0"/>
          </a:xfrm>
          <a:prstGeom xmlns:a="http://schemas.openxmlformats.org/drawingml/2006/main" prst="line">
            <a:avLst/>
          </a:prstGeom>
          <a:noFill xmlns:a="http://schemas.openxmlformats.org/drawingml/2006/main"/>
          <a:ln xmlns:a="http://schemas.openxmlformats.org/drawingml/2006/main" w="19050">
            <a:solidFill>
              <a:srgbClr val="159E9C"/>
            </a:solidFill>
          </a:ln>
        </p:spPr>
      </p:sp>
      <p:sp>
        <p:nvSpPr>
          <p:cNvPr id="26" name="">
            <a:extLst xmlns:a="http://schemas.openxmlformats.org/drawingml/2006/main">
              <a:ext uri="{FF2B5EF4-FFF2-40B4-BE49-F238E27FC236}">
                <a16:creationId xmlns:a16="http://schemas.microsoft.com/office/drawing/2014/main" id="{CFBA5E3B-D7D8-4ABF-872E-6DCEEFDEB00A}"/>
              </a:ext>
            </a:extLst>
          </p:cNvPr>
          <p:cNvSpPr>
            <a:spLocks xmlns:a="http://schemas.openxmlformats.org/drawingml/2006/main" noGrp="1"/>
          </p:cNvSpPr>
          <p:nvPr/>
        </p:nvSpPr>
        <p:spPr>
          <a:xfrm xmlns:a="http://schemas.openxmlformats.org/drawingml/2006/main">
            <a:off x="2962275" y="4714875"/>
            <a:ext cx="1133475"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7" name="">
            <a:extLst xmlns:a="http://schemas.openxmlformats.org/drawingml/2006/main">
              <a:ext uri="{FF2B5EF4-FFF2-40B4-BE49-F238E27FC236}">
                <a16:creationId xmlns:a16="http://schemas.microsoft.com/office/drawing/2014/main" id="{398F294B-51B8-4D14-B6F3-D6780B1E6CA3}"/>
              </a:ext>
            </a:extLst>
          </p:cNvPr>
          <p:cNvSpPr>
            <a:spLocks xmlns:a="http://schemas.openxmlformats.org/drawingml/2006/main" noGrp="1"/>
          </p:cNvSpPr>
          <p:nvPr/>
        </p:nvSpPr>
        <p:spPr>
          <a:xfrm xmlns:a="http://schemas.openxmlformats.org/drawingml/2006/main">
            <a:off x="7048500" y="4714875"/>
            <a:ext cx="1285875" cy="0"/>
          </a:xfrm>
          <a:prstGeom xmlns:a="http://schemas.openxmlformats.org/drawingml/2006/main" prst="line">
            <a:avLst/>
          </a:prstGeom>
          <a:noFill xmlns:a="http://schemas.openxmlformats.org/drawingml/2006/main"/>
          <a:ln xmlns:a="http://schemas.openxmlformats.org/drawingml/2006/main" w="19050">
            <a:solidFill>
              <a:srgbClr val="D64545"/>
            </a:solidFill>
          </a:ln>
        </p:spPr>
      </p:sp>
      <p:sp>
        <p:nvSpPr>
          <p:cNvPr id="28" name="">
            <a:extLst xmlns:a="http://schemas.openxmlformats.org/drawingml/2006/main">
              <a:ext uri="{FF2B5EF4-FFF2-40B4-BE49-F238E27FC236}">
                <a16:creationId xmlns:a16="http://schemas.microsoft.com/office/drawing/2014/main" id="{985D4457-DF83-4695-A989-A9AB8A673138}"/>
              </a:ext>
            </a:extLst>
          </p:cNvPr>
          <p:cNvSpPr>
            <a:spLocks xmlns:a="http://schemas.openxmlformats.org/drawingml/2006/main" noGrp="1"/>
          </p:cNvSpPr>
          <p:nvPr/>
        </p:nvSpPr>
        <p:spPr>
          <a:xfrm xmlns:a="http://schemas.openxmlformats.org/drawingml/2006/main">
            <a:off x="3733800" y="585787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102A43"/>
                </a:solidFill>
                <a:latin typeface="Helvetica Neue"/>
                <a:ea typeface="Helvetica Neue"/>
                <a:cs typeface="Helvetica Neue"/>
              </a:defRPr>
            </a:defPPr>
          </a:lstStyle>
          <a:p xmlns:a="http://schemas.openxmlformats.org/drawingml/2006/main">
            <a:pPr algn="ctr">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Separate evidence. No fusion tuned on one peer pair.</a:t>
            </a:r>
          </a:p>
        </p:txBody>
      </p:sp>
    </p:spTree>
    <p:extLst>
      <p:ext uri="{BB962C8B-B14F-4D97-AF65-F5344CB8AC3E}">
        <p14:creationId xmlns:p14="http://schemas.microsoft.com/office/powerpoint/2010/main" val="21148610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27F8738-46AF-450B-9D3C-084F52A3E6E9}"/>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Dark.Mimic attack and our defensive question</a:t>
            </a:r>
          </a:p>
        </p:txBody>
      </p:sp>
      <p:sp>
        <p:nvSpPr>
          <p:cNvPr id="2" name="">
            <a:extLst xmlns:a="http://schemas.openxmlformats.org/drawingml/2006/main">
              <a:ext uri="{FF2B5EF4-FFF2-40B4-BE49-F238E27FC236}">
                <a16:creationId xmlns:a16="http://schemas.microsoft.com/office/drawing/2014/main" id="{BB110AB5-5224-4BD6-A2BC-93F0F46E070D}"/>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4A99B9EA-942E-4B5D-8F8C-B62BD08C0FC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0DD449B-06DA-4432-90AE-D42067C3F942}"/>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5AD41436-FAC4-4F73-A54E-865EB33A252A}"/>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4/11</a:t>
            </a:r>
          </a:p>
        </p:txBody>
      </p:sp>
      <p:sp>
        <p:nvSpPr>
          <p:cNvPr id="6" name="">
            <a:extLst xmlns:a="http://schemas.openxmlformats.org/drawingml/2006/main">
              <a:ext uri="{FF2B5EF4-FFF2-40B4-BE49-F238E27FC236}">
                <a16:creationId xmlns:a16="http://schemas.microsoft.com/office/drawing/2014/main" id="{EBEE56A8-EEF0-477F-BEB7-7D038BBB4DFA}"/>
              </a:ext>
            </a:extLst>
          </p:cNvPr>
          <p:cNvSpPr>
            <a:spLocks xmlns:a="http://schemas.openxmlformats.org/drawingml/2006/main" noGrp="1"/>
          </p:cNvSpPr>
          <p:nvPr/>
        </p:nvSpPr>
        <p:spPr>
          <a:xfrm xmlns:a="http://schemas.openxmlformats.org/drawingml/2006/main">
            <a:off x="666750" y="1666875"/>
            <a:ext cx="2619375" cy="1238250"/>
          </a:xfrm>
          <a:prstGeom xmlns:a="http://schemas.openxmlformats.org/drawingml/2006/main" prst="roundRect">
            <a:avLst>
              <a:gd name="adj" fmla="val 6154"/>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6D9C97A2-A4C9-4EA8-93C6-B55156401CAC}"/>
              </a:ext>
            </a:extLst>
          </p:cNvPr>
          <p:cNvSpPr>
            <a:spLocks xmlns:a="http://schemas.openxmlformats.org/drawingml/2006/main" noGrp="1"/>
          </p:cNvSpPr>
          <p:nvPr/>
        </p:nvSpPr>
        <p:spPr>
          <a:xfrm xmlns:a="http://schemas.openxmlformats.org/drawingml/2006/main">
            <a:off x="838200"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Generated talking face</a:t>
            </a:r>
          </a:p>
        </p:txBody>
      </p:sp>
      <p:sp>
        <p:nvSpPr>
          <p:cNvPr id="8" name="">
            <a:extLst xmlns:a="http://schemas.openxmlformats.org/drawingml/2006/main">
              <a:ext uri="{FF2B5EF4-FFF2-40B4-BE49-F238E27FC236}">
                <a16:creationId xmlns:a16="http://schemas.microsoft.com/office/drawing/2014/main" id="{5B6BB8F9-E564-44FA-84A9-2817EC9EBEBF}"/>
              </a:ext>
            </a:extLst>
          </p:cNvPr>
          <p:cNvSpPr>
            <a:spLocks xmlns:a="http://schemas.openxmlformats.org/drawingml/2006/main" noGrp="1"/>
          </p:cNvSpPr>
          <p:nvPr/>
        </p:nvSpPr>
        <p:spPr>
          <a:xfrm xmlns:a="http://schemas.openxmlformats.org/drawingml/2006/main">
            <a:off x="838200"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SadTalker-style speech-to-face output</a:t>
            </a:r>
          </a:p>
        </p:txBody>
      </p:sp>
      <p:sp>
        <p:nvSpPr>
          <p:cNvPr id="9" name="">
            <a:extLst xmlns:a="http://schemas.openxmlformats.org/drawingml/2006/main">
              <a:ext uri="{FF2B5EF4-FFF2-40B4-BE49-F238E27FC236}">
                <a16:creationId xmlns:a16="http://schemas.microsoft.com/office/drawing/2014/main" id="{A74BEE6E-A2AA-4D7A-9F89-D1006022054F}"/>
              </a:ext>
            </a:extLst>
          </p:cNvPr>
          <p:cNvSpPr>
            <a:spLocks xmlns:a="http://schemas.openxmlformats.org/drawingml/2006/main" noGrp="1"/>
          </p:cNvSpPr>
          <p:nvPr/>
        </p:nvSpPr>
        <p:spPr>
          <a:xfrm xmlns:a="http://schemas.openxmlformats.org/drawingml/2006/main">
            <a:off x="4810125" y="1666875"/>
            <a:ext cx="2619375" cy="1238250"/>
          </a:xfrm>
          <a:prstGeom xmlns:a="http://schemas.openxmlformats.org/drawingml/2006/main" prst="roundRect">
            <a:avLst>
              <a:gd name="adj" fmla="val 6154"/>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9DB30E31-5697-4E1D-8C13-D7BA59B63879}"/>
              </a:ext>
            </a:extLst>
          </p:cNvPr>
          <p:cNvSpPr>
            <a:spLocks xmlns:a="http://schemas.openxmlformats.org/drawingml/2006/main" noGrp="1"/>
          </p:cNvSpPr>
          <p:nvPr/>
        </p:nvSpPr>
        <p:spPr>
          <a:xfrm xmlns:a="http://schemas.openxmlformats.org/drawingml/2006/main">
            <a:off x="498157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Periodic colour change</a:t>
            </a:r>
          </a:p>
        </p:txBody>
      </p:sp>
      <p:sp>
        <p:nvSpPr>
          <p:cNvPr id="11" name="">
            <a:extLst xmlns:a="http://schemas.openxmlformats.org/drawingml/2006/main">
              <a:ext uri="{FF2B5EF4-FFF2-40B4-BE49-F238E27FC236}">
                <a16:creationId xmlns:a16="http://schemas.microsoft.com/office/drawing/2014/main" id="{B825E65C-0960-42DF-B73A-4983E30BA05E}"/>
              </a:ext>
            </a:extLst>
          </p:cNvPr>
          <p:cNvSpPr>
            <a:spLocks xmlns:a="http://schemas.openxmlformats.org/drawingml/2006/main" noGrp="1"/>
          </p:cNvSpPr>
          <p:nvPr/>
        </p:nvSpPr>
        <p:spPr>
          <a:xfrm xmlns:a="http://schemas.openxmlformats.org/drawingml/2006/main">
            <a:off x="498157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A=1 physiological-signal manipulation</a:t>
            </a:r>
          </a:p>
        </p:txBody>
      </p:sp>
      <p:sp>
        <p:nvSpPr>
          <p:cNvPr id="12" name="">
            <a:extLst xmlns:a="http://schemas.openxmlformats.org/drawingml/2006/main">
              <a:ext uri="{FF2B5EF4-FFF2-40B4-BE49-F238E27FC236}">
                <a16:creationId xmlns:a16="http://schemas.microsoft.com/office/drawing/2014/main" id="{5B2F8E6D-BA6C-4C06-95B9-34F788904151}"/>
              </a:ext>
            </a:extLst>
          </p:cNvPr>
          <p:cNvSpPr>
            <a:spLocks xmlns:a="http://schemas.openxmlformats.org/drawingml/2006/main" noGrp="1"/>
          </p:cNvSpPr>
          <p:nvPr/>
        </p:nvSpPr>
        <p:spPr>
          <a:xfrm xmlns:a="http://schemas.openxmlformats.org/drawingml/2006/main">
            <a:off x="8905875" y="1666875"/>
            <a:ext cx="2619375" cy="1238250"/>
          </a:xfrm>
          <a:prstGeom xmlns:a="http://schemas.openxmlformats.org/drawingml/2006/main" prst="roundRect">
            <a:avLst>
              <a:gd name="adj" fmla="val 6154"/>
            </a:avLst>
          </a:prstGeom>
          <a:solidFill xmlns:a="http://schemas.openxmlformats.org/drawingml/2006/main">
            <a:srgbClr val="EAF1FF"/>
          </a:solidFill>
          <a:ln xmlns:a="http://schemas.openxmlformats.org/drawingml/2006/main" w="19050">
            <a:solidFill>
              <a:srgbClr val="2F6BFF"/>
            </a:solidFill>
          </a:ln>
        </p:spPr>
      </p:sp>
      <p:sp>
        <p:nvSpPr>
          <p:cNvPr id="13" name="">
            <a:extLst xmlns:a="http://schemas.openxmlformats.org/drawingml/2006/main">
              <a:ext uri="{FF2B5EF4-FFF2-40B4-BE49-F238E27FC236}">
                <a16:creationId xmlns:a16="http://schemas.microsoft.com/office/drawing/2014/main" id="{C85AA3ED-0709-4D58-A065-81DA978888C0}"/>
              </a:ext>
            </a:extLst>
          </p:cNvPr>
          <p:cNvSpPr>
            <a:spLocks xmlns:a="http://schemas.openxmlformats.org/drawingml/2006/main" noGrp="1"/>
          </p:cNvSpPr>
          <p:nvPr/>
        </p:nvSpPr>
        <p:spPr>
          <a:xfrm xmlns:a="http://schemas.openxmlformats.org/drawingml/2006/main">
            <a:off x="9077325" y="1781175"/>
            <a:ext cx="2276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rPPG detector</a:t>
            </a:r>
          </a:p>
        </p:txBody>
      </p:sp>
      <p:sp>
        <p:nvSpPr>
          <p:cNvPr id="14" name="">
            <a:extLst xmlns:a="http://schemas.openxmlformats.org/drawingml/2006/main">
              <a:ext uri="{FF2B5EF4-FFF2-40B4-BE49-F238E27FC236}">
                <a16:creationId xmlns:a16="http://schemas.microsoft.com/office/drawing/2014/main" id="{413D833A-814F-4DBD-9C9E-94DDA8A5785D}"/>
              </a:ext>
            </a:extLst>
          </p:cNvPr>
          <p:cNvSpPr>
            <a:spLocks xmlns:a="http://schemas.openxmlformats.org/drawingml/2006/main" noGrp="1"/>
          </p:cNvSpPr>
          <p:nvPr/>
        </p:nvSpPr>
        <p:spPr>
          <a:xfrm xmlns:a="http://schemas.openxmlformats.org/drawingml/2006/main">
            <a:off x="9077325" y="2162175"/>
            <a:ext cx="22764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Goal: make the fake look physiologically plausible</a:t>
            </a:r>
          </a:p>
        </p:txBody>
      </p:sp>
      <p:sp>
        <p:nvSpPr>
          <p:cNvPr id="15" name="">
            <a:extLst xmlns:a="http://schemas.openxmlformats.org/drawingml/2006/main">
              <a:ext uri="{FF2B5EF4-FFF2-40B4-BE49-F238E27FC236}">
                <a16:creationId xmlns:a16="http://schemas.microsoft.com/office/drawing/2014/main" id="{6656B1F7-20A5-462E-ABE8-C45DD6E43C54}"/>
              </a:ext>
            </a:extLst>
          </p:cNvPr>
          <p:cNvSpPr>
            <a:spLocks xmlns:a="http://schemas.openxmlformats.org/drawingml/2006/main" noGrp="1"/>
          </p:cNvSpPr>
          <p:nvPr/>
        </p:nvSpPr>
        <p:spPr>
          <a:xfrm xmlns:a="http://schemas.openxmlformats.org/drawingml/2006/main">
            <a:off x="3286125" y="2286000"/>
            <a:ext cx="15240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16" name="">
            <a:extLst xmlns:a="http://schemas.openxmlformats.org/drawingml/2006/main">
              <a:ext uri="{FF2B5EF4-FFF2-40B4-BE49-F238E27FC236}">
                <a16:creationId xmlns:a16="http://schemas.microsoft.com/office/drawing/2014/main" id="{0459F190-B562-4949-B1E2-3DB1BEBB9606}"/>
              </a:ext>
            </a:extLst>
          </p:cNvPr>
          <p:cNvSpPr>
            <a:spLocks xmlns:a="http://schemas.openxmlformats.org/drawingml/2006/main" noGrp="1"/>
          </p:cNvSpPr>
          <p:nvPr/>
        </p:nvSpPr>
        <p:spPr>
          <a:xfrm xmlns:a="http://schemas.openxmlformats.org/drawingml/2006/main">
            <a:off x="7429500" y="2286000"/>
            <a:ext cx="1476375"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17" name="">
            <a:extLst xmlns:a="http://schemas.openxmlformats.org/drawingml/2006/main">
              <a:ext uri="{FF2B5EF4-FFF2-40B4-BE49-F238E27FC236}">
                <a16:creationId xmlns:a16="http://schemas.microsoft.com/office/drawing/2014/main" id="{F599C5AD-BD42-4AC8-BF8B-A906E76B07AA}"/>
              </a:ext>
            </a:extLst>
          </p:cNvPr>
          <p:cNvSpPr>
            <a:spLocks xmlns:a="http://schemas.openxmlformats.org/drawingml/2006/main" noGrp="1"/>
          </p:cNvSpPr>
          <p:nvPr/>
        </p:nvSpPr>
        <p:spPr>
          <a:xfrm xmlns:a="http://schemas.openxmlformats.org/drawingml/2006/main">
            <a:off x="1666875" y="3714750"/>
            <a:ext cx="8858250" cy="381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385F99-4DE8-4885-96D5-A0C8DCEBB424}"/>
              </a:ext>
            </a:extLst>
          </p:cNvPr>
          <p:cNvSpPr>
            <a:spLocks xmlns:a="http://schemas.openxmlformats.org/drawingml/2006/main" noGrp="1"/>
          </p:cNvSpPr>
          <p:nvPr/>
        </p:nvSpPr>
        <p:spPr>
          <a:xfrm xmlns:a="http://schemas.openxmlformats.org/drawingml/2006/main">
            <a:off x="666750" y="404812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800" b="1">
                <a:solidFill>
                  <a:srgbClr val="159E9C"/>
                </a:solidFill>
                <a:latin typeface="Helvetica Neue"/>
                <a:ea typeface="Helvetica Neue"/>
                <a:cs typeface="Helvetica Neue"/>
              </a:defRPr>
            </a:defPPr>
          </a:lstStyle>
          <a:p xmlns:a="http://schemas.openxmlformats.org/drawingml/2006/main">
            <a:pPr algn="l">
              <a:defRPr sz="1800" b="1">
                <a:solidFill>
                  <a:srgbClr val="159E9C"/>
                </a:solidFill>
                <a:latin typeface="Helvetica Neue"/>
                <a:ea typeface="Helvetica Neue"/>
                <a:cs typeface="Helvetica Neue"/>
              </a:defRPr>
            </a:pPr>
            <a:r>
              <a:rPr sz="1800" b="1">
                <a:solidFill>
                  <a:srgbClr val="159E9C"/>
                </a:solidFill>
                <a:latin typeface="Helvetica Neue"/>
                <a:ea typeface="Helvetica Neue"/>
                <a:cs typeface="Helvetica Neue"/>
              </a:rPr>
              <a:t>Light-side question</a:t>
            </a:r>
          </a:p>
        </p:txBody>
      </p:sp>
      <p:sp>
        <p:nvSpPr>
          <p:cNvPr id="19" name="">
            <a:extLst xmlns:a="http://schemas.openxmlformats.org/drawingml/2006/main">
              <a:ext uri="{FF2B5EF4-FFF2-40B4-BE49-F238E27FC236}">
                <a16:creationId xmlns:a16="http://schemas.microsoft.com/office/drawing/2014/main" id="{207F9BCE-2636-4631-AE3A-F6DECBE12A76}"/>
              </a:ext>
            </a:extLst>
          </p:cNvPr>
          <p:cNvSpPr>
            <a:spLocks xmlns:a="http://schemas.openxmlformats.org/drawingml/2006/main" noGrp="1"/>
          </p:cNvSpPr>
          <p:nvPr/>
        </p:nvSpPr>
        <p:spPr>
          <a:xfrm xmlns:a="http://schemas.openxmlformats.org/drawingml/2006/main">
            <a:off x="3333750" y="3943350"/>
            <a:ext cx="742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2250" b="1">
                <a:solidFill>
                  <a:srgbClr val="102A43"/>
                </a:solidFill>
                <a:latin typeface="Helvetica Neue"/>
                <a:ea typeface="Helvetica Neue"/>
                <a:cs typeface="Helvetica Neue"/>
              </a:defRPr>
            </a:defPPr>
          </a:lstStyle>
          <a:p xmlns:a="http://schemas.openxmlformats.org/drawingml/2006/main">
            <a:pPr algn="ctr">
              <a:defRPr sz="2250" b="1">
                <a:solidFill>
                  <a:srgbClr val="102A43"/>
                </a:solidFill>
                <a:latin typeface="Helvetica Neue"/>
                <a:ea typeface="Helvetica Neue"/>
                <a:cs typeface="Helvetica Neue"/>
              </a:defRPr>
            </a:pPr>
            <a:r>
              <a:rPr sz="2250" b="1">
                <a:solidFill>
                  <a:srgbClr val="102A43"/>
                </a:solidFill>
                <a:latin typeface="Helvetica Neue"/>
                <a:ea typeface="Helvetica Neue"/>
                <a:cs typeface="Helvetica Neue"/>
              </a:rPr>
              <a:t>If the attack repairs one signal, does it leave another trace?</a:t>
            </a:r>
          </a:p>
        </p:txBody>
      </p:sp>
      <p:sp>
        <p:nvSpPr>
          <p:cNvPr id="20" name="">
            <a:extLst xmlns:a="http://schemas.openxmlformats.org/drawingml/2006/main">
              <a:ext uri="{FF2B5EF4-FFF2-40B4-BE49-F238E27FC236}">
                <a16:creationId xmlns:a16="http://schemas.microsoft.com/office/drawing/2014/main" id="{951FE2E8-4263-4AD5-BFB1-E1881800989B}"/>
              </a:ext>
            </a:extLst>
          </p:cNvPr>
          <p:cNvSpPr>
            <a:spLocks xmlns:a="http://schemas.openxmlformats.org/drawingml/2006/main" noGrp="1"/>
          </p:cNvSpPr>
          <p:nvPr/>
        </p:nvSpPr>
        <p:spPr>
          <a:xfrm xmlns:a="http://schemas.openxmlformats.org/drawingml/2006/main">
            <a:off x="1619250" y="48101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0">
                <a:solidFill>
                  <a:srgbClr val="243B53"/>
                </a:solidFill>
                <a:latin typeface="Helvetica Neue"/>
                <a:ea typeface="Helvetica Neue"/>
                <a:cs typeface="Helvetica Neue"/>
              </a:defRPr>
            </a:defPPr>
          </a:lstStyle>
          <a:p xmlns:a="http://schemas.openxmlformats.org/drawingml/2006/main">
            <a:pPr algn="ctr">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Earlier paired check: identical audio and mouth-geometry correlations of 0.997 to 0.999</a:t>
            </a:r>
          </a:p>
        </p:txBody>
      </p:sp>
      <p:sp>
        <p:nvSpPr>
          <p:cNvPr id="21" name="">
            <a:extLst xmlns:a="http://schemas.openxmlformats.org/drawingml/2006/main">
              <a:ext uri="{FF2B5EF4-FFF2-40B4-BE49-F238E27FC236}">
                <a16:creationId xmlns:a16="http://schemas.microsoft.com/office/drawing/2014/main" id="{3FCDA84F-BC4A-4490-8187-4028CEBEDE73}"/>
              </a:ext>
            </a:extLst>
          </p:cNvPr>
          <p:cNvSpPr>
            <a:spLocks xmlns:a="http://schemas.openxmlformats.org/drawingml/2006/main" noGrp="1"/>
          </p:cNvSpPr>
          <p:nvPr/>
        </p:nvSpPr>
        <p:spPr>
          <a:xfrm xmlns:a="http://schemas.openxmlformats.org/drawingml/2006/main">
            <a:off x="1619250" y="5343525"/>
            <a:ext cx="895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500" b="1">
                <a:solidFill>
                  <a:srgbClr val="D64545"/>
                </a:solidFill>
                <a:latin typeface="Helvetica Neue"/>
                <a:ea typeface="Helvetica Neue"/>
                <a:cs typeface="Helvetica Neue"/>
              </a:defRPr>
            </a:defPPr>
          </a:lstStyle>
          <a:p xmlns:a="http://schemas.openxmlformats.org/drawingml/2006/main">
            <a:pPr algn="ctr">
              <a:defRPr sz="1500" b="1">
                <a:solidFill>
                  <a:srgbClr val="D64545"/>
                </a:solidFill>
                <a:latin typeface="Helvetica Neue"/>
                <a:ea typeface="Helvetica Neue"/>
                <a:cs typeface="Helvetica Neue"/>
              </a:defRPr>
            </a:pPr>
            <a:r>
              <a:rPr sz="1500" b="1">
                <a:solidFill>
                  <a:srgbClr val="D64545"/>
                </a:solidFill>
                <a:latin typeface="Helvetica Neue"/>
                <a:ea typeface="Helvetica Neue"/>
                <a:cs typeface="Helvetica Neue"/>
              </a:rPr>
              <a:t>New M3 check: periodic decoded-pixel differences near the peer-reported 1.2 Hz</a:t>
            </a:r>
          </a:p>
        </p:txBody>
      </p:sp>
    </p:spTree>
    <p:extLst>
      <p:ext uri="{BB962C8B-B14F-4D97-AF65-F5344CB8AC3E}">
        <p14:creationId xmlns:p14="http://schemas.microsoft.com/office/powerpoint/2010/main" val="17117993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B14E81-211C-4033-96B9-990A03A6193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A: lip dynamics in phonetic context</a:t>
            </a:r>
          </a:p>
        </p:txBody>
      </p:sp>
      <p:sp>
        <p:nvSpPr>
          <p:cNvPr id="2" name="">
            <a:extLst xmlns:a="http://schemas.openxmlformats.org/drawingml/2006/main">
              <a:ext uri="{FF2B5EF4-FFF2-40B4-BE49-F238E27FC236}">
                <a16:creationId xmlns:a16="http://schemas.microsoft.com/office/drawing/2014/main" id="{9F94E856-0357-4F7A-81F2-AED6CC98382F}"/>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99378F1-4159-4C38-8B77-DF956C13A413}"/>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5988CD5-FCC8-4EED-9D94-F08FEF4F4244}"/>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B8C31B16-9753-4093-9CE4-9D20842DC191}"/>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5/11</a:t>
            </a:r>
          </a:p>
        </p:txBody>
      </p:sp>
      <p:sp>
        <p:nvSpPr>
          <p:cNvPr id="6" name="">
            <a:extLst xmlns:a="http://schemas.openxmlformats.org/drawingml/2006/main">
              <a:ext uri="{FF2B5EF4-FFF2-40B4-BE49-F238E27FC236}">
                <a16:creationId xmlns:a16="http://schemas.microsoft.com/office/drawing/2014/main" id="{5295E7B2-1908-4F02-B920-11CAC0CBE55C}"/>
              </a:ext>
            </a:extLst>
          </p:cNvPr>
          <p:cNvSpPr>
            <a:spLocks xmlns:a="http://schemas.openxmlformats.org/drawingml/2006/main" noGrp="1"/>
          </p:cNvSpPr>
          <p:nvPr/>
        </p:nvSpPr>
        <p:spPr>
          <a:xfrm xmlns:a="http://schemas.openxmlformats.org/drawingml/2006/main">
            <a:off x="476250" y="2000250"/>
            <a:ext cx="1952625" cy="1524000"/>
          </a:xfrm>
          <a:prstGeom xmlns:a="http://schemas.openxmlformats.org/drawingml/2006/main" prst="roundRect">
            <a:avLst>
              <a:gd name="adj" fmla="val 5000"/>
            </a:avLst>
          </a:prstGeom>
          <a:solidFill xmlns:a="http://schemas.openxmlformats.org/drawingml/2006/main">
            <a:srgbClr val="EAF1FF"/>
          </a:solidFill>
          <a:ln xmlns:a="http://schemas.openxmlformats.org/drawingml/2006/main" w="19050">
            <a:solidFill>
              <a:srgbClr val="2F6BFF"/>
            </a:solidFill>
          </a:ln>
        </p:spPr>
      </p:sp>
      <p:sp>
        <p:nvSpPr>
          <p:cNvPr id="7" name="">
            <a:extLst xmlns:a="http://schemas.openxmlformats.org/drawingml/2006/main">
              <a:ext uri="{FF2B5EF4-FFF2-40B4-BE49-F238E27FC236}">
                <a16:creationId xmlns:a16="http://schemas.microsoft.com/office/drawing/2014/main" id="{7D664A12-BCDF-4DE2-B337-1222735AD02F}"/>
              </a:ext>
            </a:extLst>
          </p:cNvPr>
          <p:cNvSpPr>
            <a:spLocks xmlns:a="http://schemas.openxmlformats.org/drawingml/2006/main" noGrp="1"/>
          </p:cNvSpPr>
          <p:nvPr/>
        </p:nvSpPr>
        <p:spPr>
          <a:xfrm xmlns:a="http://schemas.openxmlformats.org/drawingml/2006/main">
            <a:off x="6477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24 clips</a:t>
            </a:r>
          </a:p>
        </p:txBody>
      </p:sp>
      <p:sp>
        <p:nvSpPr>
          <p:cNvPr id="8" name="">
            <a:extLst xmlns:a="http://schemas.openxmlformats.org/drawingml/2006/main">
              <a:ext uri="{FF2B5EF4-FFF2-40B4-BE49-F238E27FC236}">
                <a16:creationId xmlns:a16="http://schemas.microsoft.com/office/drawing/2014/main" id="{2DE1939D-8A2D-4A59-8F3D-8E165DDFCE49}"/>
              </a:ext>
            </a:extLst>
          </p:cNvPr>
          <p:cNvSpPr>
            <a:spLocks xmlns:a="http://schemas.openxmlformats.org/drawingml/2006/main" noGrp="1"/>
          </p:cNvSpPr>
          <p:nvPr/>
        </p:nvSpPr>
        <p:spPr>
          <a:xfrm xmlns:a="http://schemas.openxmlformats.org/drawingml/2006/main">
            <a:off x="6477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12 real, 12 fake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25 FPS, 512 canvas</a:t>
            </a:r>
          </a:p>
        </p:txBody>
      </p:sp>
      <p:sp>
        <p:nvSpPr>
          <p:cNvPr id="9" name="">
            <a:extLst xmlns:a="http://schemas.openxmlformats.org/drawingml/2006/main">
              <a:ext uri="{FF2B5EF4-FFF2-40B4-BE49-F238E27FC236}">
                <a16:creationId xmlns:a16="http://schemas.microsoft.com/office/drawing/2014/main" id="{4DED0F70-4932-4DB2-AD18-92C3823EE222}"/>
              </a:ext>
            </a:extLst>
          </p:cNvPr>
          <p:cNvSpPr>
            <a:spLocks xmlns:a="http://schemas.openxmlformats.org/drawingml/2006/main" noGrp="1"/>
          </p:cNvSpPr>
          <p:nvPr/>
        </p:nvSpPr>
        <p:spPr>
          <a:xfrm xmlns:a="http://schemas.openxmlformats.org/drawingml/2006/main">
            <a:off x="242887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0" name="">
            <a:extLst xmlns:a="http://schemas.openxmlformats.org/drawingml/2006/main">
              <a:ext uri="{FF2B5EF4-FFF2-40B4-BE49-F238E27FC236}">
                <a16:creationId xmlns:a16="http://schemas.microsoft.com/office/drawing/2014/main" id="{1E7014B4-2C2E-4B50-83D0-08FC3381B009}"/>
              </a:ext>
            </a:extLst>
          </p:cNvPr>
          <p:cNvSpPr>
            <a:spLocks xmlns:a="http://schemas.openxmlformats.org/drawingml/2006/main" noGrp="1"/>
          </p:cNvSpPr>
          <p:nvPr/>
        </p:nvSpPr>
        <p:spPr>
          <a:xfrm xmlns:a="http://schemas.openxmlformats.org/drawingml/2006/main">
            <a:off x="2809875" y="2000250"/>
            <a:ext cx="1952625" cy="1524000"/>
          </a:xfrm>
          <a:prstGeom xmlns:a="http://schemas.openxmlformats.org/drawingml/2006/main" prst="roundRect">
            <a:avLst>
              <a:gd name="adj" fmla="val 5000"/>
            </a:avLst>
          </a:prstGeom>
          <a:solidFill xmlns:a="http://schemas.openxmlformats.org/drawingml/2006/main">
            <a:srgbClr val="E7F7F5"/>
          </a:solidFill>
          <a:ln xmlns:a="http://schemas.openxmlformats.org/drawingml/2006/main" w="19050">
            <a:solidFill>
              <a:srgbClr val="159E9C"/>
            </a:solidFill>
          </a:ln>
        </p:spPr>
      </p:sp>
      <p:sp>
        <p:nvSpPr>
          <p:cNvPr id="11" name="">
            <a:extLst xmlns:a="http://schemas.openxmlformats.org/drawingml/2006/main">
              <a:ext uri="{FF2B5EF4-FFF2-40B4-BE49-F238E27FC236}">
                <a16:creationId xmlns:a16="http://schemas.microsoft.com/office/drawing/2014/main" id="{D3A65E21-1179-4C91-B956-87DC18D32042}"/>
              </a:ext>
            </a:extLst>
          </p:cNvPr>
          <p:cNvSpPr>
            <a:spLocks xmlns:a="http://schemas.openxmlformats.org/drawingml/2006/main" noGrp="1"/>
          </p:cNvSpPr>
          <p:nvPr/>
        </p:nvSpPr>
        <p:spPr>
          <a:xfrm xmlns:a="http://schemas.openxmlformats.org/drawingml/2006/main">
            <a:off x="298132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59E9C"/>
                </a:solidFill>
                <a:latin typeface="Helvetica Neue"/>
                <a:ea typeface="Helvetica Neue"/>
                <a:cs typeface="Helvetica Neue"/>
              </a:defRPr>
            </a:defPPr>
          </a:lstStyle>
          <a:p xmlns:a="http://schemas.openxmlformats.org/drawingml/2006/main">
            <a:pPr algn="l">
              <a:defRPr sz="1650" b="1">
                <a:solidFill>
                  <a:srgbClr val="159E9C"/>
                </a:solidFill>
                <a:latin typeface="Helvetica Neue"/>
                <a:ea typeface="Helvetica Neue"/>
                <a:cs typeface="Helvetica Neue"/>
              </a:defRPr>
            </a:pPr>
            <a:r>
              <a:rPr sz="1650" b="1">
                <a:solidFill>
                  <a:srgbClr val="159E9C"/>
                </a:solidFill>
                <a:latin typeface="Helvetica Neue"/>
                <a:ea typeface="Helvetica Neue"/>
                <a:cs typeface="Helvetica Neue"/>
              </a:rPr>
              <a:t>Mouth signals</a:t>
            </a:r>
          </a:p>
        </p:txBody>
      </p:sp>
      <p:sp>
        <p:nvSpPr>
          <p:cNvPr id="12" name="">
            <a:extLst xmlns:a="http://schemas.openxmlformats.org/drawingml/2006/main">
              <a:ext uri="{FF2B5EF4-FFF2-40B4-BE49-F238E27FC236}">
                <a16:creationId xmlns:a16="http://schemas.microsoft.com/office/drawing/2014/main" id="{C586054E-0EC4-430C-9135-279C1DEA6A6B}"/>
              </a:ext>
            </a:extLst>
          </p:cNvPr>
          <p:cNvSpPr>
            <a:spLocks xmlns:a="http://schemas.openxmlformats.org/drawingml/2006/main" noGrp="1"/>
          </p:cNvSpPr>
          <p:nvPr/>
        </p:nvSpPr>
        <p:spPr>
          <a:xfrm xmlns:a="http://schemas.openxmlformats.org/drawingml/2006/main">
            <a:off x="298132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Aperture, width</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velocity to jerk</a:t>
            </a:r>
          </a:p>
        </p:txBody>
      </p:sp>
      <p:sp>
        <p:nvSpPr>
          <p:cNvPr id="13" name="">
            <a:extLst xmlns:a="http://schemas.openxmlformats.org/drawingml/2006/main">
              <a:ext uri="{FF2B5EF4-FFF2-40B4-BE49-F238E27FC236}">
                <a16:creationId xmlns:a16="http://schemas.microsoft.com/office/drawing/2014/main" id="{938529C6-A28D-435C-9CCE-0BC0921197B4}"/>
              </a:ext>
            </a:extLst>
          </p:cNvPr>
          <p:cNvSpPr>
            <a:spLocks xmlns:a="http://schemas.openxmlformats.org/drawingml/2006/main" noGrp="1"/>
          </p:cNvSpPr>
          <p:nvPr/>
        </p:nvSpPr>
        <p:spPr>
          <a:xfrm xmlns:a="http://schemas.openxmlformats.org/drawingml/2006/main">
            <a:off x="476250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4" name="">
            <a:extLst xmlns:a="http://schemas.openxmlformats.org/drawingml/2006/main">
              <a:ext uri="{FF2B5EF4-FFF2-40B4-BE49-F238E27FC236}">
                <a16:creationId xmlns:a16="http://schemas.microsoft.com/office/drawing/2014/main" id="{8E056B4E-6367-47E7-93BE-CE9B0407671B}"/>
              </a:ext>
            </a:extLst>
          </p:cNvPr>
          <p:cNvSpPr>
            <a:spLocks xmlns:a="http://schemas.openxmlformats.org/drawingml/2006/main" noGrp="1"/>
          </p:cNvSpPr>
          <p:nvPr/>
        </p:nvSpPr>
        <p:spPr>
          <a:xfrm xmlns:a="http://schemas.openxmlformats.org/drawingml/2006/main">
            <a:off x="5143500" y="2000250"/>
            <a:ext cx="1952625" cy="1524000"/>
          </a:xfrm>
          <a:prstGeom xmlns:a="http://schemas.openxmlformats.org/drawingml/2006/main" prst="roundRect">
            <a:avLst>
              <a:gd name="adj" fmla="val 5000"/>
            </a:avLst>
          </a:prstGeom>
          <a:solidFill xmlns:a="http://schemas.openxmlformats.org/drawingml/2006/main">
            <a:srgbClr val="FFF2E2"/>
          </a:solidFill>
          <a:ln xmlns:a="http://schemas.openxmlformats.org/drawingml/2006/main" w="19050">
            <a:solidFill>
              <a:srgbClr val="E67E22"/>
            </a:solidFill>
          </a:ln>
        </p:spPr>
      </p:sp>
      <p:sp>
        <p:nvSpPr>
          <p:cNvPr id="15" name="">
            <a:extLst xmlns:a="http://schemas.openxmlformats.org/drawingml/2006/main">
              <a:ext uri="{FF2B5EF4-FFF2-40B4-BE49-F238E27FC236}">
                <a16:creationId xmlns:a16="http://schemas.microsoft.com/office/drawing/2014/main" id="{94632F1E-F2BB-47CE-9FC2-11327FC8ACCC}"/>
              </a:ext>
            </a:extLst>
          </p:cNvPr>
          <p:cNvSpPr>
            <a:spLocks xmlns:a="http://schemas.openxmlformats.org/drawingml/2006/main" noGrp="1"/>
          </p:cNvSpPr>
          <p:nvPr/>
        </p:nvSpPr>
        <p:spPr>
          <a:xfrm xmlns:a="http://schemas.openxmlformats.org/drawingml/2006/main">
            <a:off x="531495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Weak alignment</a:t>
            </a:r>
          </a:p>
        </p:txBody>
      </p:sp>
      <p:sp>
        <p:nvSpPr>
          <p:cNvPr id="16" name="">
            <a:extLst xmlns:a="http://schemas.openxmlformats.org/drawingml/2006/main">
              <a:ext uri="{FF2B5EF4-FFF2-40B4-BE49-F238E27FC236}">
                <a16:creationId xmlns:a16="http://schemas.microsoft.com/office/drawing/2014/main" id="{7DB493FC-71D4-4C19-B6AB-BEC376D0A87B}"/>
              </a:ext>
            </a:extLst>
          </p:cNvPr>
          <p:cNvSpPr>
            <a:spLocks xmlns:a="http://schemas.openxmlformats.org/drawingml/2006/main" noGrp="1"/>
          </p:cNvSpPr>
          <p:nvPr/>
        </p:nvSpPr>
        <p:spPr>
          <a:xfrm xmlns:a="http://schemas.openxmlformats.org/drawingml/2006/main">
            <a:off x="531495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Whisper timestamps</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CMUdict phones</a:t>
            </a:r>
          </a:p>
        </p:txBody>
      </p:sp>
      <p:sp>
        <p:nvSpPr>
          <p:cNvPr id="17" name="">
            <a:extLst xmlns:a="http://schemas.openxmlformats.org/drawingml/2006/main">
              <a:ext uri="{FF2B5EF4-FFF2-40B4-BE49-F238E27FC236}">
                <a16:creationId xmlns:a16="http://schemas.microsoft.com/office/drawing/2014/main" id="{0F41FDF3-1A8B-4E49-AD06-6604E45DEB88}"/>
              </a:ext>
            </a:extLst>
          </p:cNvPr>
          <p:cNvSpPr>
            <a:spLocks xmlns:a="http://schemas.openxmlformats.org/drawingml/2006/main" noGrp="1"/>
          </p:cNvSpPr>
          <p:nvPr/>
        </p:nvSpPr>
        <p:spPr>
          <a:xfrm xmlns:a="http://schemas.openxmlformats.org/drawingml/2006/main">
            <a:off x="7096125"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8" name="">
            <a:extLst xmlns:a="http://schemas.openxmlformats.org/drawingml/2006/main">
              <a:ext uri="{FF2B5EF4-FFF2-40B4-BE49-F238E27FC236}">
                <a16:creationId xmlns:a16="http://schemas.microsoft.com/office/drawing/2014/main" id="{033D673A-0AA2-4E5A-8E67-BD83E6648BDC}"/>
              </a:ext>
            </a:extLst>
          </p:cNvPr>
          <p:cNvSpPr>
            <a:spLocks xmlns:a="http://schemas.openxmlformats.org/drawingml/2006/main" noGrp="1"/>
          </p:cNvSpPr>
          <p:nvPr/>
        </p:nvSpPr>
        <p:spPr>
          <a:xfrm xmlns:a="http://schemas.openxmlformats.org/drawingml/2006/main">
            <a:off x="7477125" y="2000250"/>
            <a:ext cx="1952625" cy="1524000"/>
          </a:xfrm>
          <a:prstGeom xmlns:a="http://schemas.openxmlformats.org/drawingml/2006/main" prst="roundRect">
            <a:avLst>
              <a:gd name="adj" fmla="val 5000"/>
            </a:avLst>
          </a:prstGeom>
          <a:solidFill xmlns:a="http://schemas.openxmlformats.org/drawingml/2006/main">
            <a:srgbClr val="FCECEC"/>
          </a:solidFill>
          <a:ln xmlns:a="http://schemas.openxmlformats.org/drawingml/2006/main" w="19050">
            <a:solidFill>
              <a:srgbClr val="D64545"/>
            </a:solidFill>
          </a:ln>
        </p:spPr>
      </p:sp>
      <p:sp>
        <p:nvSpPr>
          <p:cNvPr id="19" name="">
            <a:extLst xmlns:a="http://schemas.openxmlformats.org/drawingml/2006/main">
              <a:ext uri="{FF2B5EF4-FFF2-40B4-BE49-F238E27FC236}">
                <a16:creationId xmlns:a16="http://schemas.microsoft.com/office/drawing/2014/main" id="{35550626-57A5-4B0C-BA0C-D517EA37FA77}"/>
              </a:ext>
            </a:extLst>
          </p:cNvPr>
          <p:cNvSpPr>
            <a:spLocks xmlns:a="http://schemas.openxmlformats.org/drawingml/2006/main" noGrp="1"/>
          </p:cNvSpPr>
          <p:nvPr/>
        </p:nvSpPr>
        <p:spPr>
          <a:xfrm xmlns:a="http://schemas.openxmlformats.org/drawingml/2006/main">
            <a:off x="7648575"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Two models</a:t>
            </a:r>
          </a:p>
        </p:txBody>
      </p:sp>
      <p:sp>
        <p:nvSpPr>
          <p:cNvPr id="20" name="">
            <a:extLst xmlns:a="http://schemas.openxmlformats.org/drawingml/2006/main">
              <a:ext uri="{FF2B5EF4-FFF2-40B4-BE49-F238E27FC236}">
                <a16:creationId xmlns:a16="http://schemas.microsoft.com/office/drawing/2014/main" id="{FC029DD4-D786-4F5C-9072-C1964E7CF841}"/>
              </a:ext>
            </a:extLst>
          </p:cNvPr>
          <p:cNvSpPr>
            <a:spLocks xmlns:a="http://schemas.openxmlformats.org/drawingml/2006/main" noGrp="1"/>
          </p:cNvSpPr>
          <p:nvPr/>
        </p:nvSpPr>
        <p:spPr>
          <a:xfrm xmlns:a="http://schemas.openxmlformats.org/drawingml/2006/main">
            <a:off x="7648575"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Context-free</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Weak context</a:t>
            </a:r>
          </a:p>
        </p:txBody>
      </p:sp>
      <p:sp>
        <p:nvSpPr>
          <p:cNvPr id="21" name="">
            <a:extLst xmlns:a="http://schemas.openxmlformats.org/drawingml/2006/main">
              <a:ext uri="{FF2B5EF4-FFF2-40B4-BE49-F238E27FC236}">
                <a16:creationId xmlns:a16="http://schemas.microsoft.com/office/drawing/2014/main" id="{FFE4F62B-ACE0-4AD4-86E3-3146C39E31DF}"/>
              </a:ext>
            </a:extLst>
          </p:cNvPr>
          <p:cNvSpPr>
            <a:spLocks xmlns:a="http://schemas.openxmlformats.org/drawingml/2006/main" noGrp="1"/>
          </p:cNvSpPr>
          <p:nvPr/>
        </p:nvSpPr>
        <p:spPr>
          <a:xfrm xmlns:a="http://schemas.openxmlformats.org/drawingml/2006/main">
            <a:off x="9429750" y="2762250"/>
            <a:ext cx="381000" cy="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22" name="">
            <a:extLst xmlns:a="http://schemas.openxmlformats.org/drawingml/2006/main">
              <a:ext uri="{FF2B5EF4-FFF2-40B4-BE49-F238E27FC236}">
                <a16:creationId xmlns:a16="http://schemas.microsoft.com/office/drawing/2014/main" id="{E87A96A7-2E02-493C-B9BC-3DA84AAE3260}"/>
              </a:ext>
            </a:extLst>
          </p:cNvPr>
          <p:cNvSpPr>
            <a:spLocks xmlns:a="http://schemas.openxmlformats.org/drawingml/2006/main" noGrp="1"/>
          </p:cNvSpPr>
          <p:nvPr/>
        </p:nvSpPr>
        <p:spPr>
          <a:xfrm xmlns:a="http://schemas.openxmlformats.org/drawingml/2006/main">
            <a:off x="9810750" y="2000250"/>
            <a:ext cx="1952625" cy="1524000"/>
          </a:xfrm>
          <a:prstGeom xmlns:a="http://schemas.openxmlformats.org/drawingml/2006/main" prst="roundRect">
            <a:avLst>
              <a:gd name="adj" fmla="val 5000"/>
            </a:avLst>
          </a:prstGeom>
          <a:solidFill xmlns:a="http://schemas.openxmlformats.org/drawingml/2006/main">
            <a:srgbClr val="F4F7FB"/>
          </a:solidFill>
          <a:ln xmlns:a="http://schemas.openxmlformats.org/drawingml/2006/main" w="19050">
            <a:solidFill>
              <a:srgbClr val="102A43"/>
            </a:solidFill>
          </a:ln>
        </p:spPr>
      </p:sp>
      <p:sp>
        <p:nvSpPr>
          <p:cNvPr id="23" name="">
            <a:extLst xmlns:a="http://schemas.openxmlformats.org/drawingml/2006/main">
              <a:ext uri="{FF2B5EF4-FFF2-40B4-BE49-F238E27FC236}">
                <a16:creationId xmlns:a16="http://schemas.microsoft.com/office/drawing/2014/main" id="{CA7A1127-4DA7-44B9-984D-C9551B420DA5}"/>
              </a:ext>
            </a:extLst>
          </p:cNvPr>
          <p:cNvSpPr>
            <a:spLocks xmlns:a="http://schemas.openxmlformats.org/drawingml/2006/main" noGrp="1"/>
          </p:cNvSpPr>
          <p:nvPr/>
        </p:nvSpPr>
        <p:spPr>
          <a:xfrm xmlns:a="http://schemas.openxmlformats.org/drawingml/2006/main">
            <a:off x="9982200" y="2114550"/>
            <a:ext cx="16097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Held-out test</a:t>
            </a:r>
          </a:p>
        </p:txBody>
      </p:sp>
      <p:sp>
        <p:nvSpPr>
          <p:cNvPr id="24" name="">
            <a:extLst xmlns:a="http://schemas.openxmlformats.org/drawingml/2006/main">
              <a:ext uri="{FF2B5EF4-FFF2-40B4-BE49-F238E27FC236}">
                <a16:creationId xmlns:a16="http://schemas.microsoft.com/office/drawing/2014/main" id="{3FB07202-11DD-4F88-AE11-3A5E7BD708CB}"/>
              </a:ext>
            </a:extLst>
          </p:cNvPr>
          <p:cNvSpPr>
            <a:spLocks xmlns:a="http://schemas.openxmlformats.org/drawingml/2006/main" noGrp="1"/>
          </p:cNvSpPr>
          <p:nvPr/>
        </p:nvSpPr>
        <p:spPr>
          <a:xfrm xmlns:a="http://schemas.openxmlformats.org/drawingml/2006/main">
            <a:off x="9982200" y="2495550"/>
            <a:ext cx="16097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n=6</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fixed threshold 0.5</a:t>
            </a:r>
          </a:p>
        </p:txBody>
      </p:sp>
      <p:sp>
        <p:nvSpPr>
          <p:cNvPr id="25" name="">
            <a:extLst xmlns:a="http://schemas.openxmlformats.org/drawingml/2006/main">
              <a:ext uri="{FF2B5EF4-FFF2-40B4-BE49-F238E27FC236}">
                <a16:creationId xmlns:a16="http://schemas.microsoft.com/office/drawing/2014/main" id="{81C7E0CF-54C7-493C-AFDA-E91A7AE96F1A}"/>
              </a:ext>
            </a:extLst>
          </p:cNvPr>
          <p:cNvSpPr>
            <a:spLocks xmlns:a="http://schemas.openxmlformats.org/drawingml/2006/main" noGrp="1"/>
          </p:cNvSpPr>
          <p:nvPr/>
        </p:nvSpPr>
        <p:spPr>
          <a:xfrm xmlns:a="http://schemas.openxmlformats.org/drawingml/2006/main">
            <a:off x="904875" y="4095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Same clips and split for both models</a:t>
            </a:r>
          </a:p>
        </p:txBody>
      </p:sp>
      <p:sp>
        <p:nvSpPr>
          <p:cNvPr id="26" name="">
            <a:extLst xmlns:a="http://schemas.openxmlformats.org/drawingml/2006/main">
              <a:ext uri="{FF2B5EF4-FFF2-40B4-BE49-F238E27FC236}">
                <a16:creationId xmlns:a16="http://schemas.microsoft.com/office/drawing/2014/main" id="{1FD51F84-C900-41DD-8F89-2D77482B9A9F}"/>
              </a:ext>
            </a:extLst>
          </p:cNvPr>
          <p:cNvSpPr>
            <a:spLocks xmlns:a="http://schemas.openxmlformats.org/drawingml/2006/main" noGrp="1"/>
          </p:cNvSpPr>
          <p:nvPr/>
        </p:nvSpPr>
        <p:spPr>
          <a:xfrm xmlns:a="http://schemas.openxmlformats.org/drawingml/2006/main">
            <a:off x="904875" y="4619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One central vowel proxy per clip</a:t>
            </a:r>
          </a:p>
        </p:txBody>
      </p:sp>
      <p:sp>
        <p:nvSpPr>
          <p:cNvPr id="27" name="">
            <a:extLst xmlns:a="http://schemas.openxmlformats.org/drawingml/2006/main">
              <a:ext uri="{FF2B5EF4-FFF2-40B4-BE49-F238E27FC236}">
                <a16:creationId xmlns:a16="http://schemas.microsoft.com/office/drawing/2014/main" id="{A118A13D-405A-4DE0-B8E1-AB2270E21A39}"/>
              </a:ext>
            </a:extLst>
          </p:cNvPr>
          <p:cNvSpPr>
            <a:spLocks xmlns:a="http://schemas.openxmlformats.org/drawingml/2006/main" noGrp="1"/>
          </p:cNvSpPr>
          <p:nvPr/>
        </p:nvSpPr>
        <p:spPr>
          <a:xfrm xmlns:a="http://schemas.openxmlformats.org/drawingml/2006/main">
            <a:off x="6762750" y="409575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Not forced alignment</a:t>
            </a:r>
          </a:p>
        </p:txBody>
      </p:sp>
      <p:sp>
        <p:nvSpPr>
          <p:cNvPr id="28" name="">
            <a:extLst xmlns:a="http://schemas.openxmlformats.org/drawingml/2006/main">
              <a:ext uri="{FF2B5EF4-FFF2-40B4-BE49-F238E27FC236}">
                <a16:creationId xmlns:a16="http://schemas.microsoft.com/office/drawing/2014/main" id="{A5689BA2-2B21-462D-AF27-5D774DF54DA0}"/>
              </a:ext>
            </a:extLst>
          </p:cNvPr>
          <p:cNvSpPr>
            <a:spLocks xmlns:a="http://schemas.openxmlformats.org/drawingml/2006/main" noGrp="1"/>
          </p:cNvSpPr>
          <p:nvPr/>
        </p:nvSpPr>
        <p:spPr>
          <a:xfrm xmlns:a="http://schemas.openxmlformats.org/drawingml/2006/main">
            <a:off x="6762750" y="46196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Feasibility pilot, not generalisation evidence</a:t>
            </a:r>
          </a:p>
        </p:txBody>
      </p:sp>
      <p:sp>
        <p:nvSpPr>
          <p:cNvPr id="29" name="">
            <a:extLst xmlns:a="http://schemas.openxmlformats.org/drawingml/2006/main">
              <a:ext uri="{FF2B5EF4-FFF2-40B4-BE49-F238E27FC236}">
                <a16:creationId xmlns:a16="http://schemas.microsoft.com/office/drawing/2014/main" id="{81DF0EF6-6395-404B-BF4B-097FA806F50E}"/>
              </a:ext>
            </a:extLst>
          </p:cNvPr>
          <p:cNvSpPr>
            <a:spLocks xmlns:a="http://schemas.openxmlformats.org/drawingml/2006/main" noGrp="1"/>
          </p:cNvSpPr>
          <p:nvPr/>
        </p:nvSpPr>
        <p:spPr>
          <a:xfrm xmlns:a="http://schemas.openxmlformats.org/drawingml/2006/main">
            <a:off x="666750" y="578167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1">
                <a:solidFill>
                  <a:srgbClr val="159E9C"/>
                </a:solidFill>
                <a:latin typeface="Helvetica Neue"/>
                <a:ea typeface="Helvetica Neue"/>
                <a:cs typeface="Helvetica Neue"/>
              </a:defRPr>
            </a:defPPr>
          </a:lstStyle>
          <a:p xmlns:a="http://schemas.openxmlformats.org/drawingml/2006/main">
            <a:pPr algn="l">
              <a:defRPr sz="1350" b="1">
                <a:solidFill>
                  <a:srgbClr val="159E9C"/>
                </a:solidFill>
                <a:latin typeface="Helvetica Neue"/>
                <a:ea typeface="Helvetica Neue"/>
                <a:cs typeface="Helvetica Neue"/>
              </a:defRPr>
            </a:pPr>
            <a:r>
              <a:rPr sz="1350" b="1">
                <a:solidFill>
                  <a:srgbClr val="159E9C"/>
                </a:solidFill>
                <a:latin typeface="Helvetica Neue"/>
                <a:ea typeface="Helvetica Neue"/>
                <a:cs typeface="Helvetica Neue"/>
              </a:rPr>
              <a:t>Yan presents: pilot design, lip features, ablation and failures</a:t>
            </a:r>
          </a:p>
        </p:txBody>
      </p:sp>
    </p:spTree>
    <p:extLst>
      <p:ext uri="{BB962C8B-B14F-4D97-AF65-F5344CB8AC3E}">
        <p14:creationId xmlns:p14="http://schemas.microsoft.com/office/powerpoint/2010/main" val="2071589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93BA1E-37FD-42CF-B90F-D5CB25EC54C8}"/>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Weak context did not improve the held-out pilot</a:t>
            </a:r>
          </a:p>
        </p:txBody>
      </p:sp>
      <p:sp>
        <p:nvSpPr>
          <p:cNvPr id="2" name="">
            <a:extLst xmlns:a="http://schemas.openxmlformats.org/drawingml/2006/main">
              <a:ext uri="{FF2B5EF4-FFF2-40B4-BE49-F238E27FC236}">
                <a16:creationId xmlns:a16="http://schemas.microsoft.com/office/drawing/2014/main" id="{F9005097-B3DD-4BC4-BACC-519DBE22D9D5}"/>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703D243-75C5-49AF-A814-E0CC53DB806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3B2BB5-3095-4890-B289-5166C32F4B9A}"/>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56A54D7-3EFE-4DFA-84E9-56170E5DE39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6/11</a:t>
            </a:r>
          </a:p>
        </p:txBody>
      </p:sp>
      <p:graphicFrame>
        <p:nvGraphicFramePr>
          <p:cNvPr id="6" name="Chart">
            <a:extLst xmlns:a="http://schemas.openxmlformats.org/drawingml/2006/main">
              <a:ext uri="{FF2B5EF4-FFF2-40B4-BE49-F238E27FC236}">
                <a16:creationId xmlns:a16="http://schemas.microsoft.com/office/drawing/2014/main" id="{E21F1B3F-0F9C-4C96-8082-7FDB5526311E}"/>
              </a:ext>
            </a:extLst>
          </p:cNvPr>
          <p:cNvGraphicFramePr/>
          <p:nvPr/>
        </p:nvGraphicFramePr>
        <p:xfrm>
          <a:off xmlns:a="http://schemas.openxmlformats.org/drawingml/2006/main" x="666750" y="1476375"/>
          <a:ext xmlns:a="http://schemas.openxmlformats.org/drawingml/2006/main" cx="6762750" cy="4095750"/>
        </p:xfrm>
        <a:graphic xmlns:a="http://schemas.openxmlformats.org/drawingml/2006/main">
          <a:graphicData uri="http://schemas.openxmlformats.org/drawingml/2006/chart">
            <c:chart xmlns:r="http://schemas.openxmlformats.org/officeDocument/2006/relationships" xmlns:c="http://schemas.openxmlformats.org/drawingml/2006/chart" r:id="R3212692546694136"/>
          </a:graphicData>
        </a:graphic>
      </p:graphicFrame>
      <p:sp>
        <p:nvSpPr>
          <p:cNvPr id="7" name="">
            <a:extLst xmlns:a="http://schemas.openxmlformats.org/drawingml/2006/main">
              <a:ext uri="{FF2B5EF4-FFF2-40B4-BE49-F238E27FC236}">
                <a16:creationId xmlns:a16="http://schemas.microsoft.com/office/drawing/2014/main" id="{A450D928-4E36-447D-BA6F-A214517DE80E}"/>
              </a:ext>
            </a:extLst>
          </p:cNvPr>
          <p:cNvSpPr>
            <a:spLocks xmlns:a="http://schemas.openxmlformats.org/drawingml/2006/main" noGrp="1"/>
          </p:cNvSpPr>
          <p:nvPr/>
        </p:nvSpPr>
        <p:spPr>
          <a:xfrm xmlns:a="http://schemas.openxmlformats.org/drawingml/2006/main">
            <a:off x="8096250" y="16192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102A43"/>
                </a:solidFill>
                <a:latin typeface="Helvetica Neue"/>
                <a:ea typeface="Helvetica Neue"/>
                <a:cs typeface="Helvetica Neue"/>
              </a:defRPr>
            </a:defPPr>
          </a:lstStyle>
          <a:p xmlns:a="http://schemas.openxmlformats.org/drawingml/2006/main">
            <a:pPr algn="l">
              <a:defRPr sz="2100" b="1">
                <a:solidFill>
                  <a:srgbClr val="102A43"/>
                </a:solidFill>
                <a:latin typeface="Helvetica Neue"/>
                <a:ea typeface="Helvetica Neue"/>
                <a:cs typeface="Helvetica Neue"/>
              </a:defRPr>
            </a:pPr>
            <a:r>
              <a:rPr sz="2100" b="1">
                <a:solidFill>
                  <a:srgbClr val="102A43"/>
                </a:solidFill>
                <a:latin typeface="Helvetica Neue"/>
                <a:ea typeface="Helvetica Neue"/>
                <a:cs typeface="Helvetica Neue"/>
              </a:rPr>
              <a:t>Held-out n = 6</a:t>
            </a:r>
          </a:p>
        </p:txBody>
      </p:sp>
      <p:sp>
        <p:nvSpPr>
          <p:cNvPr id="8" name="">
            <a:extLst xmlns:a="http://schemas.openxmlformats.org/drawingml/2006/main">
              <a:ext uri="{FF2B5EF4-FFF2-40B4-BE49-F238E27FC236}">
                <a16:creationId xmlns:a16="http://schemas.microsoft.com/office/drawing/2014/main" id="{01988031-2C76-4595-8243-5D4B3523DACF}"/>
              </a:ext>
            </a:extLst>
          </p:cNvPr>
          <p:cNvSpPr>
            <a:spLocks xmlns:a="http://schemas.openxmlformats.org/drawingml/2006/main" noGrp="1"/>
          </p:cNvSpPr>
          <p:nvPr/>
        </p:nvSpPr>
        <p:spPr>
          <a:xfrm xmlns:a="http://schemas.openxmlformats.org/drawingml/2006/main">
            <a:off x="8096250" y="2143125"/>
            <a:ext cx="285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650" b="0">
                <a:solidFill>
                  <a:srgbClr val="243B53"/>
                </a:solidFill>
                <a:latin typeface="Helvetica Neue"/>
                <a:ea typeface="Helvetica Neue"/>
                <a:cs typeface="Helvetica Neue"/>
              </a:defRPr>
            </a:defPPr>
          </a:lstStyle>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real</a:t>
            </a:r>
          </a:p>
          <a:p xmlns:a="http://schemas.openxmlformats.org/drawingml/2006/main">
            <a:pPr algn="l">
              <a:defRPr sz="1650" b="0">
                <a:solidFill>
                  <a:srgbClr val="243B53"/>
                </a:solidFill>
                <a:latin typeface="Helvetica Neue"/>
                <a:ea typeface="Helvetica Neue"/>
                <a:cs typeface="Helvetica Neue"/>
              </a:defRPr>
            </a:pPr>
            <a:r>
              <a:rPr sz="1650" b="0">
                <a:solidFill>
                  <a:srgbClr val="243B53"/>
                </a:solidFill>
                <a:latin typeface="Helvetica Neue"/>
                <a:ea typeface="Helvetica Neue"/>
                <a:cs typeface="Helvetica Neue"/>
              </a:rPr>
              <a:t>3 fake</a:t>
            </a:r>
          </a:p>
        </p:txBody>
      </p:sp>
      <p:sp>
        <p:nvSpPr>
          <p:cNvPr id="9" name="">
            <a:extLst xmlns:a="http://schemas.openxmlformats.org/drawingml/2006/main">
              <a:ext uri="{FF2B5EF4-FFF2-40B4-BE49-F238E27FC236}">
                <a16:creationId xmlns:a16="http://schemas.microsoft.com/office/drawing/2014/main" id="{A9E6F3A5-0D6A-48B4-B612-6EAE3DF63E35}"/>
              </a:ext>
            </a:extLst>
          </p:cNvPr>
          <p:cNvSpPr>
            <a:spLocks xmlns:a="http://schemas.openxmlformats.org/drawingml/2006/main" noGrp="1"/>
          </p:cNvSpPr>
          <p:nvPr/>
        </p:nvSpPr>
        <p:spPr>
          <a:xfrm xmlns:a="http://schemas.openxmlformats.org/drawingml/2006/main">
            <a:off x="80962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AUROC change</a:t>
            </a:r>
          </a:p>
        </p:txBody>
      </p:sp>
      <p:sp>
        <p:nvSpPr>
          <p:cNvPr id="10" name="">
            <a:extLst xmlns:a="http://schemas.openxmlformats.org/drawingml/2006/main">
              <a:ext uri="{FF2B5EF4-FFF2-40B4-BE49-F238E27FC236}">
                <a16:creationId xmlns:a16="http://schemas.microsoft.com/office/drawing/2014/main" id="{6ECAB98D-2572-43C3-B87B-3EF36DE28174}"/>
              </a:ext>
            </a:extLst>
          </p:cNvPr>
          <p:cNvSpPr>
            <a:spLocks xmlns:a="http://schemas.openxmlformats.org/drawingml/2006/main" noGrp="1"/>
          </p:cNvSpPr>
          <p:nvPr/>
        </p:nvSpPr>
        <p:spPr>
          <a:xfrm xmlns:a="http://schemas.openxmlformats.org/drawingml/2006/main">
            <a:off x="8096250" y="35909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-0.111</a:t>
            </a:r>
          </a:p>
        </p:txBody>
      </p:sp>
      <p:sp>
        <p:nvSpPr>
          <p:cNvPr id="11" name="">
            <a:extLst xmlns:a="http://schemas.openxmlformats.org/drawingml/2006/main">
              <a:ext uri="{FF2B5EF4-FFF2-40B4-BE49-F238E27FC236}">
                <a16:creationId xmlns:a16="http://schemas.microsoft.com/office/drawing/2014/main" id="{4B5E8D5C-F085-4218-901F-86D394F31126}"/>
              </a:ext>
            </a:extLst>
          </p:cNvPr>
          <p:cNvSpPr>
            <a:spLocks xmlns:a="http://schemas.openxmlformats.org/drawingml/2006/main" noGrp="1"/>
          </p:cNvSpPr>
          <p:nvPr/>
        </p:nvSpPr>
        <p:spPr>
          <a:xfrm xmlns:a="http://schemas.openxmlformats.org/drawingml/2006/main">
            <a:off x="8096250" y="45148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243B53"/>
                </a:solidFill>
                <a:latin typeface="Helvetica Neue"/>
                <a:ea typeface="Helvetica Neue"/>
                <a:cs typeface="Helvetica Neue"/>
              </a:defRPr>
            </a:defPPr>
          </a:lstStyle>
          <a:p xmlns:a="http://schemas.openxmlformats.org/drawingml/2006/main">
            <a:pPr algn="l">
              <a:defRPr sz="1500" b="1">
                <a:solidFill>
                  <a:srgbClr val="243B53"/>
                </a:solidFill>
                <a:latin typeface="Helvetica Neue"/>
                <a:ea typeface="Helvetica Neue"/>
                <a:cs typeface="Helvetica Neue"/>
              </a:defRPr>
            </a:pPr>
            <a:r>
              <a:rPr sz="1500" b="1">
                <a:solidFill>
                  <a:srgbClr val="243B53"/>
                </a:solidFill>
                <a:latin typeface="Helvetica Neue"/>
                <a:ea typeface="Helvetica Neue"/>
                <a:cs typeface="Helvetica Neue"/>
              </a:rPr>
              <a:t>Macro-F1 unchanged</a:t>
            </a:r>
          </a:p>
        </p:txBody>
      </p:sp>
      <p:sp>
        <p:nvSpPr>
          <p:cNvPr id="12" name="">
            <a:extLst xmlns:a="http://schemas.openxmlformats.org/drawingml/2006/main">
              <a:ext uri="{FF2B5EF4-FFF2-40B4-BE49-F238E27FC236}">
                <a16:creationId xmlns:a16="http://schemas.microsoft.com/office/drawing/2014/main" id="{21D2A519-8F90-4969-ABCD-2D95AE71FA76}"/>
              </a:ext>
            </a:extLst>
          </p:cNvPr>
          <p:cNvSpPr>
            <a:spLocks xmlns:a="http://schemas.openxmlformats.org/drawingml/2006/main" noGrp="1"/>
          </p:cNvSpPr>
          <p:nvPr/>
        </p:nvSpPr>
        <p:spPr>
          <a:xfrm xmlns:a="http://schemas.openxmlformats.org/drawingml/2006/main">
            <a:off x="8096250" y="5029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95% bootstrap intervals span most of 0 to 1</a:t>
            </a:r>
          </a:p>
        </p:txBody>
      </p:sp>
      <p:sp>
        <p:nvSpPr>
          <p:cNvPr id="13" name="">
            <a:extLst xmlns:a="http://schemas.openxmlformats.org/drawingml/2006/main">
              <a:ext uri="{FF2B5EF4-FFF2-40B4-BE49-F238E27FC236}">
                <a16:creationId xmlns:a16="http://schemas.microsoft.com/office/drawing/2014/main" id="{05A08FD9-5C4D-4BEC-9104-C3B680899BE9}"/>
              </a:ext>
            </a:extLst>
          </p:cNvPr>
          <p:cNvSpPr>
            <a:spLocks xmlns:a="http://schemas.openxmlformats.org/drawingml/2006/main" noGrp="1"/>
          </p:cNvSpPr>
          <p:nvPr/>
        </p:nvSpPr>
        <p:spPr>
          <a:xfrm xmlns:a="http://schemas.openxmlformats.org/drawingml/2006/main">
            <a:off x="666750" y="58102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050" b="0">
                <a:solidFill>
                  <a:srgbClr val="627D98"/>
                </a:solidFill>
                <a:latin typeface="Helvetica Neue"/>
                <a:ea typeface="Helvetica Neue"/>
                <a:cs typeface="Helvetica Neue"/>
              </a:defRPr>
            </a:defPPr>
          </a:lstStyle>
          <a:p xmlns:a="http://schemas.openxmlformats.org/drawingml/2006/main">
            <a:pPr algn="ctr">
              <a:defRPr sz="1050" b="0">
                <a:solidFill>
                  <a:srgbClr val="627D98"/>
                </a:solidFill>
                <a:latin typeface="Helvetica Neue"/>
                <a:ea typeface="Helvetica Neue"/>
                <a:cs typeface="Helvetica Neue"/>
              </a:defRPr>
            </a:pPr>
            <a:r>
              <a:rPr sz="1050" b="0">
                <a:solidFill>
                  <a:srgbClr val="627D98"/>
                </a:solidFill>
                <a:latin typeface="Helvetica Neue"/>
                <a:ea typeface="Helvetica Neue"/>
                <a:cs typeface="Helvetica Neue"/>
              </a:rPr>
              <a:t>Saved local run shown. Fresh Colab (15 Oct): AUROC 0.556 vs 0.222; the weak proxy still degrades.</a:t>
            </a:r>
          </a:p>
        </p:txBody>
      </p:sp>
    </p:spTree>
    <p:extLst>
      <p:ext uri="{BB962C8B-B14F-4D97-AF65-F5344CB8AC3E}">
        <p14:creationId xmlns:p14="http://schemas.microsoft.com/office/powerpoint/2010/main" val="7444017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35FE3D-71BD-4B39-917D-7404FFDF870D}"/>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Matched phonetic ablation: mixed evidence</a:t>
            </a:r>
          </a:p>
        </p:txBody>
      </p:sp>
      <p:sp>
        <p:nvSpPr>
          <p:cNvPr id="2" name="">
            <a:extLst xmlns:a="http://schemas.openxmlformats.org/drawingml/2006/main">
              <a:ext uri="{FF2B5EF4-FFF2-40B4-BE49-F238E27FC236}">
                <a16:creationId xmlns:a16="http://schemas.microsoft.com/office/drawing/2014/main" id="{EAA23F46-7816-4D3E-B0A1-611CE6D52D61}"/>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41426A6E-E000-4258-9E18-908FB1819A41}"/>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952B957-5BA9-40FC-993C-B132AEE1B5F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004B081F-ACC3-47FA-9ED2-12F2D270A968}"/>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7/11</a:t>
            </a:r>
          </a:p>
        </p:txBody>
      </p:sp>
      <p:graphicFrame>
        <p:nvGraphicFramePr>
          <p:cNvPr id="6" name="Chart">
            <a:extLst xmlns:a="http://schemas.openxmlformats.org/drawingml/2006/main">
              <a:ext uri="{FF2B5EF4-FFF2-40B4-BE49-F238E27FC236}">
                <a16:creationId xmlns:a16="http://schemas.microsoft.com/office/drawing/2014/main" id="{6D26E46F-F43D-4B82-9AA5-35B85C292AE0}"/>
              </a:ext>
            </a:extLst>
          </p:cNvPr>
          <p:cNvGraphicFramePr/>
          <p:nvPr/>
        </p:nvGraphicFramePr>
        <p:xfrm>
          <a:off xmlns:a="http://schemas.openxmlformats.org/drawingml/2006/main" x="52387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163611b32b1345af"/>
          </a:graphicData>
        </a:graphic>
      </p:graphicFrame>
      <p:sp>
        <p:nvSpPr>
          <p:cNvPr id="7" name="">
            <a:extLst xmlns:a="http://schemas.openxmlformats.org/drawingml/2006/main">
              <a:ext uri="{FF2B5EF4-FFF2-40B4-BE49-F238E27FC236}">
                <a16:creationId xmlns:a16="http://schemas.microsoft.com/office/drawing/2014/main" id="{840DFCA1-8067-46C1-9751-0C6D6145F006}"/>
              </a:ext>
            </a:extLst>
          </p:cNvPr>
          <p:cNvSpPr>
            <a:spLocks xmlns:a="http://schemas.openxmlformats.org/drawingml/2006/main" noGrp="1"/>
          </p:cNvSpPr>
          <p:nvPr/>
        </p:nvSpPr>
        <p:spPr>
          <a:xfrm xmlns:a="http://schemas.openxmlformats.org/drawingml/2006/main">
            <a:off x="1476375" y="12382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Known local test split, n = 6</a:t>
            </a:r>
          </a:p>
        </p:txBody>
      </p:sp>
      <p:graphicFrame>
        <p:nvGraphicFramePr>
          <p:cNvPr id="8" name="Chart">
            <a:extLst xmlns:a="http://schemas.openxmlformats.org/drawingml/2006/main">
              <a:ext uri="{FF2B5EF4-FFF2-40B4-BE49-F238E27FC236}">
                <a16:creationId xmlns:a16="http://schemas.microsoft.com/office/drawing/2014/main" id="{A7FF1B1F-2B35-4960-9CA4-9774631C43C7}"/>
              </a:ext>
            </a:extLst>
          </p:cNvPr>
          <p:cNvGraphicFramePr/>
          <p:nvPr/>
        </p:nvGraphicFramePr>
        <p:xfrm>
          <a:off xmlns:a="http://schemas.openxmlformats.org/drawingml/2006/main" x="6334125" y="1428750"/>
          <a:ext xmlns:a="http://schemas.openxmlformats.org/drawingml/2006/main" cx="5286375" cy="3810000"/>
        </p:xfrm>
        <a:graphic xmlns:a="http://schemas.openxmlformats.org/drawingml/2006/main">
          <a:graphicData uri="http://schemas.openxmlformats.org/drawingml/2006/chart">
            <c:chart xmlns:r="http://schemas.openxmlformats.org/officeDocument/2006/relationships" xmlns:c="http://schemas.openxmlformats.org/drawingml/2006/chart" r:id="R369897802be94df4"/>
          </a:graphicData>
        </a:graphic>
      </p:graphicFrame>
      <p:sp>
        <p:nvSpPr>
          <p:cNvPr id="9" name="">
            <a:extLst xmlns:a="http://schemas.openxmlformats.org/drawingml/2006/main">
              <a:ext uri="{FF2B5EF4-FFF2-40B4-BE49-F238E27FC236}">
                <a16:creationId xmlns:a16="http://schemas.microsoft.com/office/drawing/2014/main" id="{2AB3EBF0-B6DD-43D9-AA7C-FBC8614D8BB2}"/>
              </a:ext>
            </a:extLst>
          </p:cNvPr>
          <p:cNvSpPr>
            <a:spLocks xmlns:a="http://schemas.openxmlformats.org/drawingml/2006/main" noGrp="1"/>
          </p:cNvSpPr>
          <p:nvPr/>
        </p:nvSpPr>
        <p:spPr>
          <a:xfrm xmlns:a="http://schemas.openxmlformats.org/drawingml/2006/main">
            <a:off x="6810375" y="1238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350" b="1">
                <a:solidFill>
                  <a:srgbClr val="102A43"/>
                </a:solidFill>
                <a:latin typeface="Helvetica Neue"/>
                <a:ea typeface="Helvetica Neue"/>
                <a:cs typeface="Helvetica Neue"/>
              </a:defRPr>
            </a:defPPr>
          </a:lstStyle>
          <a:p xmlns:a="http://schemas.openxmlformats.org/drawingml/2006/main">
            <a:pPr algn="ctr">
              <a:defRPr sz="1350" b="1">
                <a:solidFill>
                  <a:srgbClr val="102A43"/>
                </a:solidFill>
                <a:latin typeface="Helvetica Neue"/>
                <a:ea typeface="Helvetica Neue"/>
                <a:cs typeface="Helvetica Neue"/>
              </a:defRPr>
            </a:pPr>
            <a:r>
              <a:rPr sz="1350" b="1">
                <a:solidFill>
                  <a:srgbClr val="102A43"/>
                </a:solidFill>
                <a:latin typeface="Helvetica Neue"/>
                <a:ea typeface="Helvetica Neue"/>
                <a:cs typeface="Helvetica Neue"/>
              </a:rPr>
              <a:t>Local: 20 repeated four-fold runs</a:t>
            </a:r>
          </a:p>
        </p:txBody>
      </p:sp>
      <p:sp>
        <p:nvSpPr>
          <p:cNvPr id="10" name="">
            <a:extLst xmlns:a="http://schemas.openxmlformats.org/drawingml/2006/main">
              <a:ext uri="{FF2B5EF4-FFF2-40B4-BE49-F238E27FC236}">
                <a16:creationId xmlns:a16="http://schemas.microsoft.com/office/drawing/2014/main" id="{D2BBAA9E-7483-46E7-905C-066CBF6E488C}"/>
              </a:ext>
            </a:extLst>
          </p:cNvPr>
          <p:cNvSpPr>
            <a:spLocks xmlns:a="http://schemas.openxmlformats.org/drawingml/2006/main" noGrp="1"/>
          </p:cNvSpPr>
          <p:nvPr/>
        </p:nvSpPr>
        <p:spPr>
          <a:xfrm xmlns:a="http://schemas.openxmlformats.org/drawingml/2006/main">
            <a:off x="619125" y="54292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59E9C"/>
                </a:solidFill>
                <a:latin typeface="Helvetica Neue"/>
                <a:ea typeface="Helvetica Neue"/>
                <a:cs typeface="Helvetica Neue"/>
              </a:defRPr>
            </a:defPPr>
          </a:lstStyle>
          <a:p xmlns:a="http://schemas.openxmlformats.org/drawingml/2006/main">
            <a:pPr algn="l">
              <a:defRPr sz="1425" b="1">
                <a:solidFill>
                  <a:srgbClr val="159E9C"/>
                </a:solidFill>
                <a:latin typeface="Helvetica Neue"/>
                <a:ea typeface="Helvetica Neue"/>
                <a:cs typeface="Helvetica Neue"/>
              </a:defRPr>
            </a:pPr>
            <a:r>
              <a:rPr sz="1425" b="1">
                <a:solidFill>
                  <a:srgbClr val="159E9C"/>
                </a:solidFill>
                <a:latin typeface="Helvetica Neue"/>
                <a:ea typeface="Helvetica Neue"/>
                <a:cs typeface="Helvetica Neue"/>
              </a:rPr>
              <a:t>Same 547 events, model and splits</a:t>
            </a:r>
          </a:p>
        </p:txBody>
      </p:sp>
      <p:sp>
        <p:nvSpPr>
          <p:cNvPr id="11" name="">
            <a:extLst xmlns:a="http://schemas.openxmlformats.org/drawingml/2006/main">
              <a:ext uri="{FF2B5EF4-FFF2-40B4-BE49-F238E27FC236}">
                <a16:creationId xmlns:a16="http://schemas.microsoft.com/office/drawing/2014/main" id="{996624E2-498C-4551-A198-7E9A8F7B5E54}"/>
              </a:ext>
            </a:extLst>
          </p:cNvPr>
          <p:cNvSpPr>
            <a:spLocks xmlns:a="http://schemas.openxmlformats.org/drawingml/2006/main" noGrp="1"/>
          </p:cNvSpPr>
          <p:nvPr/>
        </p:nvSpPr>
        <p:spPr>
          <a:xfrm xmlns:a="http://schemas.openxmlformats.org/drawingml/2006/main">
            <a:off x="6191250" y="542925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425" b="1">
                <a:solidFill>
                  <a:srgbClr val="D64545"/>
                </a:solidFill>
                <a:latin typeface="Helvetica Neue"/>
                <a:ea typeface="Helvetica Neue"/>
                <a:cs typeface="Helvetica Neue"/>
              </a:defRPr>
            </a:defPPr>
          </a:lstStyle>
          <a:p xmlns:a="http://schemas.openxmlformats.org/drawingml/2006/main">
            <a:pPr algn="r">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Context effect: +0.013 F1, -0.006 AUROC</a:t>
            </a:r>
          </a:p>
        </p:txBody>
      </p:sp>
      <p:sp>
        <p:nvSpPr>
          <p:cNvPr id="12" name="">
            <a:extLst xmlns:a="http://schemas.openxmlformats.org/drawingml/2006/main">
              <a:ext uri="{FF2B5EF4-FFF2-40B4-BE49-F238E27FC236}">
                <a16:creationId xmlns:a16="http://schemas.microsoft.com/office/drawing/2014/main" id="{28005188-C730-4019-9F0C-BD6F44CD3A54}"/>
              </a:ext>
            </a:extLst>
          </p:cNvPr>
          <p:cNvSpPr>
            <a:spLocks xmlns:a="http://schemas.openxmlformats.org/drawingml/2006/main" noGrp="1"/>
          </p:cNvSpPr>
          <p:nvPr/>
        </p:nvSpPr>
        <p:spPr>
          <a:xfrm xmlns:a="http://schemas.openxmlformats.org/drawingml/2006/main">
            <a:off x="571500" y="5867400"/>
            <a:ext cx="11049000" cy="28575"/>
          </a:xfrm>
          <a:prstGeom xmlns:a="http://schemas.openxmlformats.org/drawingml/2006/main" prst="rect">
            <a:avLst/>
          </a:prstGeom>
          <a:solidFill xmlns:a="http://schemas.openxmlformats.org/drawingml/2006/main">
            <a:srgbClr val="D9E2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A37C85-AA79-41AA-B111-AFB281BF4197}"/>
              </a:ext>
            </a:extLst>
          </p:cNvPr>
          <p:cNvSpPr>
            <a:spLocks xmlns:a="http://schemas.openxmlformats.org/drawingml/2006/main" noGrp="1"/>
          </p:cNvSpPr>
          <p:nvPr/>
        </p:nvSpPr>
        <p:spPr>
          <a:xfrm xmlns:a="http://schemas.openxmlformats.org/drawingml/2006/main">
            <a:off x="952500" y="5953125"/>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275" b="1">
                <a:solidFill>
                  <a:srgbClr val="102A43"/>
                </a:solidFill>
                <a:latin typeface="Helvetica Neue"/>
                <a:ea typeface="Helvetica Neue"/>
                <a:cs typeface="Helvetica Neue"/>
              </a:defRPr>
            </a:defPPr>
          </a:lstStyle>
          <a:p xmlns:a="http://schemas.openxmlformats.org/drawingml/2006/main">
            <a:pPr algn="ctr">
              <a:defRPr sz="1275" b="1">
                <a:solidFill>
                  <a:srgbClr val="102A43"/>
                </a:solidFill>
                <a:latin typeface="Helvetica Neue"/>
                <a:ea typeface="Helvetica Neue"/>
                <a:cs typeface="Helvetica Neue"/>
              </a:defRPr>
            </a:pPr>
            <a:r>
              <a:rPr sz="1275" b="1">
                <a:solidFill>
                  <a:srgbClr val="102A43"/>
                </a:solidFill>
                <a:latin typeface="Helvetica Neue"/>
                <a:ea typeface="Helvetica Neue"/>
                <a:cs typeface="Helvetica Neue"/>
              </a:rPr>
              <a:t>Known split: context F1/AUC 0.829/0.778 vs no-phone 0.625/0.667. Fresh Colab rerun pending.</a:t>
            </a:r>
          </a:p>
        </p:txBody>
      </p:sp>
    </p:spTree>
    <p:extLst>
      <p:ext uri="{BB962C8B-B14F-4D97-AF65-F5344CB8AC3E}">
        <p14:creationId xmlns:p14="http://schemas.microsoft.com/office/powerpoint/2010/main" val="1993889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E59E22A-B702-4293-BB78-43B75ECE4936}"/>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Strategy B: periodic chromatic-injection forensics</a:t>
            </a:r>
          </a:p>
        </p:txBody>
      </p:sp>
      <p:sp>
        <p:nvSpPr>
          <p:cNvPr id="2" name="">
            <a:extLst xmlns:a="http://schemas.openxmlformats.org/drawingml/2006/main">
              <a:ext uri="{FF2B5EF4-FFF2-40B4-BE49-F238E27FC236}">
                <a16:creationId xmlns:a16="http://schemas.microsoft.com/office/drawing/2014/main" id="{F6F8196E-1187-4CAA-9B02-571DBBF1F453}"/>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008ECCF-F5A6-494C-BA60-868F63F4F6B4}"/>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2142C7-18F7-4692-B033-CCE627D56DC1}"/>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C1EC37ED-2896-4B2B-90E9-6615BF3B5E24}"/>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8/11</a:t>
            </a:r>
          </a:p>
        </p:txBody>
      </p:sp>
      <p:sp>
        <p:nvSpPr>
          <p:cNvPr id="6" name="">
            <a:extLst xmlns:a="http://schemas.openxmlformats.org/drawingml/2006/main">
              <a:ext uri="{FF2B5EF4-FFF2-40B4-BE49-F238E27FC236}">
                <a16:creationId xmlns:a16="http://schemas.microsoft.com/office/drawing/2014/main" id="{C3227109-4DC7-4FAC-B8BF-C0C70F1FB9E4}"/>
              </a:ext>
            </a:extLst>
          </p:cNvPr>
          <p:cNvSpPr>
            <a:spLocks xmlns:a="http://schemas.openxmlformats.org/drawingml/2006/main" noGrp="1"/>
          </p:cNvSpPr>
          <p:nvPr/>
        </p:nvSpPr>
        <p:spPr>
          <a:xfrm xmlns:a="http://schemas.openxmlformats.org/drawingml/2006/main">
            <a:off x="666750" y="1476375"/>
            <a:ext cx="2190750" cy="1143000"/>
          </a:xfrm>
          <a:prstGeom xmlns:a="http://schemas.openxmlformats.org/drawingml/2006/main" prst="roundRect">
            <a:avLst>
              <a:gd name="adj" fmla="val 6667"/>
            </a:avLst>
          </a:prstGeom>
          <a:solidFill xmlns:a="http://schemas.openxmlformats.org/drawingml/2006/main">
            <a:srgbClr val="F4F7FB"/>
          </a:solidFill>
          <a:ln xmlns:a="http://schemas.openxmlformats.org/drawingml/2006/main" w="19050">
            <a:solidFill>
              <a:srgbClr val="102A43"/>
            </a:solidFill>
          </a:ln>
        </p:spPr>
      </p:sp>
      <p:sp>
        <p:nvSpPr>
          <p:cNvPr id="7" name="">
            <a:extLst xmlns:a="http://schemas.openxmlformats.org/drawingml/2006/main">
              <a:ext uri="{FF2B5EF4-FFF2-40B4-BE49-F238E27FC236}">
                <a16:creationId xmlns:a16="http://schemas.microsoft.com/office/drawing/2014/main" id="{E2AF0633-62D4-4D5D-96B7-BD155CCA7CDD}"/>
              </a:ext>
            </a:extLst>
          </p:cNvPr>
          <p:cNvSpPr>
            <a:spLocks xmlns:a="http://schemas.openxmlformats.org/drawingml/2006/main" noGrp="1"/>
          </p:cNvSpPr>
          <p:nvPr/>
        </p:nvSpPr>
        <p:spPr>
          <a:xfrm xmlns:a="http://schemas.openxmlformats.org/drawingml/2006/main">
            <a:off x="838200" y="159067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102A43"/>
                </a:solidFill>
                <a:latin typeface="Helvetica Neue"/>
                <a:ea typeface="Helvetica Neue"/>
                <a:cs typeface="Helvetica Neue"/>
              </a:defRPr>
            </a:defPPr>
          </a:lstStyle>
          <a:p xmlns:a="http://schemas.openxmlformats.org/drawingml/2006/main">
            <a:pPr algn="l">
              <a:defRPr sz="1650" b="1">
                <a:solidFill>
                  <a:srgbClr val="102A43"/>
                </a:solidFill>
                <a:latin typeface="Helvetica Neue"/>
                <a:ea typeface="Helvetica Neue"/>
                <a:cs typeface="Helvetica Neue"/>
              </a:defRPr>
            </a:pPr>
            <a:r>
              <a:rPr sz="1650" b="1">
                <a:solidFill>
                  <a:srgbClr val="102A43"/>
                </a:solidFill>
                <a:latin typeface="Helvetica Neue"/>
                <a:ea typeface="Helvetica Neue"/>
                <a:cs typeface="Helvetica Neue"/>
              </a:rPr>
              <a:t>Control</a:t>
            </a:r>
          </a:p>
        </p:txBody>
      </p:sp>
      <p:sp>
        <p:nvSpPr>
          <p:cNvPr id="8" name="">
            <a:extLst xmlns:a="http://schemas.openxmlformats.org/drawingml/2006/main">
              <a:ext uri="{FF2B5EF4-FFF2-40B4-BE49-F238E27FC236}">
                <a16:creationId xmlns:a16="http://schemas.microsoft.com/office/drawing/2014/main" id="{EEA08EA1-19EF-456B-8912-87EBFBF55250}"/>
              </a:ext>
            </a:extLst>
          </p:cNvPr>
          <p:cNvSpPr>
            <a:spLocks xmlns:a="http://schemas.openxmlformats.org/drawingml/2006/main" noGrp="1"/>
          </p:cNvSpPr>
          <p:nvPr/>
        </p:nvSpPr>
        <p:spPr>
          <a:xfrm xmlns:a="http://schemas.openxmlformats.org/drawingml/2006/main">
            <a:off x="838200" y="197167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Original generated video</a:t>
            </a:r>
          </a:p>
        </p:txBody>
      </p:sp>
      <p:sp>
        <p:nvSpPr>
          <p:cNvPr id="9" name="">
            <a:extLst xmlns:a="http://schemas.openxmlformats.org/drawingml/2006/main">
              <a:ext uri="{FF2B5EF4-FFF2-40B4-BE49-F238E27FC236}">
                <a16:creationId xmlns:a16="http://schemas.microsoft.com/office/drawing/2014/main" id="{56827ACB-DB64-4707-ACCE-6666FFCF2F42}"/>
              </a:ext>
            </a:extLst>
          </p:cNvPr>
          <p:cNvSpPr>
            <a:spLocks xmlns:a="http://schemas.openxmlformats.org/drawingml/2006/main" noGrp="1"/>
          </p:cNvSpPr>
          <p:nvPr/>
        </p:nvSpPr>
        <p:spPr>
          <a:xfrm xmlns:a="http://schemas.openxmlformats.org/drawingml/2006/main">
            <a:off x="666750" y="3286125"/>
            <a:ext cx="2190750" cy="1143000"/>
          </a:xfrm>
          <a:prstGeom xmlns:a="http://schemas.openxmlformats.org/drawingml/2006/main" prst="roundRect">
            <a:avLst>
              <a:gd name="adj" fmla="val 6667"/>
            </a:avLst>
          </a:prstGeom>
          <a:solidFill xmlns:a="http://schemas.openxmlformats.org/drawingml/2006/main">
            <a:srgbClr val="FFF2E2"/>
          </a:solidFill>
          <a:ln xmlns:a="http://schemas.openxmlformats.org/drawingml/2006/main" w="19050">
            <a:solidFill>
              <a:srgbClr val="E67E22"/>
            </a:solidFill>
          </a:ln>
        </p:spPr>
      </p:sp>
      <p:sp>
        <p:nvSpPr>
          <p:cNvPr id="10" name="">
            <a:extLst xmlns:a="http://schemas.openxmlformats.org/drawingml/2006/main">
              <a:ext uri="{FF2B5EF4-FFF2-40B4-BE49-F238E27FC236}">
                <a16:creationId xmlns:a16="http://schemas.microsoft.com/office/drawing/2014/main" id="{E84A808B-DCB9-4A83-A751-07D602139630}"/>
              </a:ext>
            </a:extLst>
          </p:cNvPr>
          <p:cNvSpPr>
            <a:spLocks xmlns:a="http://schemas.openxmlformats.org/drawingml/2006/main" noGrp="1"/>
          </p:cNvSpPr>
          <p:nvPr/>
        </p:nvSpPr>
        <p:spPr>
          <a:xfrm xmlns:a="http://schemas.openxmlformats.org/drawingml/2006/main">
            <a:off x="838200" y="3400425"/>
            <a:ext cx="1847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E67E22"/>
                </a:solidFill>
                <a:latin typeface="Helvetica Neue"/>
                <a:ea typeface="Helvetica Neue"/>
                <a:cs typeface="Helvetica Neue"/>
              </a:defRPr>
            </a:defPPr>
          </a:lstStyle>
          <a:p xmlns:a="http://schemas.openxmlformats.org/drawingml/2006/main">
            <a:pPr algn="l">
              <a:defRPr sz="1650" b="1">
                <a:solidFill>
                  <a:srgbClr val="E67E22"/>
                </a:solidFill>
                <a:latin typeface="Helvetica Neue"/>
                <a:ea typeface="Helvetica Neue"/>
                <a:cs typeface="Helvetica Neue"/>
              </a:defRPr>
            </a:pPr>
            <a:r>
              <a:rPr sz="1650" b="1">
                <a:solidFill>
                  <a:srgbClr val="E67E22"/>
                </a:solidFill>
                <a:latin typeface="Helvetica Neue"/>
                <a:ea typeface="Helvetica Neue"/>
                <a:cs typeface="Helvetica Neue"/>
              </a:rPr>
              <a:t>A=1 modified</a:t>
            </a:r>
          </a:p>
        </p:txBody>
      </p:sp>
      <p:sp>
        <p:nvSpPr>
          <p:cNvPr id="11" name="">
            <a:extLst xmlns:a="http://schemas.openxmlformats.org/drawingml/2006/main">
              <a:ext uri="{FF2B5EF4-FFF2-40B4-BE49-F238E27FC236}">
                <a16:creationId xmlns:a16="http://schemas.microsoft.com/office/drawing/2014/main" id="{6711BEBD-9250-4640-8A77-B3A7685AECF8}"/>
              </a:ext>
            </a:extLst>
          </p:cNvPr>
          <p:cNvSpPr>
            <a:spLocks xmlns:a="http://schemas.openxmlformats.org/drawingml/2006/main" noGrp="1"/>
          </p:cNvSpPr>
          <p:nvPr/>
        </p:nvSpPr>
        <p:spPr>
          <a:xfrm xmlns:a="http://schemas.openxmlformats.org/drawingml/2006/main">
            <a:off x="838200" y="3781425"/>
            <a:ext cx="1847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Dark.Mimic periodic colour change</a:t>
            </a:r>
          </a:p>
        </p:txBody>
      </p:sp>
      <p:sp>
        <p:nvSpPr>
          <p:cNvPr id="12" name="">
            <a:extLst xmlns:a="http://schemas.openxmlformats.org/drawingml/2006/main">
              <a:ext uri="{FF2B5EF4-FFF2-40B4-BE49-F238E27FC236}">
                <a16:creationId xmlns:a16="http://schemas.microsoft.com/office/drawing/2014/main" id="{6593D81E-6700-464E-946C-84DA4B5E9433}"/>
              </a:ext>
            </a:extLst>
          </p:cNvPr>
          <p:cNvSpPr>
            <a:spLocks xmlns:a="http://schemas.openxmlformats.org/drawingml/2006/main" noGrp="1"/>
          </p:cNvSpPr>
          <p:nvPr/>
        </p:nvSpPr>
        <p:spPr>
          <a:xfrm xmlns:a="http://schemas.openxmlformats.org/drawingml/2006/main">
            <a:off x="4191000" y="2286000"/>
            <a:ext cx="2952750" cy="1428750"/>
          </a:xfrm>
          <a:prstGeom xmlns:a="http://schemas.openxmlformats.org/drawingml/2006/main" prst="roundRect">
            <a:avLst>
              <a:gd name="adj" fmla="val 5333"/>
            </a:avLst>
          </a:prstGeom>
          <a:solidFill xmlns:a="http://schemas.openxmlformats.org/drawingml/2006/main">
            <a:srgbClr val="FCECEC"/>
          </a:solidFill>
          <a:ln xmlns:a="http://schemas.openxmlformats.org/drawingml/2006/main" w="19050">
            <a:solidFill>
              <a:srgbClr val="D64545"/>
            </a:solidFill>
          </a:ln>
        </p:spPr>
      </p:sp>
      <p:sp>
        <p:nvSpPr>
          <p:cNvPr id="13" name="">
            <a:extLst xmlns:a="http://schemas.openxmlformats.org/drawingml/2006/main">
              <a:ext uri="{FF2B5EF4-FFF2-40B4-BE49-F238E27FC236}">
                <a16:creationId xmlns:a16="http://schemas.microsoft.com/office/drawing/2014/main" id="{D8BF018F-F9CD-4454-A7C6-08B1ED565317}"/>
              </a:ext>
            </a:extLst>
          </p:cNvPr>
          <p:cNvSpPr>
            <a:spLocks xmlns:a="http://schemas.openxmlformats.org/drawingml/2006/main" noGrp="1"/>
          </p:cNvSpPr>
          <p:nvPr/>
        </p:nvSpPr>
        <p:spPr>
          <a:xfrm xmlns:a="http://schemas.openxmlformats.org/drawingml/2006/main">
            <a:off x="4362450" y="240030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D64545"/>
                </a:solidFill>
                <a:latin typeface="Helvetica Neue"/>
                <a:ea typeface="Helvetica Neue"/>
                <a:cs typeface="Helvetica Neue"/>
              </a:defRPr>
            </a:defPPr>
          </a:lstStyle>
          <a:p xmlns:a="http://schemas.openxmlformats.org/drawingml/2006/main">
            <a:pPr algn="l">
              <a:defRPr sz="1650" b="1">
                <a:solidFill>
                  <a:srgbClr val="D64545"/>
                </a:solidFill>
                <a:latin typeface="Helvetica Neue"/>
                <a:ea typeface="Helvetica Neue"/>
                <a:cs typeface="Helvetica Neue"/>
              </a:defRPr>
            </a:pPr>
            <a:r>
              <a:rPr sz="1650" b="1">
                <a:solidFill>
                  <a:srgbClr val="D64545"/>
                </a:solidFill>
                <a:latin typeface="Helvetica Neue"/>
                <a:ea typeface="Helvetica Neue"/>
                <a:cs typeface="Helvetica Neue"/>
              </a:rPr>
              <a:t>Frame-aligned RGB difference</a:t>
            </a:r>
          </a:p>
        </p:txBody>
      </p:sp>
      <p:sp>
        <p:nvSpPr>
          <p:cNvPr id="14" name="">
            <a:extLst xmlns:a="http://schemas.openxmlformats.org/drawingml/2006/main">
              <a:ext uri="{FF2B5EF4-FFF2-40B4-BE49-F238E27FC236}">
                <a16:creationId xmlns:a16="http://schemas.microsoft.com/office/drawing/2014/main" id="{F524106E-A96E-4F88-9A9E-4A35D6A0E84E}"/>
              </a:ext>
            </a:extLst>
          </p:cNvPr>
          <p:cNvSpPr>
            <a:spLocks xmlns:a="http://schemas.openxmlformats.org/drawingml/2006/main" noGrp="1"/>
          </p:cNvSpPr>
          <p:nvPr/>
        </p:nvSpPr>
        <p:spPr>
          <a:xfrm xmlns:a="http://schemas.openxmlformats.org/drawingml/2006/main">
            <a:off x="4362450" y="2781300"/>
            <a:ext cx="2609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Global, forehead and both cheeks</a:t>
            </a:r>
          </a:p>
        </p:txBody>
      </p:sp>
      <p:sp>
        <p:nvSpPr>
          <p:cNvPr id="15" name="">
            <a:extLst xmlns:a="http://schemas.openxmlformats.org/drawingml/2006/main">
              <a:ext uri="{FF2B5EF4-FFF2-40B4-BE49-F238E27FC236}">
                <a16:creationId xmlns:a16="http://schemas.microsoft.com/office/drawing/2014/main" id="{73EAE57A-5282-490D-9BE0-4CEC00131B54}"/>
              </a:ext>
            </a:extLst>
          </p:cNvPr>
          <p:cNvSpPr>
            <a:spLocks xmlns:a="http://schemas.openxmlformats.org/drawingml/2006/main" noGrp="1"/>
          </p:cNvSpPr>
          <p:nvPr/>
        </p:nvSpPr>
        <p:spPr>
          <a:xfrm xmlns:a="http://schemas.openxmlformats.org/drawingml/2006/main">
            <a:off x="8572500" y="2286000"/>
            <a:ext cx="2857500" cy="1428750"/>
          </a:xfrm>
          <a:prstGeom xmlns:a="http://schemas.openxmlformats.org/drawingml/2006/main" prst="roundRect">
            <a:avLst>
              <a:gd name="adj" fmla="val 5333"/>
            </a:avLst>
          </a:prstGeom>
          <a:solidFill xmlns:a="http://schemas.openxmlformats.org/drawingml/2006/main">
            <a:srgbClr val="EAF1FF"/>
          </a:solidFill>
          <a:ln xmlns:a="http://schemas.openxmlformats.org/drawingml/2006/main" w="19050">
            <a:solidFill>
              <a:srgbClr val="2F6BFF"/>
            </a:solidFill>
          </a:ln>
        </p:spPr>
      </p:sp>
      <p:sp>
        <p:nvSpPr>
          <p:cNvPr id="16" name="">
            <a:extLst xmlns:a="http://schemas.openxmlformats.org/drawingml/2006/main">
              <a:ext uri="{FF2B5EF4-FFF2-40B4-BE49-F238E27FC236}">
                <a16:creationId xmlns:a16="http://schemas.microsoft.com/office/drawing/2014/main" id="{6155C2FB-B4D3-4B7A-9DBB-05D221A76991}"/>
              </a:ext>
            </a:extLst>
          </p:cNvPr>
          <p:cNvSpPr>
            <a:spLocks xmlns:a="http://schemas.openxmlformats.org/drawingml/2006/main" noGrp="1"/>
          </p:cNvSpPr>
          <p:nvPr/>
        </p:nvSpPr>
        <p:spPr>
          <a:xfrm xmlns:a="http://schemas.openxmlformats.org/drawingml/2006/main">
            <a:off x="8743950" y="2400300"/>
            <a:ext cx="2514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650" b="1">
                <a:solidFill>
                  <a:srgbClr val="2F6BFF"/>
                </a:solidFill>
                <a:latin typeface="Helvetica Neue"/>
                <a:ea typeface="Helvetica Neue"/>
                <a:cs typeface="Helvetica Neue"/>
              </a:defRPr>
            </a:defPPr>
          </a:lstStyle>
          <a:p xmlns:a="http://schemas.openxmlformats.org/drawingml/2006/main">
            <a:pPr algn="l">
              <a:defRPr sz="1650" b="1">
                <a:solidFill>
                  <a:srgbClr val="2F6BFF"/>
                </a:solidFill>
                <a:latin typeface="Helvetica Neue"/>
                <a:ea typeface="Helvetica Neue"/>
                <a:cs typeface="Helvetica Neue"/>
              </a:defRPr>
            </a:pPr>
            <a:r>
              <a:rPr sz="1650" b="1">
                <a:solidFill>
                  <a:srgbClr val="2F6BFF"/>
                </a:solidFill>
                <a:latin typeface="Helvetica Neue"/>
                <a:ea typeface="Helvetica Neue"/>
                <a:cs typeface="Helvetica Neue"/>
              </a:rPr>
              <a:t>FFT audit</a:t>
            </a:r>
          </a:p>
        </p:txBody>
      </p:sp>
      <p:sp>
        <p:nvSpPr>
          <p:cNvPr id="17" name="">
            <a:extLst xmlns:a="http://schemas.openxmlformats.org/drawingml/2006/main">
              <a:ext uri="{FF2B5EF4-FFF2-40B4-BE49-F238E27FC236}">
                <a16:creationId xmlns:a16="http://schemas.microsoft.com/office/drawing/2014/main" id="{28684CDE-DAE5-4DC9-8282-3D7EF168A2E5}"/>
              </a:ext>
            </a:extLst>
          </p:cNvPr>
          <p:cNvSpPr>
            <a:spLocks xmlns:a="http://schemas.openxmlformats.org/drawingml/2006/main" noGrp="1"/>
          </p:cNvSpPr>
          <p:nvPr/>
        </p:nvSpPr>
        <p:spPr>
          <a:xfrm xmlns:a="http://schemas.openxmlformats.org/drawingml/2006/main">
            <a:off x="8743950" y="2781300"/>
            <a:ext cx="2514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275" b="0">
                <a:solidFill>
                  <a:srgbClr val="243B53"/>
                </a:solidFill>
                <a:latin typeface="Helvetica Neue"/>
                <a:ea typeface="Helvetica Neue"/>
                <a:cs typeface="Helvetica Neue"/>
              </a:defRPr>
            </a:defPPr>
          </a:lstStyle>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 frequency</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Peak-to-median ratio</a:t>
            </a:r>
          </a:p>
          <a:p xmlns:a="http://schemas.openxmlformats.org/drawingml/2006/main">
            <a:pPr algn="l">
              <a:defRPr sz="1275" b="0">
                <a:solidFill>
                  <a:srgbClr val="243B53"/>
                </a:solidFill>
                <a:latin typeface="Helvetica Neue"/>
                <a:ea typeface="Helvetica Neue"/>
                <a:cs typeface="Helvetica Neue"/>
              </a:defRPr>
            </a:pPr>
            <a:r>
              <a:rPr sz="1275" b="0">
                <a:solidFill>
                  <a:srgbClr val="243B53"/>
                </a:solidFill>
                <a:latin typeface="Helvetica Neue"/>
                <a:ea typeface="Helvetica Neue"/>
                <a:cs typeface="Helvetica Neue"/>
              </a:rPr>
              <a:t>Energy near 1.2 Hz</a:t>
            </a:r>
          </a:p>
        </p:txBody>
      </p:sp>
      <p:sp>
        <p:nvSpPr>
          <p:cNvPr id="18" name="">
            <a:extLst xmlns:a="http://schemas.openxmlformats.org/drawingml/2006/main">
              <a:ext uri="{FF2B5EF4-FFF2-40B4-BE49-F238E27FC236}">
                <a16:creationId xmlns:a16="http://schemas.microsoft.com/office/drawing/2014/main" id="{53CF3D3F-05DB-4482-9A69-A697585AA06E}"/>
              </a:ext>
            </a:extLst>
          </p:cNvPr>
          <p:cNvSpPr>
            <a:spLocks xmlns:a="http://schemas.openxmlformats.org/drawingml/2006/main" noGrp="1"/>
          </p:cNvSpPr>
          <p:nvPr/>
        </p:nvSpPr>
        <p:spPr>
          <a:xfrm xmlns:a="http://schemas.openxmlformats.org/drawingml/2006/main">
            <a:off x="2857500" y="2047875"/>
            <a:ext cx="1333500" cy="666750"/>
          </a:xfrm>
          <a:prstGeom xmlns:a="http://schemas.openxmlformats.org/drawingml/2006/main" prst="line">
            <a:avLst/>
          </a:prstGeom>
          <a:noFill xmlns:a="http://schemas.openxmlformats.org/drawingml/2006/main"/>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CB6DBA84-DD25-4164-B32D-D7A187926302}"/>
              </a:ext>
            </a:extLst>
          </p:cNvPr>
          <p:cNvSpPr>
            <a:spLocks xmlns:a="http://schemas.openxmlformats.org/drawingml/2006/main" noGrp="1"/>
          </p:cNvSpPr>
          <p:nvPr/>
        </p:nvSpPr>
        <p:spPr>
          <a:xfrm xmlns:a="http://schemas.openxmlformats.org/drawingml/2006/main">
            <a:off x="2857500" y="3857625"/>
            <a:ext cx="1333500" cy="0"/>
          </a:xfrm>
          <a:prstGeom xmlns:a="http://schemas.openxmlformats.org/drawingml/2006/main" prst="line">
            <a:avLst/>
          </a:prstGeom>
          <a:noFill xmlns:a="http://schemas.openxmlformats.org/drawingml/2006/main"/>
          <a:ln xmlns:a="http://schemas.openxmlformats.org/drawingml/2006/main" w="19050">
            <a:solidFill>
              <a:srgbClr val="E67E22"/>
            </a:solidFill>
          </a:ln>
        </p:spPr>
      </p:sp>
      <p:sp>
        <p:nvSpPr>
          <p:cNvPr id="20" name="">
            <a:extLst xmlns:a="http://schemas.openxmlformats.org/drawingml/2006/main">
              <a:ext uri="{FF2B5EF4-FFF2-40B4-BE49-F238E27FC236}">
                <a16:creationId xmlns:a16="http://schemas.microsoft.com/office/drawing/2014/main" id="{3F23C042-7064-46E6-BB3C-277CBC9CA79A}"/>
              </a:ext>
            </a:extLst>
          </p:cNvPr>
          <p:cNvSpPr>
            <a:spLocks xmlns:a="http://schemas.openxmlformats.org/drawingml/2006/main" noGrp="1"/>
          </p:cNvSpPr>
          <p:nvPr/>
        </p:nvSpPr>
        <p:spPr>
          <a:xfrm xmlns:a="http://schemas.openxmlformats.org/drawingml/2006/main">
            <a:off x="7143750" y="3000375"/>
            <a:ext cx="1428750" cy="0"/>
          </a:xfrm>
          <a:prstGeom xmlns:a="http://schemas.openxmlformats.org/drawingml/2006/main" prst="line">
            <a:avLst/>
          </a:prstGeom>
          <a:noFill xmlns:a="http://schemas.openxmlformats.org/drawingml/2006/main"/>
          <a:ln xmlns:a="http://schemas.openxmlformats.org/drawingml/2006/main" w="19050">
            <a:solidFill>
              <a:srgbClr val="2F6BFF"/>
            </a:solidFill>
          </a:ln>
        </p:spPr>
      </p:sp>
      <p:sp>
        <p:nvSpPr>
          <p:cNvPr id="21" name="">
            <a:extLst xmlns:a="http://schemas.openxmlformats.org/drawingml/2006/main">
              <a:ext uri="{FF2B5EF4-FFF2-40B4-BE49-F238E27FC236}">
                <a16:creationId xmlns:a16="http://schemas.microsoft.com/office/drawing/2014/main" id="{D029C292-38E0-475D-B886-37D2EB22EF16}"/>
              </a:ext>
            </a:extLst>
          </p:cNvPr>
          <p:cNvSpPr>
            <a:spLocks xmlns:a="http://schemas.openxmlformats.org/drawingml/2006/main" noGrp="1"/>
          </p:cNvSpPr>
          <p:nvPr/>
        </p:nvSpPr>
        <p:spPr>
          <a:xfrm xmlns:a="http://schemas.openxmlformats.org/drawingml/2006/main">
            <a:off x="2000250" y="4762500"/>
            <a:ext cx="8001000" cy="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22" name="">
            <a:extLst xmlns:a="http://schemas.openxmlformats.org/drawingml/2006/main">
              <a:ext uri="{FF2B5EF4-FFF2-40B4-BE49-F238E27FC236}">
                <a16:creationId xmlns:a16="http://schemas.microsoft.com/office/drawing/2014/main" id="{C658CD10-C8C2-4280-9E57-DDB368055052}"/>
              </a:ext>
            </a:extLst>
          </p:cNvPr>
          <p:cNvSpPr>
            <a:spLocks xmlns:a="http://schemas.openxmlformats.org/drawingml/2006/main" noGrp="1"/>
          </p:cNvSpPr>
          <p:nvPr/>
        </p:nvSpPr>
        <p:spPr>
          <a:xfrm xmlns:a="http://schemas.openxmlformats.org/drawingml/2006/main">
            <a:off x="666750" y="50958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725" b="1">
                <a:solidFill>
                  <a:srgbClr val="159E9C"/>
                </a:solidFill>
                <a:latin typeface="Helvetica Neue"/>
                <a:ea typeface="Helvetica Neue"/>
                <a:cs typeface="Helvetica Neue"/>
              </a:defRPr>
            </a:defPPr>
          </a:lstStyle>
          <a:p xmlns:a="http://schemas.openxmlformats.org/drawingml/2006/main">
            <a:pPr algn="l">
              <a:defRPr sz="1725" b="1">
                <a:solidFill>
                  <a:srgbClr val="159E9C"/>
                </a:solidFill>
                <a:latin typeface="Helvetica Neue"/>
                <a:ea typeface="Helvetica Neue"/>
                <a:cs typeface="Helvetica Neue"/>
              </a:defRPr>
            </a:pPr>
            <a:r>
              <a:rPr sz="1725" b="1">
                <a:solidFill>
                  <a:srgbClr val="159E9C"/>
                </a:solidFill>
                <a:latin typeface="Helvetica Neue"/>
                <a:ea typeface="Helvetica Neue"/>
                <a:cs typeface="Helvetica Neue"/>
              </a:rPr>
              <a:t>Neutral control</a:t>
            </a:r>
          </a:p>
        </p:txBody>
      </p:sp>
      <p:sp>
        <p:nvSpPr>
          <p:cNvPr id="23" name="">
            <a:extLst xmlns:a="http://schemas.openxmlformats.org/drawingml/2006/main">
              <a:ext uri="{FF2B5EF4-FFF2-40B4-BE49-F238E27FC236}">
                <a16:creationId xmlns:a16="http://schemas.microsoft.com/office/drawing/2014/main" id="{2F7C395F-A210-4E23-814E-9DDD9EAFAD42}"/>
              </a:ext>
            </a:extLst>
          </p:cNvPr>
          <p:cNvSpPr>
            <a:spLocks xmlns:a="http://schemas.openxmlformats.org/drawingml/2006/main" noGrp="1"/>
          </p:cNvSpPr>
          <p:nvPr/>
        </p:nvSpPr>
        <p:spPr>
          <a:xfrm xmlns:a="http://schemas.openxmlformats.org/drawingml/2006/main">
            <a:off x="2857500" y="5010150"/>
            <a:ext cx="819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Re-encode the control with the same codec family and similar bitrate, then apply the identical audit</a:t>
            </a:r>
          </a:p>
        </p:txBody>
      </p:sp>
      <p:sp>
        <p:nvSpPr>
          <p:cNvPr id="24" name="">
            <a:extLst xmlns:a="http://schemas.openxmlformats.org/drawingml/2006/main">
              <a:ext uri="{FF2B5EF4-FFF2-40B4-BE49-F238E27FC236}">
                <a16:creationId xmlns:a16="http://schemas.microsoft.com/office/drawing/2014/main" id="{58180C95-E366-45A9-B342-C9929B93AD3B}"/>
              </a:ext>
            </a:extLst>
          </p:cNvPr>
          <p:cNvSpPr>
            <a:spLocks xmlns:a="http://schemas.openxmlformats.org/drawingml/2006/main" noGrp="1"/>
          </p:cNvSpPr>
          <p:nvPr/>
        </p:nvSpPr>
        <p:spPr>
          <a:xfrm xmlns:a="http://schemas.openxmlformats.org/drawingml/2006/main">
            <a:off x="11430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D64545"/>
                </a:solidFill>
                <a:latin typeface="Helvetica Neue"/>
                <a:ea typeface="Helvetica Neue"/>
                <a:cs typeface="Helvetica Neue"/>
              </a:defRPr>
            </a:defPPr>
          </a:lstStyle>
          <a:p xmlns:a="http://schemas.openxmlformats.org/drawingml/2006/main">
            <a:pPr algn="ctr">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He presents: hash checks, neutral control, spectral and robustness audit</a:t>
            </a:r>
          </a:p>
        </p:txBody>
      </p:sp>
    </p:spTree>
    <p:extLst>
      <p:ext uri="{BB962C8B-B14F-4D97-AF65-F5344CB8AC3E}">
        <p14:creationId xmlns:p14="http://schemas.microsoft.com/office/powerpoint/2010/main" val="12309079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D5EFD32-BF49-4446-9F24-A5B33EFC1E9C}"/>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A=1 pair contains a strong 1.2 Hz colour trace</a:t>
            </a:r>
          </a:p>
        </p:txBody>
      </p:sp>
      <p:sp>
        <p:nvSpPr>
          <p:cNvPr id="2" name="">
            <a:extLst xmlns:a="http://schemas.openxmlformats.org/drawingml/2006/main">
              <a:ext uri="{FF2B5EF4-FFF2-40B4-BE49-F238E27FC236}">
                <a16:creationId xmlns:a16="http://schemas.microsoft.com/office/drawing/2014/main" id="{6AE5D401-0378-4BB1-B200-7329CBB998AB}"/>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839EE95-A61B-4CEC-B581-DF15B2B8EC02}"/>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76CF6A0-62D7-4014-BD10-74D18F8CC1EF}"/>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62C68C27-E022-4FB9-9742-1F238206B583}"/>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9/11</a:t>
            </a:r>
          </a:p>
        </p:txBody>
      </p:sp>
      <p:graphicFrame>
        <p:nvGraphicFramePr>
          <p:cNvPr id="6" name="Chart">
            <a:extLst xmlns:a="http://schemas.openxmlformats.org/drawingml/2006/main">
              <a:ext uri="{FF2B5EF4-FFF2-40B4-BE49-F238E27FC236}">
                <a16:creationId xmlns:a16="http://schemas.microsoft.com/office/drawing/2014/main" id="{5FA87177-7EEB-47E8-8A5B-D482F83F0134}"/>
              </a:ext>
            </a:extLst>
          </p:cNvPr>
          <p:cNvGraphicFramePr/>
          <p:nvPr/>
        </p:nvGraphicFramePr>
        <p:xfrm>
          <a:off xmlns:a="http://schemas.openxmlformats.org/drawingml/2006/main" x="619125" y="1285875"/>
          <a:ext xmlns:a="http://schemas.openxmlformats.org/drawingml/2006/main" cx="6667500" cy="2333625"/>
        </p:xfrm>
        <a:graphic xmlns:a="http://schemas.openxmlformats.org/drawingml/2006/main">
          <a:graphicData uri="http://schemas.openxmlformats.org/drawingml/2006/chart">
            <c:chart xmlns:r="http://schemas.openxmlformats.org/officeDocument/2006/relationships" xmlns:c="http://schemas.openxmlformats.org/drawingml/2006/chart" r:id="R151acbf736614b80"/>
          </a:graphicData>
        </a:graphic>
      </p:graphicFrame>
      <p:graphicFrame>
        <p:nvGraphicFramePr>
          <p:cNvPr id="7" name="Chart">
            <a:extLst xmlns:a="http://schemas.openxmlformats.org/drawingml/2006/main">
              <a:ext uri="{FF2B5EF4-FFF2-40B4-BE49-F238E27FC236}">
                <a16:creationId xmlns:a16="http://schemas.microsoft.com/office/drawing/2014/main" id="{87B71411-F6A4-4A37-8222-1DCE34960F89}"/>
              </a:ext>
            </a:extLst>
          </p:cNvPr>
          <p:cNvGraphicFramePr/>
          <p:nvPr/>
        </p:nvGraphicFramePr>
        <p:xfrm>
          <a:off xmlns:a="http://schemas.openxmlformats.org/drawingml/2006/main" x="619125" y="4000500"/>
          <a:ext xmlns:a="http://schemas.openxmlformats.org/drawingml/2006/main" cx="6667500" cy="2047875"/>
        </p:xfrm>
        <a:graphic xmlns:a="http://schemas.openxmlformats.org/drawingml/2006/main">
          <a:graphicData uri="http://schemas.openxmlformats.org/drawingml/2006/chart">
            <c:chart xmlns:r="http://schemas.openxmlformats.org/officeDocument/2006/relationships" xmlns:c="http://schemas.openxmlformats.org/drawingml/2006/chart" r:id="Rb1e4e895c7a746c9"/>
          </a:graphicData>
        </a:graphic>
      </p:graphicFrame>
      <p:sp>
        <p:nvSpPr>
          <p:cNvPr id="8" name="">
            <a:extLst xmlns:a="http://schemas.openxmlformats.org/drawingml/2006/main">
              <a:ext uri="{FF2B5EF4-FFF2-40B4-BE49-F238E27FC236}">
                <a16:creationId xmlns:a16="http://schemas.microsoft.com/office/drawing/2014/main" id="{8F6A5923-A83D-45F5-8DAD-2A0A4941EEB9}"/>
              </a:ext>
            </a:extLst>
          </p:cNvPr>
          <p:cNvSpPr>
            <a:spLocks xmlns:a="http://schemas.openxmlformats.org/drawingml/2006/main" noGrp="1"/>
          </p:cNvSpPr>
          <p:nvPr/>
        </p:nvSpPr>
        <p:spPr>
          <a:xfrm xmlns:a="http://schemas.openxmlformats.org/drawingml/2006/main">
            <a:off x="7905750" y="1524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Global red peak</a:t>
            </a:r>
          </a:p>
        </p:txBody>
      </p:sp>
      <p:sp>
        <p:nvSpPr>
          <p:cNvPr id="9" name="">
            <a:extLst xmlns:a="http://schemas.openxmlformats.org/drawingml/2006/main">
              <a:ext uri="{FF2B5EF4-FFF2-40B4-BE49-F238E27FC236}">
                <a16:creationId xmlns:a16="http://schemas.microsoft.com/office/drawing/2014/main" id="{970ED8F3-54B7-4155-B711-41DC3AE0D203}"/>
              </a:ext>
            </a:extLst>
          </p:cNvPr>
          <p:cNvSpPr>
            <a:spLocks xmlns:a="http://schemas.openxmlformats.org/drawingml/2006/main" noGrp="1"/>
          </p:cNvSpPr>
          <p:nvPr/>
        </p:nvSpPr>
        <p:spPr>
          <a:xfrm xmlns:a="http://schemas.openxmlformats.org/drawingml/2006/main">
            <a:off x="7905750" y="18764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D64545"/>
                </a:solidFill>
                <a:latin typeface="Helvetica Neue"/>
                <a:ea typeface="Helvetica Neue"/>
                <a:cs typeface="Helvetica Neue"/>
              </a:defRPr>
            </a:defPPr>
          </a:lstStyle>
          <a:p xmlns:a="http://schemas.openxmlformats.org/drawingml/2006/main">
            <a:pPr algn="l">
              <a:defRPr sz="2850" b="1">
                <a:solidFill>
                  <a:srgbClr val="D64545"/>
                </a:solidFill>
                <a:latin typeface="Helvetica Neue"/>
                <a:ea typeface="Helvetica Neue"/>
                <a:cs typeface="Helvetica Neue"/>
              </a:defRPr>
            </a:pPr>
            <a:r>
              <a:rPr sz="2850" b="1">
                <a:solidFill>
                  <a:srgbClr val="D64545"/>
                </a:solidFill>
                <a:latin typeface="Helvetica Neue"/>
                <a:ea typeface="Helvetica Neue"/>
                <a:cs typeface="Helvetica Neue"/>
              </a:rPr>
              <a:t>1.159 Hz</a:t>
            </a:r>
          </a:p>
        </p:txBody>
      </p:sp>
      <p:sp>
        <p:nvSpPr>
          <p:cNvPr id="10" name="">
            <a:extLst xmlns:a="http://schemas.openxmlformats.org/drawingml/2006/main">
              <a:ext uri="{FF2B5EF4-FFF2-40B4-BE49-F238E27FC236}">
                <a16:creationId xmlns:a16="http://schemas.microsoft.com/office/drawing/2014/main" id="{C2663806-DD9E-41DE-BEFE-FCE830F863A2}"/>
              </a:ext>
            </a:extLst>
          </p:cNvPr>
          <p:cNvSpPr>
            <a:spLocks xmlns:a="http://schemas.openxmlformats.org/drawingml/2006/main" noGrp="1"/>
          </p:cNvSpPr>
          <p:nvPr/>
        </p:nvSpPr>
        <p:spPr>
          <a:xfrm xmlns:a="http://schemas.openxmlformats.org/drawingml/2006/main">
            <a:off x="7905750" y="29051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Energy near 1.2 Hz</a:t>
            </a:r>
          </a:p>
        </p:txBody>
      </p:sp>
      <p:sp>
        <p:nvSpPr>
          <p:cNvPr id="11" name="">
            <a:extLst xmlns:a="http://schemas.openxmlformats.org/drawingml/2006/main">
              <a:ext uri="{FF2B5EF4-FFF2-40B4-BE49-F238E27FC236}">
                <a16:creationId xmlns:a16="http://schemas.microsoft.com/office/drawing/2014/main" id="{050490B1-A714-4665-B745-70207F809E4C}"/>
              </a:ext>
            </a:extLst>
          </p:cNvPr>
          <p:cNvSpPr>
            <a:spLocks xmlns:a="http://schemas.openxmlformats.org/drawingml/2006/main" noGrp="1"/>
          </p:cNvSpPr>
          <p:nvPr/>
        </p:nvSpPr>
        <p:spPr>
          <a:xfrm xmlns:a="http://schemas.openxmlformats.org/drawingml/2006/main">
            <a:off x="7905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E67E22"/>
                </a:solidFill>
                <a:latin typeface="Helvetica Neue"/>
                <a:ea typeface="Helvetica Neue"/>
                <a:cs typeface="Helvetica Neue"/>
              </a:defRPr>
            </a:defPPr>
          </a:lstStyle>
          <a:p xmlns:a="http://schemas.openxmlformats.org/drawingml/2006/main">
            <a:pPr algn="l">
              <a:defRPr sz="2700" b="1">
                <a:solidFill>
                  <a:srgbClr val="E67E22"/>
                </a:solidFill>
                <a:latin typeface="Helvetica Neue"/>
                <a:ea typeface="Helvetica Neue"/>
                <a:cs typeface="Helvetica Neue"/>
              </a:defRPr>
            </a:pPr>
            <a:r>
              <a:rPr sz="2700" b="1">
                <a:solidFill>
                  <a:srgbClr val="E67E22"/>
                </a:solidFill>
                <a:latin typeface="Helvetica Neue"/>
                <a:ea typeface="Helvetica Neue"/>
                <a:cs typeface="Helvetica Neue"/>
              </a:rPr>
              <a:t>0.946</a:t>
            </a:r>
          </a:p>
        </p:txBody>
      </p:sp>
      <p:sp>
        <p:nvSpPr>
          <p:cNvPr id="12" name="">
            <a:extLst xmlns:a="http://schemas.openxmlformats.org/drawingml/2006/main">
              <a:ext uri="{FF2B5EF4-FFF2-40B4-BE49-F238E27FC236}">
                <a16:creationId xmlns:a16="http://schemas.microsoft.com/office/drawing/2014/main" id="{DB1C0E27-BFD3-4CC1-88AC-E620C4AB9FFF}"/>
              </a:ext>
            </a:extLst>
          </p:cNvPr>
          <p:cNvSpPr>
            <a:spLocks xmlns:a="http://schemas.openxmlformats.org/drawingml/2006/main" noGrp="1"/>
          </p:cNvSpPr>
          <p:nvPr/>
        </p:nvSpPr>
        <p:spPr>
          <a:xfrm xmlns:a="http://schemas.openxmlformats.org/drawingml/2006/main">
            <a:off x="7905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attack</a:t>
            </a:r>
          </a:p>
        </p:txBody>
      </p:sp>
      <p:sp>
        <p:nvSpPr>
          <p:cNvPr id="13" name="">
            <a:extLst xmlns:a="http://schemas.openxmlformats.org/drawingml/2006/main">
              <a:ext uri="{FF2B5EF4-FFF2-40B4-BE49-F238E27FC236}">
                <a16:creationId xmlns:a16="http://schemas.microsoft.com/office/drawing/2014/main" id="{287A4DEF-062C-408E-B06D-8F56518CD367}"/>
              </a:ext>
            </a:extLst>
          </p:cNvPr>
          <p:cNvSpPr>
            <a:spLocks xmlns:a="http://schemas.openxmlformats.org/drawingml/2006/main" noGrp="1"/>
          </p:cNvSpPr>
          <p:nvPr/>
        </p:nvSpPr>
        <p:spPr>
          <a:xfrm xmlns:a="http://schemas.openxmlformats.org/drawingml/2006/main">
            <a:off x="9810750" y="32575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700" b="1">
                <a:solidFill>
                  <a:srgbClr val="627D98"/>
                </a:solidFill>
                <a:latin typeface="Helvetica Neue"/>
                <a:ea typeface="Helvetica Neue"/>
                <a:cs typeface="Helvetica Neue"/>
              </a:defRPr>
            </a:defPPr>
          </a:lstStyle>
          <a:p xmlns:a="http://schemas.openxmlformats.org/drawingml/2006/main">
            <a:pPr algn="l">
              <a:defRPr sz="2700" b="1">
                <a:solidFill>
                  <a:srgbClr val="627D98"/>
                </a:solidFill>
                <a:latin typeface="Helvetica Neue"/>
                <a:ea typeface="Helvetica Neue"/>
                <a:cs typeface="Helvetica Neue"/>
              </a:defRPr>
            </a:pPr>
            <a:r>
              <a:rPr sz="2700" b="1">
                <a:solidFill>
                  <a:srgbClr val="627D98"/>
                </a:solidFill>
                <a:latin typeface="Helvetica Neue"/>
                <a:ea typeface="Helvetica Neue"/>
                <a:cs typeface="Helvetica Neue"/>
              </a:rPr>
              <a:t>0.204</a:t>
            </a:r>
          </a:p>
        </p:txBody>
      </p:sp>
      <p:sp>
        <p:nvSpPr>
          <p:cNvPr id="14" name="">
            <a:extLst xmlns:a="http://schemas.openxmlformats.org/drawingml/2006/main">
              <a:ext uri="{FF2B5EF4-FFF2-40B4-BE49-F238E27FC236}">
                <a16:creationId xmlns:a16="http://schemas.microsoft.com/office/drawing/2014/main" id="{AF28E45B-D295-4365-B4CF-C7214EEBB0AF}"/>
              </a:ext>
            </a:extLst>
          </p:cNvPr>
          <p:cNvSpPr>
            <a:spLocks xmlns:a="http://schemas.openxmlformats.org/drawingml/2006/main" noGrp="1"/>
          </p:cNvSpPr>
          <p:nvPr/>
        </p:nvSpPr>
        <p:spPr>
          <a:xfrm xmlns:a="http://schemas.openxmlformats.org/drawingml/2006/main">
            <a:off x="9810750" y="37623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neutral</a:t>
            </a:r>
          </a:p>
        </p:txBody>
      </p:sp>
      <p:sp>
        <p:nvSpPr>
          <p:cNvPr id="15" name="">
            <a:extLst xmlns:a="http://schemas.openxmlformats.org/drawingml/2006/main">
              <a:ext uri="{FF2B5EF4-FFF2-40B4-BE49-F238E27FC236}">
                <a16:creationId xmlns:a16="http://schemas.microsoft.com/office/drawing/2014/main" id="{E72A488A-9B35-4CC0-8CFB-C012AA4B1887}"/>
              </a:ext>
            </a:extLst>
          </p:cNvPr>
          <p:cNvSpPr>
            <a:spLocks xmlns:a="http://schemas.openxmlformats.org/drawingml/2006/main" noGrp="1"/>
          </p:cNvSpPr>
          <p:nvPr/>
        </p:nvSpPr>
        <p:spPr>
          <a:xfrm xmlns:a="http://schemas.openxmlformats.org/drawingml/2006/main">
            <a:off x="7905750" y="47148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350" b="0">
                <a:solidFill>
                  <a:srgbClr val="627D98"/>
                </a:solidFill>
                <a:latin typeface="Helvetica Neue"/>
                <a:ea typeface="Helvetica Neue"/>
                <a:cs typeface="Helvetica Neue"/>
              </a:defRPr>
            </a:defPPr>
          </a:lstStyle>
          <a:p xmlns:a="http://schemas.openxmlformats.org/drawingml/2006/main">
            <a:pPr algn="l">
              <a:defRPr sz="1350" b="0">
                <a:solidFill>
                  <a:srgbClr val="627D98"/>
                </a:solidFill>
                <a:latin typeface="Helvetica Neue"/>
                <a:ea typeface="Helvetica Neue"/>
                <a:cs typeface="Helvetica Neue"/>
              </a:defRPr>
            </a:pPr>
            <a:r>
              <a:rPr sz="1350" b="0">
                <a:solidFill>
                  <a:srgbClr val="627D98"/>
                </a:solidFill>
                <a:latin typeface="Helvetica Neue"/>
                <a:ea typeface="Helvetica Neue"/>
                <a:cs typeface="Helvetica Neue"/>
              </a:rPr>
              <a:t>Red ratio</a:t>
            </a:r>
          </a:p>
        </p:txBody>
      </p:sp>
      <p:sp>
        <p:nvSpPr>
          <p:cNvPr id="16" name="">
            <a:extLst xmlns:a="http://schemas.openxmlformats.org/drawingml/2006/main">
              <a:ext uri="{FF2B5EF4-FFF2-40B4-BE49-F238E27FC236}">
                <a16:creationId xmlns:a16="http://schemas.microsoft.com/office/drawing/2014/main" id="{6085E173-DF0A-4B27-822E-5387AFFAAA5E}"/>
              </a:ext>
            </a:extLst>
          </p:cNvPr>
          <p:cNvSpPr>
            <a:spLocks xmlns:a="http://schemas.openxmlformats.org/drawingml/2006/main" noGrp="1"/>
          </p:cNvSpPr>
          <p:nvPr/>
        </p:nvSpPr>
        <p:spPr>
          <a:xfrm xmlns:a="http://schemas.openxmlformats.org/drawingml/2006/main">
            <a:off x="7905750" y="50482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850" b="1">
                <a:solidFill>
                  <a:srgbClr val="102A43"/>
                </a:solidFill>
                <a:latin typeface="Helvetica Neue"/>
                <a:ea typeface="Helvetica Neue"/>
                <a:cs typeface="Helvetica Neue"/>
              </a:defRPr>
            </a:defPPr>
          </a:lstStyle>
          <a:p xmlns:a="http://schemas.openxmlformats.org/drawingml/2006/main">
            <a:pPr algn="l">
              <a:defRPr sz="2850" b="1">
                <a:solidFill>
                  <a:srgbClr val="102A43"/>
                </a:solidFill>
                <a:latin typeface="Helvetica Neue"/>
                <a:ea typeface="Helvetica Neue"/>
                <a:cs typeface="Helvetica Neue"/>
              </a:defRPr>
            </a:pPr>
            <a:r>
              <a:rPr sz="2850" b="1">
                <a:solidFill>
                  <a:srgbClr val="102A43"/>
                </a:solidFill>
                <a:latin typeface="Helvetica Neue"/>
                <a:ea typeface="Helvetica Neue"/>
                <a:cs typeface="Helvetica Neue"/>
              </a:rPr>
              <a:t>4.63×</a:t>
            </a:r>
          </a:p>
        </p:txBody>
      </p:sp>
      <p:sp>
        <p:nvSpPr>
          <p:cNvPr id="17" name="">
            <a:extLst xmlns:a="http://schemas.openxmlformats.org/drawingml/2006/main">
              <a:ext uri="{FF2B5EF4-FFF2-40B4-BE49-F238E27FC236}">
                <a16:creationId xmlns:a16="http://schemas.microsoft.com/office/drawing/2014/main" id="{26A6F7AA-02C5-4E71-A571-8E4ED41A44C6}"/>
              </a:ext>
            </a:extLst>
          </p:cNvPr>
          <p:cNvSpPr>
            <a:spLocks xmlns:a="http://schemas.openxmlformats.org/drawingml/2006/main" noGrp="1"/>
          </p:cNvSpPr>
          <p:nvPr/>
        </p:nvSpPr>
        <p:spPr>
          <a:xfrm xmlns:a="http://schemas.openxmlformats.org/drawingml/2006/main">
            <a:off x="7905750" y="57721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D64545"/>
                </a:solidFill>
                <a:latin typeface="Helvetica Neue"/>
                <a:ea typeface="Helvetica Neue"/>
                <a:cs typeface="Helvetica Neue"/>
              </a:defRPr>
            </a:defPPr>
          </a:lstStyle>
          <a:p xmlns:a="http://schemas.openxmlformats.org/drawingml/2006/main">
            <a:pPr algn="l">
              <a:defRPr sz="1200" b="0">
                <a:solidFill>
                  <a:srgbClr val="D64545"/>
                </a:solidFill>
                <a:latin typeface="Helvetica Neue"/>
                <a:ea typeface="Helvetica Neue"/>
                <a:cs typeface="Helvetica Neue"/>
              </a:defRPr>
            </a:pPr>
            <a:r>
              <a:rPr sz="1200" b="0">
                <a:solidFill>
                  <a:srgbClr val="D64545"/>
                </a:solidFill>
                <a:latin typeface="Helvetica Neue"/>
                <a:ea typeface="Helvetica Neue"/>
                <a:cs typeface="Helvetica Neue"/>
              </a:rPr>
              <a:t>Single aligned pair</a:t>
            </a:r>
          </a:p>
        </p:txBody>
      </p:sp>
    </p:spTree>
    <p:extLst>
      <p:ext uri="{BB962C8B-B14F-4D97-AF65-F5344CB8AC3E}">
        <p14:creationId xmlns:p14="http://schemas.microsoft.com/office/powerpoint/2010/main" val="19118544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2C90715-DAB1-42B1-8DEE-F4BF4C645A93}"/>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The trace survives three post-processing conditions</a:t>
            </a:r>
          </a:p>
        </p:txBody>
      </p:sp>
      <p:sp>
        <p:nvSpPr>
          <p:cNvPr id="2" name="">
            <a:extLst xmlns:a="http://schemas.openxmlformats.org/drawingml/2006/main">
              <a:ext uri="{FF2B5EF4-FFF2-40B4-BE49-F238E27FC236}">
                <a16:creationId xmlns:a16="http://schemas.microsoft.com/office/drawing/2014/main" id="{286F9596-1311-4CFA-9312-448F41774849}"/>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90DD5B4C-C16C-43B7-BA5B-D7986D425119}"/>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4355C4-37A8-4BE7-B759-A4800965D135}"/>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E745E0B0-5FFA-4D0B-B039-7EE7AC7590C0}"/>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10/11</a:t>
            </a:r>
          </a:p>
        </p:txBody>
      </p:sp>
      <p:graphicFrame>
        <p:nvGraphicFramePr>
          <p:cNvPr id="6" name="Chart">
            <a:extLst xmlns:a="http://schemas.openxmlformats.org/drawingml/2006/main">
              <a:ext uri="{FF2B5EF4-FFF2-40B4-BE49-F238E27FC236}">
                <a16:creationId xmlns:a16="http://schemas.microsoft.com/office/drawing/2014/main" id="{274A5295-5E31-429E-8BE2-E5259DA04099}"/>
              </a:ext>
            </a:extLst>
          </p:cNvPr>
          <p:cNvGraphicFramePr/>
          <p:nvPr/>
        </p:nvGraphicFramePr>
        <p:xfrm>
          <a:off xmlns:a="http://schemas.openxmlformats.org/drawingml/2006/main" x="666750" y="1428750"/>
          <a:ext xmlns:a="http://schemas.openxmlformats.org/drawingml/2006/main" cx="8096250" cy="4191000"/>
        </p:xfrm>
        <a:graphic xmlns:a="http://schemas.openxmlformats.org/drawingml/2006/main">
          <a:graphicData uri="http://schemas.openxmlformats.org/drawingml/2006/chart">
            <c:chart xmlns:r="http://schemas.openxmlformats.org/officeDocument/2006/relationships" xmlns:c="http://schemas.openxmlformats.org/drawingml/2006/chart" r:id="R7059ce157fc041b5"/>
          </a:graphicData>
        </a:graphic>
      </p:graphicFrame>
      <p:sp>
        <p:nvSpPr>
          <p:cNvPr id="7" name="">
            <a:extLst xmlns:a="http://schemas.openxmlformats.org/drawingml/2006/main">
              <a:ext uri="{FF2B5EF4-FFF2-40B4-BE49-F238E27FC236}">
                <a16:creationId xmlns:a16="http://schemas.microsoft.com/office/drawing/2014/main" id="{180945C8-1790-47D8-85D7-56EB30DC4DE2}"/>
              </a:ext>
            </a:extLst>
          </p:cNvPr>
          <p:cNvSpPr>
            <a:spLocks xmlns:a="http://schemas.openxmlformats.org/drawingml/2006/main" noGrp="1"/>
          </p:cNvSpPr>
          <p:nvPr/>
        </p:nvSpPr>
        <p:spPr>
          <a:xfrm xmlns:a="http://schemas.openxmlformats.org/drawingml/2006/main">
            <a:off x="9382125" y="157162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425" b="1">
                <a:solidFill>
                  <a:srgbClr val="102A43"/>
                </a:solidFill>
                <a:latin typeface="Helvetica Neue"/>
                <a:ea typeface="Helvetica Neue"/>
                <a:cs typeface="Helvetica Neue"/>
              </a:defRPr>
            </a:defPPr>
          </a:lstStyle>
          <a:p xmlns:a="http://schemas.openxmlformats.org/drawingml/2006/main">
            <a:pPr algn="l">
              <a:defRPr sz="1425" b="1">
                <a:solidFill>
                  <a:srgbClr val="102A43"/>
                </a:solidFill>
                <a:latin typeface="Helvetica Neue"/>
                <a:ea typeface="Helvetica Neue"/>
                <a:cs typeface="Helvetica Neue"/>
              </a:defRPr>
            </a:pPr>
            <a:r>
              <a:rPr sz="1425" b="1">
                <a:solidFill>
                  <a:srgbClr val="102A43"/>
                </a:solidFill>
                <a:latin typeface="Helvetica Neue"/>
                <a:ea typeface="Helvetica Neue"/>
                <a:cs typeface="Helvetica Neue"/>
              </a:rPr>
              <a:t>Attack / neutral</a:t>
            </a:r>
          </a:p>
        </p:txBody>
      </p:sp>
      <p:sp>
        <p:nvSpPr>
          <p:cNvPr id="8" name="">
            <a:extLst xmlns:a="http://schemas.openxmlformats.org/drawingml/2006/main">
              <a:ext uri="{FF2B5EF4-FFF2-40B4-BE49-F238E27FC236}">
                <a16:creationId xmlns:a16="http://schemas.microsoft.com/office/drawing/2014/main" id="{18469AA7-0BEC-4518-B48B-6C3ECA4EB892}"/>
              </a:ext>
            </a:extLst>
          </p:cNvPr>
          <p:cNvSpPr>
            <a:spLocks xmlns:a="http://schemas.openxmlformats.org/drawingml/2006/main" noGrp="1"/>
          </p:cNvSpPr>
          <p:nvPr/>
        </p:nvSpPr>
        <p:spPr>
          <a:xfrm xmlns:a="http://schemas.openxmlformats.org/drawingml/2006/main">
            <a:off x="9382125" y="2095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Original</a:t>
            </a:r>
          </a:p>
        </p:txBody>
      </p:sp>
      <p:sp>
        <p:nvSpPr>
          <p:cNvPr id="9" name="">
            <a:extLst xmlns:a="http://schemas.openxmlformats.org/drawingml/2006/main">
              <a:ext uri="{FF2B5EF4-FFF2-40B4-BE49-F238E27FC236}">
                <a16:creationId xmlns:a16="http://schemas.microsoft.com/office/drawing/2014/main" id="{2CE20088-D732-41D1-8D60-1F0106F8A760}"/>
              </a:ext>
            </a:extLst>
          </p:cNvPr>
          <p:cNvSpPr>
            <a:spLocks xmlns:a="http://schemas.openxmlformats.org/drawingml/2006/main" noGrp="1"/>
          </p:cNvSpPr>
          <p:nvPr/>
        </p:nvSpPr>
        <p:spPr>
          <a:xfrm xmlns:a="http://schemas.openxmlformats.org/drawingml/2006/main">
            <a:off x="9382125" y="23622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4.63×</a:t>
            </a:r>
          </a:p>
        </p:txBody>
      </p:sp>
      <p:sp>
        <p:nvSpPr>
          <p:cNvPr id="10" name="">
            <a:extLst xmlns:a="http://schemas.openxmlformats.org/drawingml/2006/main">
              <a:ext uri="{FF2B5EF4-FFF2-40B4-BE49-F238E27FC236}">
                <a16:creationId xmlns:a16="http://schemas.microsoft.com/office/drawing/2014/main" id="{E81CB5DC-E928-4E59-B44D-296E861B4DED}"/>
              </a:ext>
            </a:extLst>
          </p:cNvPr>
          <p:cNvSpPr>
            <a:spLocks xmlns:a="http://schemas.openxmlformats.org/drawingml/2006/main" noGrp="1"/>
          </p:cNvSpPr>
          <p:nvPr/>
        </p:nvSpPr>
        <p:spPr>
          <a:xfrm xmlns:a="http://schemas.openxmlformats.org/drawingml/2006/main">
            <a:off x="9382125" y="29718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H.264 CRF 35</a:t>
            </a:r>
          </a:p>
        </p:txBody>
      </p:sp>
      <p:sp>
        <p:nvSpPr>
          <p:cNvPr id="11" name="">
            <a:extLst xmlns:a="http://schemas.openxmlformats.org/drawingml/2006/main">
              <a:ext uri="{FF2B5EF4-FFF2-40B4-BE49-F238E27FC236}">
                <a16:creationId xmlns:a16="http://schemas.microsoft.com/office/drawing/2014/main" id="{EE5E1891-1221-49BF-8EE6-82D83BB13235}"/>
              </a:ext>
            </a:extLst>
          </p:cNvPr>
          <p:cNvSpPr>
            <a:spLocks xmlns:a="http://schemas.openxmlformats.org/drawingml/2006/main" noGrp="1"/>
          </p:cNvSpPr>
          <p:nvPr/>
        </p:nvSpPr>
        <p:spPr>
          <a:xfrm xmlns:a="http://schemas.openxmlformats.org/drawingml/2006/main">
            <a:off x="9382125" y="32385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8.45×</a:t>
            </a:r>
          </a:p>
        </p:txBody>
      </p:sp>
      <p:sp>
        <p:nvSpPr>
          <p:cNvPr id="12" name="">
            <a:extLst xmlns:a="http://schemas.openxmlformats.org/drawingml/2006/main">
              <a:ext uri="{FF2B5EF4-FFF2-40B4-BE49-F238E27FC236}">
                <a16:creationId xmlns:a16="http://schemas.microsoft.com/office/drawing/2014/main" id="{A162EB8B-CCE2-4D55-8B11-CC5973B45958}"/>
              </a:ext>
            </a:extLst>
          </p:cNvPr>
          <p:cNvSpPr>
            <a:spLocks xmlns:a="http://schemas.openxmlformats.org/drawingml/2006/main" noGrp="1"/>
          </p:cNvSpPr>
          <p:nvPr/>
        </p:nvSpPr>
        <p:spPr>
          <a:xfrm xmlns:a="http://schemas.openxmlformats.org/drawingml/2006/main">
            <a:off x="9382125" y="38481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256×224</a:t>
            </a:r>
          </a:p>
        </p:txBody>
      </p:sp>
      <p:sp>
        <p:nvSpPr>
          <p:cNvPr id="13" name="">
            <a:extLst xmlns:a="http://schemas.openxmlformats.org/drawingml/2006/main">
              <a:ext uri="{FF2B5EF4-FFF2-40B4-BE49-F238E27FC236}">
                <a16:creationId xmlns:a16="http://schemas.microsoft.com/office/drawing/2014/main" id="{D9AB9D6D-CAA1-4099-989B-9886AC578266}"/>
              </a:ext>
            </a:extLst>
          </p:cNvPr>
          <p:cNvSpPr>
            <a:spLocks xmlns:a="http://schemas.openxmlformats.org/drawingml/2006/main" noGrp="1"/>
          </p:cNvSpPr>
          <p:nvPr/>
        </p:nvSpPr>
        <p:spPr>
          <a:xfrm xmlns:a="http://schemas.openxmlformats.org/drawingml/2006/main">
            <a:off x="9382125" y="41148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6.28×</a:t>
            </a:r>
          </a:p>
        </p:txBody>
      </p:sp>
      <p:sp>
        <p:nvSpPr>
          <p:cNvPr id="14" name="">
            <a:extLst xmlns:a="http://schemas.openxmlformats.org/drawingml/2006/main">
              <a:ext uri="{FF2B5EF4-FFF2-40B4-BE49-F238E27FC236}">
                <a16:creationId xmlns:a16="http://schemas.microsoft.com/office/drawing/2014/main" id="{D4E61723-5611-4B24-8A7A-1A134E45963E}"/>
              </a:ext>
            </a:extLst>
          </p:cNvPr>
          <p:cNvSpPr>
            <a:spLocks xmlns:a="http://schemas.openxmlformats.org/drawingml/2006/main" noGrp="1"/>
          </p:cNvSpPr>
          <p:nvPr/>
        </p:nvSpPr>
        <p:spPr>
          <a:xfrm xmlns:a="http://schemas.openxmlformats.org/drawingml/2006/main">
            <a:off x="9382125" y="47244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200" b="0">
                <a:solidFill>
                  <a:srgbClr val="627D98"/>
                </a:solidFill>
                <a:latin typeface="Helvetica Neue"/>
                <a:ea typeface="Helvetica Neue"/>
                <a:cs typeface="Helvetica Neue"/>
              </a:defRPr>
            </a:defPPr>
          </a:lstStyle>
          <a:p xmlns:a="http://schemas.openxmlformats.org/drawingml/2006/main">
            <a:pPr algn="l">
              <a:defRPr sz="1200" b="0">
                <a:solidFill>
                  <a:srgbClr val="627D98"/>
                </a:solidFill>
                <a:latin typeface="Helvetica Neue"/>
                <a:ea typeface="Helvetica Neue"/>
                <a:cs typeface="Helvetica Neue"/>
              </a:defRPr>
            </a:pPr>
            <a:r>
              <a:rPr sz="1200" b="0">
                <a:solidFill>
                  <a:srgbClr val="627D98"/>
                </a:solidFill>
                <a:latin typeface="Helvetica Neue"/>
                <a:ea typeface="Helvetica Neue"/>
                <a:cs typeface="Helvetica Neue"/>
              </a:rPr>
              <a:t>15 FPS</a:t>
            </a:r>
          </a:p>
        </p:txBody>
      </p:sp>
      <p:sp>
        <p:nvSpPr>
          <p:cNvPr id="15" name="">
            <a:extLst xmlns:a="http://schemas.openxmlformats.org/drawingml/2006/main">
              <a:ext uri="{FF2B5EF4-FFF2-40B4-BE49-F238E27FC236}">
                <a16:creationId xmlns:a16="http://schemas.microsoft.com/office/drawing/2014/main" id="{B8863984-5DB8-492D-943C-425115C2D3D7}"/>
              </a:ext>
            </a:extLst>
          </p:cNvPr>
          <p:cNvSpPr>
            <a:spLocks xmlns:a="http://schemas.openxmlformats.org/drawingml/2006/main" noGrp="1"/>
          </p:cNvSpPr>
          <p:nvPr/>
        </p:nvSpPr>
        <p:spPr>
          <a:xfrm xmlns:a="http://schemas.openxmlformats.org/drawingml/2006/main">
            <a:off x="9382125" y="49911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100" b="1">
                <a:solidFill>
                  <a:srgbClr val="D64545"/>
                </a:solidFill>
                <a:latin typeface="Helvetica Neue"/>
                <a:ea typeface="Helvetica Neue"/>
                <a:cs typeface="Helvetica Neue"/>
              </a:defRPr>
            </a:defPPr>
          </a:lstStyle>
          <a:p xmlns:a="http://schemas.openxmlformats.org/drawingml/2006/main">
            <a:pPr algn="l">
              <a:defRPr sz="2100" b="1">
                <a:solidFill>
                  <a:srgbClr val="D64545"/>
                </a:solidFill>
                <a:latin typeface="Helvetica Neue"/>
                <a:ea typeface="Helvetica Neue"/>
                <a:cs typeface="Helvetica Neue"/>
              </a:defRPr>
            </a:pPr>
            <a:r>
              <a:rPr sz="2100" b="1">
                <a:solidFill>
                  <a:srgbClr val="D64545"/>
                </a:solidFill>
                <a:latin typeface="Helvetica Neue"/>
                <a:ea typeface="Helvetica Neue"/>
                <a:cs typeface="Helvetica Neue"/>
              </a:rPr>
              <a:t>20.86×</a:t>
            </a:r>
          </a:p>
        </p:txBody>
      </p:sp>
      <p:sp>
        <p:nvSpPr>
          <p:cNvPr id="16" name="">
            <a:extLst xmlns:a="http://schemas.openxmlformats.org/drawingml/2006/main">
              <a:ext uri="{FF2B5EF4-FFF2-40B4-BE49-F238E27FC236}">
                <a16:creationId xmlns:a16="http://schemas.microsoft.com/office/drawing/2014/main" id="{130414E3-B5E4-472F-BD69-8E438383CBA1}"/>
              </a:ext>
            </a:extLst>
          </p:cNvPr>
          <p:cNvSpPr>
            <a:spLocks xmlns:a="http://schemas.openxmlformats.org/drawingml/2006/main" noGrp="1"/>
          </p:cNvSpPr>
          <p:nvPr/>
        </p:nvSpPr>
        <p:spPr>
          <a:xfrm xmlns:a="http://schemas.openxmlformats.org/drawingml/2006/main">
            <a:off x="666750" y="59055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Rerun matched the original one-pair result</a:t>
            </a:r>
          </a:p>
        </p:txBody>
      </p:sp>
      <p:sp>
        <p:nvSpPr>
          <p:cNvPr id="17" name="">
            <a:extLst xmlns:a="http://schemas.openxmlformats.org/drawingml/2006/main">
              <a:ext uri="{FF2B5EF4-FFF2-40B4-BE49-F238E27FC236}">
                <a16:creationId xmlns:a16="http://schemas.microsoft.com/office/drawing/2014/main" id="{61A4DC35-3DFD-4BC2-9091-60E7F71D99DB}"/>
              </a:ext>
            </a:extLst>
          </p:cNvPr>
          <p:cNvSpPr>
            <a:spLocks xmlns:a="http://schemas.openxmlformats.org/drawingml/2006/main" noGrp="1"/>
          </p:cNvSpPr>
          <p:nvPr/>
        </p:nvSpPr>
        <p:spPr>
          <a:xfrm xmlns:a="http://schemas.openxmlformats.org/drawingml/2006/main">
            <a:off x="5905500" y="590550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D64545"/>
                </a:solidFill>
                <a:latin typeface="Helvetica Neue"/>
                <a:ea typeface="Helvetica Neue"/>
                <a:cs typeface="Helvetica Neue"/>
              </a:defRPr>
            </a:defPPr>
          </a:lstStyle>
          <a:p xmlns:a="http://schemas.openxmlformats.org/drawingml/2006/main">
            <a:pPr algn="r">
              <a:defRPr sz="1350" b="1">
                <a:solidFill>
                  <a:srgbClr val="D64545"/>
                </a:solidFill>
                <a:latin typeface="Helvetica Neue"/>
                <a:ea typeface="Helvetica Neue"/>
                <a:cs typeface="Helvetica Neue"/>
              </a:defRPr>
            </a:pPr>
            <a:r>
              <a:rPr sz="1350" b="1">
                <a:solidFill>
                  <a:srgbClr val="D64545"/>
                </a:solidFill>
                <a:latin typeface="Helvetica Neue"/>
                <a:ea typeface="Helvetica Neue"/>
                <a:cs typeface="Helvetica Neue"/>
              </a:rPr>
              <a:t>Synthetic periodic light also triggers the metric</a:t>
            </a:r>
          </a:p>
        </p:txBody>
      </p:sp>
    </p:spTree>
    <p:extLst>
      <p:ext uri="{BB962C8B-B14F-4D97-AF65-F5344CB8AC3E}">
        <p14:creationId xmlns:p14="http://schemas.microsoft.com/office/powerpoint/2010/main" val="18757963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8EEFD45-FCC7-416B-B565-C7AE7A6CCE14}"/>
              </a:ext>
            </a:extLst>
          </p:cNvPr>
          <p:cNvSpPr>
            <a:spLocks xmlns:a="http://schemas.openxmlformats.org/drawingml/2006/main" noGrp="1"/>
          </p:cNvSpPr>
          <p:nvPr/>
        </p:nvSpPr>
        <p:spPr>
          <a:xfrm xmlns:a="http://schemas.openxmlformats.org/drawingml/2006/main">
            <a:off x="609600" y="323850"/>
            <a:ext cx="10334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550" b="1">
                <a:solidFill>
                  <a:srgbClr val="102A43"/>
                </a:solidFill>
                <a:latin typeface="Helvetica Neue"/>
                <a:ea typeface="Helvetica Neue"/>
                <a:cs typeface="Helvetica Neue"/>
              </a:defRPr>
            </a:defPPr>
          </a:lstStyle>
          <a:p xmlns:a="http://schemas.openxmlformats.org/drawingml/2006/main">
            <a:pPr algn="l">
              <a:defRPr sz="2550" b="1">
                <a:solidFill>
                  <a:srgbClr val="102A43"/>
                </a:solidFill>
                <a:latin typeface="Helvetica Neue"/>
                <a:ea typeface="Helvetica Neue"/>
                <a:cs typeface="Helvetica Neue"/>
              </a:defRPr>
            </a:pPr>
            <a:r>
              <a:rPr sz="2550" b="1">
                <a:solidFill>
                  <a:srgbClr val="102A43"/>
                </a:solidFill>
                <a:latin typeface="Helvetica Neue"/>
                <a:ea typeface="Helvetica Neue"/>
                <a:cs typeface="Helvetica Neue"/>
              </a:rPr>
              <a:t>What the evidence supports</a:t>
            </a:r>
          </a:p>
        </p:txBody>
      </p:sp>
      <p:sp>
        <p:nvSpPr>
          <p:cNvPr id="2" name="">
            <a:extLst xmlns:a="http://schemas.openxmlformats.org/drawingml/2006/main">
              <a:ext uri="{FF2B5EF4-FFF2-40B4-BE49-F238E27FC236}">
                <a16:creationId xmlns:a16="http://schemas.microsoft.com/office/drawing/2014/main" id="{ABDC06AC-140B-4968-B69E-B55C0D8FADD7}"/>
              </a:ext>
            </a:extLst>
          </p:cNvPr>
          <p:cNvSpPr>
            <a:spLocks xmlns:a="http://schemas.openxmlformats.org/drawingml/2006/main" noGrp="1"/>
          </p:cNvSpPr>
          <p:nvPr/>
        </p:nvSpPr>
        <p:spPr>
          <a:xfrm xmlns:a="http://schemas.openxmlformats.org/drawingml/2006/main">
            <a:off x="11049000" y="37147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1350" b="1">
                <a:solidFill>
                  <a:srgbClr val="2F6BFF"/>
                </a:solidFill>
                <a:latin typeface="Helvetica Neue"/>
                <a:ea typeface="Helvetica Neue"/>
                <a:cs typeface="Helvetica Neue"/>
              </a:defRPr>
            </a:defPPr>
          </a:lstStyle>
          <a:p xmlns:a="http://schemas.openxmlformats.org/drawingml/2006/main">
            <a:pPr algn="r">
              <a:defRPr sz="1350" b="1">
                <a:solidFill>
                  <a:srgbClr val="2F6BFF"/>
                </a:solidFill>
                <a:latin typeface="Helvetica Neue"/>
                <a:ea typeface="Helvetica Neue"/>
                <a:cs typeface="Helvetica Neue"/>
              </a:defRPr>
            </a:pPr>
            <a:r>
              <a:rPr sz="1350" b="1">
                <a:solidFill>
                  <a:srgbClr val="2F6B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B12A5CFA-CDBA-443A-9235-BDF1210F583E}"/>
              </a:ext>
            </a:extLst>
          </p:cNvPr>
          <p:cNvSpPr>
            <a:spLocks xmlns:a="http://schemas.openxmlformats.org/drawingml/2006/main" noGrp="1"/>
          </p:cNvSpPr>
          <p:nvPr/>
        </p:nvSpPr>
        <p:spPr>
          <a:xfrm xmlns:a="http://schemas.openxmlformats.org/drawingml/2006/main">
            <a:off x="609600" y="952500"/>
            <a:ext cx="11010900" cy="38100"/>
          </a:xfrm>
          <a:prstGeom xmlns:a="http://schemas.openxmlformats.org/drawingml/2006/main" prst="rect">
            <a:avLst/>
          </a:prstGeom>
          <a:solidFill xmlns:a="http://schemas.openxmlformats.org/drawingml/2006/main">
            <a:srgbClr val="2F6B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4101F42-44C0-45F2-BB7A-91C1A007907B}"/>
              </a:ext>
            </a:extLst>
          </p:cNvPr>
          <p:cNvSpPr>
            <a:spLocks xmlns:a="http://schemas.openxmlformats.org/drawingml/2006/main" noGrp="1"/>
          </p:cNvSpPr>
          <p:nvPr/>
        </p:nvSpPr>
        <p:spPr>
          <a:xfrm xmlns:a="http://schemas.openxmlformats.org/drawingml/2006/main">
            <a:off x="609600" y="64960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900" b="0">
                <a:solidFill>
                  <a:srgbClr val="627D98"/>
                </a:solidFill>
                <a:latin typeface="Helvetica Neue"/>
                <a:ea typeface="Helvetica Neue"/>
                <a:cs typeface="Helvetica Neue"/>
              </a:defRPr>
            </a:defPPr>
          </a:lstStyle>
          <a:p xmlns:a="http://schemas.openxmlformats.org/drawingml/2006/main">
            <a:pPr algn="l">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Light.Ningyizhuo_No.1  |  FIT5230 Milestone 3</a:t>
            </a:r>
          </a:p>
        </p:txBody>
      </p:sp>
      <p:sp>
        <p:nvSpPr>
          <p:cNvPr id="5" name="">
            <a:extLst xmlns:a="http://schemas.openxmlformats.org/drawingml/2006/main">
              <a:ext uri="{FF2B5EF4-FFF2-40B4-BE49-F238E27FC236}">
                <a16:creationId xmlns:a16="http://schemas.microsoft.com/office/drawing/2014/main" id="{75FC3AB1-3A4B-477F-8CFE-386162D5DF49}"/>
              </a:ext>
            </a:extLst>
          </p:cNvPr>
          <p:cNvSpPr>
            <a:spLocks xmlns:a="http://schemas.openxmlformats.org/drawingml/2006/main" noGrp="1"/>
          </p:cNvSpPr>
          <p:nvPr/>
        </p:nvSpPr>
        <p:spPr>
          <a:xfrm xmlns:a="http://schemas.openxmlformats.org/drawingml/2006/main">
            <a:off x="10191750" y="64960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r">
              <a:defRPr sz="900" b="0">
                <a:solidFill>
                  <a:srgbClr val="627D98"/>
                </a:solidFill>
                <a:latin typeface="Helvetica Neue"/>
                <a:ea typeface="Helvetica Neue"/>
                <a:cs typeface="Helvetica Neue"/>
              </a:defRPr>
            </a:defPPr>
          </a:lstStyle>
          <a:p xmlns:a="http://schemas.openxmlformats.org/drawingml/2006/main">
            <a:pPr algn="r">
              <a:defRPr sz="900" b="0">
                <a:solidFill>
                  <a:srgbClr val="627D98"/>
                </a:solidFill>
                <a:latin typeface="Helvetica Neue"/>
                <a:ea typeface="Helvetica Neue"/>
                <a:cs typeface="Helvetica Neue"/>
              </a:defRPr>
            </a:pPr>
            <a:r>
              <a:rPr sz="900" b="0">
                <a:solidFill>
                  <a:srgbClr val="627D98"/>
                </a:solidFill>
                <a:latin typeface="Helvetica Neue"/>
                <a:ea typeface="Helvetica Neue"/>
                <a:cs typeface="Helvetica Neue"/>
              </a:rPr>
              <a:t>11/11</a:t>
            </a:r>
          </a:p>
        </p:txBody>
      </p:sp>
      <p:sp>
        <p:nvSpPr>
          <p:cNvPr id="6" name="">
            <a:extLst xmlns:a="http://schemas.openxmlformats.org/drawingml/2006/main">
              <a:ext uri="{FF2B5EF4-FFF2-40B4-BE49-F238E27FC236}">
                <a16:creationId xmlns:a16="http://schemas.microsoft.com/office/drawing/2014/main" id="{277625D2-FC49-4623-A007-6813909FAF5F}"/>
              </a:ext>
            </a:extLst>
          </p:cNvPr>
          <p:cNvSpPr>
            <a:spLocks xmlns:a="http://schemas.openxmlformats.org/drawingml/2006/main" noGrp="1"/>
          </p:cNvSpPr>
          <p:nvPr/>
        </p:nvSpPr>
        <p:spPr>
          <a:xfrm xmlns:a="http://schemas.openxmlformats.org/drawingml/2006/main">
            <a:off x="762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159E9C"/>
                </a:solidFill>
                <a:latin typeface="Helvetica Neue"/>
                <a:ea typeface="Helvetica Neue"/>
                <a:cs typeface="Helvetica Neue"/>
              </a:defRPr>
            </a:defPPr>
          </a:lstStyle>
          <a:p xmlns:a="http://schemas.openxmlformats.org/drawingml/2006/main">
            <a:pPr algn="l">
              <a:defRPr sz="2250" b="1">
                <a:solidFill>
                  <a:srgbClr val="159E9C"/>
                </a:solidFill>
                <a:latin typeface="Helvetica Neue"/>
                <a:ea typeface="Helvetica Neue"/>
                <a:cs typeface="Helvetica Neue"/>
              </a:defRPr>
            </a:pPr>
            <a:r>
              <a:rPr sz="2250" b="1">
                <a:solidFill>
                  <a:srgbClr val="159E9C"/>
                </a:solidFill>
                <a:latin typeface="Helvetica Neue"/>
                <a:ea typeface="Helvetica Neue"/>
                <a:cs typeface="Helvetica Neue"/>
              </a:rPr>
              <a:t>Lip channel</a:t>
            </a:r>
          </a:p>
        </p:txBody>
      </p:sp>
      <p:sp>
        <p:nvSpPr>
          <p:cNvPr id="7" name="">
            <a:extLst xmlns:a="http://schemas.openxmlformats.org/drawingml/2006/main">
              <a:ext uri="{FF2B5EF4-FFF2-40B4-BE49-F238E27FC236}">
                <a16:creationId xmlns:a16="http://schemas.microsoft.com/office/drawing/2014/main" id="{741CECAF-ED99-43CF-8F8F-C297289371DF}"/>
              </a:ext>
            </a:extLst>
          </p:cNvPr>
          <p:cNvSpPr>
            <a:spLocks xmlns:a="http://schemas.openxmlformats.org/drawingml/2006/main" noGrp="1"/>
          </p:cNvSpPr>
          <p:nvPr/>
        </p:nvSpPr>
        <p:spPr>
          <a:xfrm xmlns:a="http://schemas.openxmlformats.org/drawingml/2006/main">
            <a:off x="762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Weak context failed; matched ablation remains mixed across folds</a:t>
            </a:r>
          </a:p>
        </p:txBody>
      </p:sp>
      <p:sp>
        <p:nvSpPr>
          <p:cNvPr id="8" name="">
            <a:extLst xmlns:a="http://schemas.openxmlformats.org/drawingml/2006/main">
              <a:ext uri="{FF2B5EF4-FFF2-40B4-BE49-F238E27FC236}">
                <a16:creationId xmlns:a16="http://schemas.microsoft.com/office/drawing/2014/main" id="{A4FA709D-9A70-4DC9-8B83-AD4FF8F666A2}"/>
              </a:ext>
            </a:extLst>
          </p:cNvPr>
          <p:cNvSpPr>
            <a:spLocks xmlns:a="http://schemas.openxmlformats.org/drawingml/2006/main" noGrp="1"/>
          </p:cNvSpPr>
          <p:nvPr/>
        </p:nvSpPr>
        <p:spPr>
          <a:xfrm xmlns:a="http://schemas.openxmlformats.org/drawingml/2006/main">
            <a:off x="762000" y="30956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a reproducible negative result plus a transparent follow-up.</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forced alignment and a fresh matched hold-out set.</a:t>
            </a:r>
          </a:p>
        </p:txBody>
      </p:sp>
      <p:sp>
        <p:nvSpPr>
          <p:cNvPr id="9" name="">
            <a:extLst xmlns:a="http://schemas.openxmlformats.org/drawingml/2006/main">
              <a:ext uri="{FF2B5EF4-FFF2-40B4-BE49-F238E27FC236}">
                <a16:creationId xmlns:a16="http://schemas.microsoft.com/office/drawing/2014/main" id="{E1562DB7-0B12-4EC8-BAA3-878FE9B0E952}"/>
              </a:ext>
            </a:extLst>
          </p:cNvPr>
          <p:cNvSpPr>
            <a:spLocks xmlns:a="http://schemas.openxmlformats.org/drawingml/2006/main" noGrp="1"/>
          </p:cNvSpPr>
          <p:nvPr/>
        </p:nvSpPr>
        <p:spPr>
          <a:xfrm xmlns:a="http://schemas.openxmlformats.org/drawingml/2006/main">
            <a:off x="6096000" y="1428750"/>
            <a:ext cx="0" cy="3333750"/>
          </a:xfrm>
          <a:prstGeom xmlns:a="http://schemas.openxmlformats.org/drawingml/2006/main" prst="line">
            <a:avLst/>
          </a:prstGeom>
          <a:noFill xmlns:a="http://schemas.openxmlformats.org/drawingml/2006/main"/>
          <a:ln xmlns:a="http://schemas.openxmlformats.org/drawingml/2006/main" w="19050">
            <a:solidFill>
              <a:srgbClr val="D9E2EC"/>
            </a:solidFill>
          </a:ln>
        </p:spPr>
      </p:sp>
      <p:sp>
        <p:nvSpPr>
          <p:cNvPr id="10" name="">
            <a:extLst xmlns:a="http://schemas.openxmlformats.org/drawingml/2006/main">
              <a:ext uri="{FF2B5EF4-FFF2-40B4-BE49-F238E27FC236}">
                <a16:creationId xmlns:a16="http://schemas.microsoft.com/office/drawing/2014/main" id="{7989412C-60F9-4E5A-8E0B-437338246131}"/>
              </a:ext>
            </a:extLst>
          </p:cNvPr>
          <p:cNvSpPr>
            <a:spLocks xmlns:a="http://schemas.openxmlformats.org/drawingml/2006/main" noGrp="1"/>
          </p:cNvSpPr>
          <p:nvPr/>
        </p:nvSpPr>
        <p:spPr>
          <a:xfrm xmlns:a="http://schemas.openxmlformats.org/drawingml/2006/main">
            <a:off x="6858000" y="1428750"/>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2250" b="1">
                <a:solidFill>
                  <a:srgbClr val="D64545"/>
                </a:solidFill>
                <a:latin typeface="Helvetica Neue"/>
                <a:ea typeface="Helvetica Neue"/>
                <a:cs typeface="Helvetica Neue"/>
              </a:defRPr>
            </a:defPPr>
          </a:lstStyle>
          <a:p xmlns:a="http://schemas.openxmlformats.org/drawingml/2006/main">
            <a:pPr algn="l">
              <a:defRPr sz="2250" b="1">
                <a:solidFill>
                  <a:srgbClr val="D64545"/>
                </a:solidFill>
                <a:latin typeface="Helvetica Neue"/>
                <a:ea typeface="Helvetica Neue"/>
                <a:cs typeface="Helvetica Neue"/>
              </a:defRPr>
            </a:pPr>
            <a:r>
              <a:rPr sz="2250" b="1">
                <a:solidFill>
                  <a:srgbClr val="D64545"/>
                </a:solidFill>
                <a:latin typeface="Helvetica Neue"/>
                <a:ea typeface="Helvetica Neue"/>
                <a:cs typeface="Helvetica Neue"/>
              </a:rPr>
              <a:t>Chromatic channel</a:t>
            </a:r>
          </a:p>
        </p:txBody>
      </p:sp>
      <p:sp>
        <p:nvSpPr>
          <p:cNvPr id="11" name="">
            <a:extLst xmlns:a="http://schemas.openxmlformats.org/drawingml/2006/main">
              <a:ext uri="{FF2B5EF4-FFF2-40B4-BE49-F238E27FC236}">
                <a16:creationId xmlns:a16="http://schemas.microsoft.com/office/drawing/2014/main" id="{F528A858-F86B-4C8B-B636-502B2FF41490}"/>
              </a:ext>
            </a:extLst>
          </p:cNvPr>
          <p:cNvSpPr>
            <a:spLocks xmlns:a="http://schemas.openxmlformats.org/drawingml/2006/main" noGrp="1"/>
          </p:cNvSpPr>
          <p:nvPr/>
        </p:nvSpPr>
        <p:spPr>
          <a:xfrm xmlns:a="http://schemas.openxmlformats.org/drawingml/2006/main">
            <a:off x="6858000" y="20478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725" b="1">
                <a:solidFill>
                  <a:srgbClr val="102A43"/>
                </a:solidFill>
                <a:latin typeface="Helvetica Neue"/>
                <a:ea typeface="Helvetica Neue"/>
                <a:cs typeface="Helvetica Neue"/>
              </a:defRPr>
            </a:defPPr>
          </a:lstStyle>
          <a:p xmlns:a="http://schemas.openxmlformats.org/drawingml/2006/main">
            <a:pPr algn="l">
              <a:defRPr sz="1725" b="1">
                <a:solidFill>
                  <a:srgbClr val="102A43"/>
                </a:solidFill>
                <a:latin typeface="Helvetica Neue"/>
                <a:ea typeface="Helvetica Neue"/>
                <a:cs typeface="Helvetica Neue"/>
              </a:defRPr>
            </a:pPr>
            <a:r>
              <a:rPr sz="1725" b="1">
                <a:solidFill>
                  <a:srgbClr val="102A43"/>
                </a:solidFill>
                <a:latin typeface="Helvetica Neue"/>
                <a:ea typeface="Helvetica Neue"/>
                <a:cs typeface="Helvetica Neue"/>
              </a:rPr>
              <a:t>A strong 1.2 Hz trace survives three transformations in one pair</a:t>
            </a:r>
          </a:p>
        </p:txBody>
      </p:sp>
      <p:sp>
        <p:nvSpPr>
          <p:cNvPr id="12" name="">
            <a:extLst xmlns:a="http://schemas.openxmlformats.org/drawingml/2006/main">
              <a:ext uri="{FF2B5EF4-FFF2-40B4-BE49-F238E27FC236}">
                <a16:creationId xmlns:a16="http://schemas.microsoft.com/office/drawing/2014/main" id="{3961EB1C-EE1C-4240-93F9-6C6F7C48E7BB}"/>
              </a:ext>
            </a:extLst>
          </p:cNvPr>
          <p:cNvSpPr>
            <a:spLocks xmlns:a="http://schemas.openxmlformats.org/drawingml/2006/main" noGrp="1"/>
          </p:cNvSpPr>
          <p:nvPr/>
        </p:nvSpPr>
        <p:spPr>
          <a:xfrm xmlns:a="http://schemas.openxmlformats.org/drawingml/2006/main">
            <a:off x="6858000" y="3095625"/>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defPPr algn="l">
              <a:defRPr sz="1500" b="0">
                <a:solidFill>
                  <a:srgbClr val="243B53"/>
                </a:solidFill>
                <a:latin typeface="Helvetica Neue"/>
                <a:ea typeface="Helvetica Neue"/>
                <a:cs typeface="Helvetica Neue"/>
              </a:defRPr>
            </a:defPPr>
          </a:lstStyle>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Course result: one attacked pair plus codec and synthetic-light controls.</a:t>
            </a:r>
          </a:p>
          <a:p xmlns:a="http://schemas.openxmlformats.org/drawingml/2006/main">
            <a:pPr algn="l">
              <a:defRPr sz="1500" b="0">
                <a:solidFill>
                  <a:srgbClr val="243B53"/>
                </a:solidFill>
                <a:latin typeface="Helvetica Neue"/>
                <a:ea typeface="Helvetica Neue"/>
                <a:cs typeface="Helvetica Neue"/>
              </a:defRPr>
            </a:pPr>
            <a:r>
              <a:rPr sz="1500" b="0">
                <a:solidFill>
                  <a:srgbClr val="243B53"/>
                </a:solidFill>
                <a:latin typeface="Helvetica Neue"/>
                <a:ea typeface="Helvetica Neue"/>
                <a:cs typeface="Helvetica Neue"/>
              </a:rPr>
              <a:t>Research next step: attack-specific features and natural controls.</a:t>
            </a:r>
          </a:p>
        </p:txBody>
      </p:sp>
      <p:sp>
        <p:nvSpPr>
          <p:cNvPr id="13" name="">
            <a:extLst xmlns:a="http://schemas.openxmlformats.org/drawingml/2006/main">
              <a:ext uri="{FF2B5EF4-FFF2-40B4-BE49-F238E27FC236}">
                <a16:creationId xmlns:a16="http://schemas.microsoft.com/office/drawing/2014/main" id="{45E636B6-E7DC-4181-B5A7-49ADD30D05B6}"/>
              </a:ext>
            </a:extLst>
          </p:cNvPr>
          <p:cNvSpPr>
            <a:spLocks xmlns:a="http://schemas.openxmlformats.org/drawingml/2006/main" noGrp="1"/>
          </p:cNvSpPr>
          <p:nvPr/>
        </p:nvSpPr>
        <p:spPr>
          <a:xfrm xmlns:a="http://schemas.openxmlformats.org/drawingml/2006/main">
            <a:off x="762000" y="5095875"/>
            <a:ext cx="10668000" cy="857250"/>
          </a:xfrm>
          <a:prstGeom xmlns:a="http://schemas.openxmlformats.org/drawingml/2006/main" prst="rect">
            <a:avLst/>
          </a:prstGeom>
          <a:solidFill xmlns:a="http://schemas.openxmlformats.org/drawingml/2006/main">
            <a:srgbClr val="102A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CD937A0-722C-4268-A58A-63D84AB745A8}"/>
              </a:ext>
            </a:extLst>
          </p:cNvPr>
          <p:cNvSpPr>
            <a:spLocks xmlns:a="http://schemas.openxmlformats.org/drawingml/2006/main" noGrp="1"/>
          </p:cNvSpPr>
          <p:nvPr/>
        </p:nvSpPr>
        <p:spPr>
          <a:xfrm xmlns:a="http://schemas.openxmlformats.org/drawingml/2006/main">
            <a:off x="1047750" y="52197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l">
              <a:defRPr sz="1500" b="1">
                <a:solidFill>
                  <a:srgbClr val="159E9C"/>
                </a:solidFill>
                <a:latin typeface="Helvetica Neue"/>
                <a:ea typeface="Helvetica Neue"/>
                <a:cs typeface="Helvetica Neue"/>
              </a:defRPr>
            </a:defPPr>
          </a:lstStyle>
          <a:p xmlns:a="http://schemas.openxmlformats.org/drawingml/2006/main">
            <a:pPr algn="l">
              <a:defRPr sz="1500" b="1">
                <a:solidFill>
                  <a:srgbClr val="159E9C"/>
                </a:solidFill>
                <a:latin typeface="Helvetica Neue"/>
                <a:ea typeface="Helvetica Neue"/>
                <a:cs typeface="Helvetica Neue"/>
              </a:defRPr>
            </a:pPr>
            <a:r>
              <a:rPr sz="1500" b="1">
                <a:solidFill>
                  <a:srgbClr val="159E9C"/>
                </a:solidFill>
                <a:latin typeface="Helvetica Neue"/>
                <a:ea typeface="Helvetica Neue"/>
                <a:cs typeface="Helvetica Neue"/>
              </a:rPr>
              <a:t>Integrated Light response</a:t>
            </a:r>
          </a:p>
        </p:txBody>
      </p:sp>
      <p:sp>
        <p:nvSpPr>
          <p:cNvPr id="15" name="">
            <a:extLst xmlns:a="http://schemas.openxmlformats.org/drawingml/2006/main">
              <a:ext uri="{FF2B5EF4-FFF2-40B4-BE49-F238E27FC236}">
                <a16:creationId xmlns:a16="http://schemas.microsoft.com/office/drawing/2014/main" id="{B5CFE316-3E54-4F23-B7B0-0B61FD72BBDC}"/>
              </a:ext>
            </a:extLst>
          </p:cNvPr>
          <p:cNvSpPr>
            <a:spLocks xmlns:a="http://schemas.openxmlformats.org/drawingml/2006/main" noGrp="1"/>
          </p:cNvSpPr>
          <p:nvPr/>
        </p:nvSpPr>
        <p:spPr>
          <a:xfrm xmlns:a="http://schemas.openxmlformats.org/drawingml/2006/main">
            <a:off x="3905250" y="5191125"/>
            <a:ext cx="709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725" b="1">
                <a:solidFill>
                  <a:srgbClr val="FFFFFF"/>
                </a:solidFill>
                <a:latin typeface="Helvetica Neue"/>
                <a:ea typeface="Helvetica Neue"/>
                <a:cs typeface="Helvetica Neue"/>
              </a:defRPr>
            </a:defPPr>
          </a:lstStyle>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Generation artefacts and evasion artefacts are measured separately, with explicit claim boundaries</a:t>
            </a:r>
          </a:p>
        </p:txBody>
      </p:sp>
      <p:sp>
        <p:nvSpPr>
          <p:cNvPr id="16" name="">
            <a:extLst xmlns:a="http://schemas.openxmlformats.org/drawingml/2006/main">
              <a:ext uri="{FF2B5EF4-FFF2-40B4-BE49-F238E27FC236}">
                <a16:creationId xmlns:a16="http://schemas.microsoft.com/office/drawing/2014/main" id="{047B39B0-308E-47E2-8780-19E93B887F7F}"/>
              </a:ext>
            </a:extLst>
          </p:cNvPr>
          <p:cNvSpPr>
            <a:spLocks xmlns:a="http://schemas.openxmlformats.org/drawingml/2006/main" noGrp="1"/>
          </p:cNvSpPr>
          <p:nvPr/>
        </p:nvSpPr>
        <p:spPr>
          <a:xfrm xmlns:a="http://schemas.openxmlformats.org/drawingml/2006/main">
            <a:off x="2381250" y="60579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lgn="ctr">
              <a:defRPr sz="1425" b="1">
                <a:solidFill>
                  <a:srgbClr val="2F6BFF"/>
                </a:solidFill>
                <a:latin typeface="Helvetica Neue"/>
                <a:ea typeface="Helvetica Neue"/>
                <a:cs typeface="Helvetica Neue"/>
              </a:defRPr>
            </a:defPPr>
          </a:lstStyle>
          <a:p xmlns:a="http://schemas.openxmlformats.org/drawingml/2006/main">
            <a:pPr algn="ctr">
              <a:defRPr sz="1425" b="1">
                <a:solidFill>
                  <a:srgbClr val="2F6BFF"/>
                </a:solidFill>
                <a:latin typeface="Helvetica Neue"/>
                <a:ea typeface="Helvetica Neue"/>
                <a:cs typeface="Helvetica Neue"/>
              </a:defRPr>
            </a:pPr>
            <a:r>
              <a:rPr sz="1425" b="1">
                <a:solidFill>
                  <a:srgbClr val="2F6BFF"/>
                </a:solidFill>
                <a:latin typeface="Helvetica Neue"/>
                <a:ea typeface="Helvetica Neue"/>
                <a:cs typeface="Helvetica Neue"/>
              </a:rPr>
              <a:t>Course pilot complete; independent confirmation remains future work.</a:t>
            </a:r>
          </a:p>
        </p:txBody>
      </p:sp>
    </p:spTree>
    <p:extLst>
      <p:ext uri="{BB962C8B-B14F-4D97-AF65-F5344CB8AC3E}">
        <p14:creationId xmlns:p14="http://schemas.microsoft.com/office/powerpoint/2010/main" val="812952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2026-10-15T17:05:37.9170000Z</dcterms:created>
  <dcterms:modified xsi:type="dcterms:W3CDTF">2026-10-15T17:05:37.9170000Z</dcterms:modified>
</coreProperties>
</file>