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18753fd2d94e77" /><Relationship Type="http://schemas.openxmlformats.org/officeDocument/2006/relationships/extended-properties" Target="/docProps/app.xml" Id="Rb809306d93684d94" /><Relationship Type="http://schemas.openxmlformats.org/officeDocument/2006/relationships/officeDocument" Target="/ppt/presentation.xml" Id="Rd412df06a8e74f2d" /></Relationships>
</file>

<file path=ppt/presentation.xml><?xml version="1.0" encoding="utf-8"?>
<p:presentation xmlns:p="http://schemas.openxmlformats.org/presentationml/2006/main">
  <p:sldMasterIdLst>
    <p:sldMasterId xmlns:r="http://schemas.openxmlformats.org/officeDocument/2006/relationships" id="2147483648" r:id="Rbe1d5980934d4fe4"/>
  </p:sldMasterIdLst>
  <p:notesMasterIdLst>
    <p:notesMasterId xmlns:r="http://schemas.openxmlformats.org/officeDocument/2006/relationships" r:id="R5075fc2d605e4f54"/>
  </p:notesMasterIdLst>
  <p:sldIdLst>
    <p:sldId xmlns:r="http://schemas.openxmlformats.org/officeDocument/2006/relationships" id="256" r:id="R82d3eca1ee40489a"/>
    <p:sldId xmlns:r="http://schemas.openxmlformats.org/officeDocument/2006/relationships" id="257" r:id="R527944fb5cf74d79"/>
    <p:sldId xmlns:r="http://schemas.openxmlformats.org/officeDocument/2006/relationships" id="258" r:id="R57561eaa0fca4d81"/>
    <p:sldId xmlns:r="http://schemas.openxmlformats.org/officeDocument/2006/relationships" id="259" r:id="Ra12494ab623a4053"/>
    <p:sldId xmlns:r="http://schemas.openxmlformats.org/officeDocument/2006/relationships" id="260" r:id="R5293c4c24f2f47bc"/>
    <p:sldId xmlns:r="http://schemas.openxmlformats.org/officeDocument/2006/relationships" id="261" r:id="R2b2380a5a14d466e"/>
    <p:sldId xmlns:r="http://schemas.openxmlformats.org/officeDocument/2006/relationships" id="262" r:id="R6d8e2b45e22a4ade"/>
    <p:sldId xmlns:r="http://schemas.openxmlformats.org/officeDocument/2006/relationships" id="263" r:id="Rd914f504851b4404"/>
    <p:sldId xmlns:r="http://schemas.openxmlformats.org/officeDocument/2006/relationships" id="264" r:id="Rdb8ec15ec3024a79"/>
    <p:sldId xmlns:r="http://schemas.openxmlformats.org/officeDocument/2006/relationships" id="265" r:id="R738dbb00e8b04aa8"/>
    <p:sldId xmlns:r="http://schemas.openxmlformats.org/officeDocument/2006/relationships" id="266" r:id="R69c0d8cc4c5d44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d2f98ecc334e21" /><Relationship Type="http://schemas.openxmlformats.org/officeDocument/2006/relationships/slideMaster" Target="/ppt/slideMasters/slideMaster1.xml" Id="Rbe1d5980934d4fe4" /><Relationship Type="http://schemas.openxmlformats.org/officeDocument/2006/relationships/notesMaster" Target="/ppt/notesMasters/notesMaster1.xml" Id="R5075fc2d605e4f54" /><Relationship Type="http://schemas.openxmlformats.org/officeDocument/2006/relationships/presProps" Target="/ppt/presProps.xml" Id="R258ce1f3c668493a" /><Relationship Type="http://schemas.openxmlformats.org/officeDocument/2006/relationships/tableStyles" Target="/ppt/tableStyles.xml" Id="R2999dcffe87f4797" /><Relationship Type="http://schemas.openxmlformats.org/officeDocument/2006/relationships/slide" Target="/ppt/slides/slide1.xml" Id="R82d3eca1ee40489a" /><Relationship Type="http://schemas.openxmlformats.org/officeDocument/2006/relationships/slide" Target="/ppt/slides/slide2.xml" Id="R527944fb5cf74d79" /><Relationship Type="http://schemas.openxmlformats.org/officeDocument/2006/relationships/slide" Target="/ppt/slides/slide3.xml" Id="R57561eaa0fca4d81" /><Relationship Type="http://schemas.openxmlformats.org/officeDocument/2006/relationships/slide" Target="/ppt/slides/slide4.xml" Id="Ra12494ab623a4053" /><Relationship Type="http://schemas.openxmlformats.org/officeDocument/2006/relationships/slide" Target="/ppt/slides/slide5.xml" Id="R5293c4c24f2f47bc" /><Relationship Type="http://schemas.openxmlformats.org/officeDocument/2006/relationships/slide" Target="/ppt/slides/slide6.xml" Id="R2b2380a5a14d466e" /><Relationship Type="http://schemas.openxmlformats.org/officeDocument/2006/relationships/slide" Target="/ppt/slides/slide7.xml" Id="R6d8e2b45e22a4ade" /><Relationship Type="http://schemas.openxmlformats.org/officeDocument/2006/relationships/slide" Target="/ppt/slides/slide8.xml" Id="Rd914f504851b4404" /><Relationship Type="http://schemas.openxmlformats.org/officeDocument/2006/relationships/slide" Target="/ppt/slides/slide9.xml" Id="Rdb8ec15ec3024a79" /><Relationship Type="http://schemas.openxmlformats.org/officeDocument/2006/relationships/slide" Target="/ppt/slides/slide10.xml" Id="R738dbb00e8b04aa8" /><Relationship Type="http://schemas.openxmlformats.org/officeDocument/2006/relationships/slide" Target="/ppt/slides/slide11.xml" Id="R69c0d8cc4c5d44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27b0bfbdf548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61d91c935648dd" /><Relationship Type="http://schemas.openxmlformats.org/officeDocument/2006/relationships/notesMaster" Target="/ppt/notesMasters/notesMaster1.xml" Id="Rb31d5c84d35b4f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92b602c0594e73" /><Relationship Type="http://schemas.openxmlformats.org/officeDocument/2006/relationships/notesMaster" Target="/ppt/notesMasters/notesMaster1.xml" Id="R20cda63a212d4b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0d0b36080c4344" /><Relationship Type="http://schemas.openxmlformats.org/officeDocument/2006/relationships/notesMaster" Target="/ppt/notesMasters/notesMaster1.xml" Id="Ra42d631d379e45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ba16d3b95a469a" /><Relationship Type="http://schemas.openxmlformats.org/officeDocument/2006/relationships/notesMaster" Target="/ppt/notesMasters/notesMaster1.xml" Id="Rf79cc9520ef64c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b51cd47549406f" /><Relationship Type="http://schemas.openxmlformats.org/officeDocument/2006/relationships/notesMaster" Target="/ppt/notesMasters/notesMaster1.xml" Id="R331fe04674d640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5f262b10184057" /><Relationship Type="http://schemas.openxmlformats.org/officeDocument/2006/relationships/notesMaster" Target="/ppt/notesMasters/notesMaster1.xml" Id="Rdc99206ca55f42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5d35f5a5374f22" /><Relationship Type="http://schemas.openxmlformats.org/officeDocument/2006/relationships/notesMaster" Target="/ppt/notesMasters/notesMaster1.xml" Id="R105d2a7dc65747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f148b2ce62433a" /><Relationship Type="http://schemas.openxmlformats.org/officeDocument/2006/relationships/notesMaster" Target="/ppt/notesMasters/notesMaster1.xml" Id="R043626ae759a47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4e8bea4aa14e73" /><Relationship Type="http://schemas.openxmlformats.org/officeDocument/2006/relationships/notesMaster" Target="/ppt/notesMasters/notesMaster1.xml" Id="R0b6c1e16b73d40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7efd28d7e84a84" /><Relationship Type="http://schemas.openxmlformats.org/officeDocument/2006/relationships/notesMaster" Target="/ppt/notesMasters/notesMaster1.xml" Id="Rae466716a34046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00611fe3894258" /><Relationship Type="http://schemas.openxmlformats.org/officeDocument/2006/relationships/notesMaster" Target="/ppt/notesMasters/notesMaster1.xml" Id="R0d5463c9678641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30 seconds. We are Light.Ningyizhuo.No.1. Our question is whether a speech-to-face fake that passes a physiological detector still leaves evidence in mouth motion or in the manipulation used to repair physiological signals. We test those two channels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75 seconds. At Milestone 2, we had reproducible code, synthetic checks and public-video preprocessing, but no real classifier experiment. For Milestone 3 we added a 24-clip public pilot, actual held-out evaluation, weak phonetic alignment, a peer-pair forensic analyser, a neutral codec control and post-processing tests. All 24 clips passed landmark extraction and 32 tests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75 seconds. The first branch extracts lip geometry and compares a context-free model with a weak context model. The second branch compares aligned RGB signals from the Dark.Mimic control and modified video. We report each branch separately because one peer pair cannot calibrate a valid fusion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two minutes. Dark.Mimic aims to inject a more realistic periodic physiological signal into a generated talking face so that an rPPG detector is less likely to reject it. They gave us an aligned control and A=1 modified video. Our earlier paired analysis found identical audio and almost unchanged mouth geometry. That motivates a new forensic question: does the injected signal create an unusually periodic colour trace? The raw peer files remain private. Source: peer exchange package and reports/peer_dark_mimic.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90 seconds. My strategy tests context-conditioned lip dynamics. The context-free model summarizes aperture, width and their time derivatives over a clip. The context version adds before, during and after statistics around one central vowel, conditioned on neighbouring phonetic classes. Both models use the same clips and fixed threshold. Whisper word timestamps plus CMUdict give a weak proxy. I do not call it forced alignment. Public sources: Wikitongues English videos and TalkingHeadBench Hallo/LivePortrait.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On six held-out clips, the saved reference run gave macro-F1 0.486 for both models and AUROC 0.667 versus 0.556. A fresh Colab CPU rerun gave the same macro-F1 and AUROC 0.556 versus 0.444. The AUROC change remained minus 0.111. Five thousand paired stratified bootstrap resamples give wide intervals because the test set contains only three real and three fake clips. The correct conclusion is that this weak context implementation does not improve the pilot. Sources: artifacts/m3_results/test_metrics_with_bootstrap.csv and reports/M3_COLAB_VERIFICATION.md.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This negative result identifies concrete limits. Uniform phone placement is not accurate alignment. One interval per clip discards most speech. Real and fake clips come from different collections, which introduces domain cues. The next research version needs forced alignment, many intervals per clip and matched real/fake sources. The context-free model remains our safe course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90 seconds. My strategy subtracts control RGB values from the modified video, then measures spectral energy near the peer-reported 1.2 Hz. I use the full frame, forehead and cheek regions. A neutral re-encode of the control estimates how much periodic energy an ordinary codec change creates. This is a paired forensic audit. It does not estimate a pulse waveform and it does not decide whether an arbitrary video is real or fake.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In the original pair, the global red-channel peak is 1.159 Hz. Energy near 1.2 Hz is 0.946 for A=1 and 0.204 for neutral re-encoding, a ratio of 4.63. The green-channel ratio is 8.48. The time-domain trace shows a clear periodic pattern. This evidence applies to one aligned pair only. Source: outputs/m3_work/dark_mimic_attack and artifacts/m3_results/attack_vs_neutral.csv.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The red-channel attack-to-neutral ratio remains above one after all three transformations: 8.45 under H.264 CRF 35, 6.28 after resizing to 256 by 224, and 20.86 at 15 FPS. This is promising forensic evidence for this pair. It is not a general accuracy result because we have only one identity and require an aligned control. Source: artifacts/m3_results/robustness_summary.csv.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45 seconds, then Yan closes for 15 seconds. The lip branch tests residual S2F generation inconsistencies. The colour branch tests traces introduced by the attempted physiological evasion. Our small context experiment is negative, while the peer-pair chromatic result is strong but narrow. Yan: For the course project, we have an executable, reproducible two-strategy evaluation with clear claim boundaries. For a paper, the next step is a matched multi-generator dataset with forced alignment and many attacked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ade25da38d4e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9ac5e27de944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91b11f639f4d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610b0473374f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08516bfe364b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0cc2f015bc4c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AB0776-C2F8-4370-9F7F-BACF80DBAC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884644-F796-44B8-9AEE-8AF5189E500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AC132E7-4B01-452E-942B-86616E85FA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2F8733-8A48-4E56-A0B9-12007576D1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70B4A5-A702-4B3F-BB47-12B84482C0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452F54A-4269-4A80-8381-B59BDDAEAA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B68AC5-442C-4ECB-9960-EA2D85241C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2B05C1-9F14-4D76-9355-F0CF3CAD122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37E662-3AEF-4A99-86D5-89E4CAC75E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3409EE-D28A-4392-AEBF-BB94F0F40E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3f33dd6255436d" /><Relationship Type="http://schemas.openxmlformats.org/officeDocument/2006/relationships/slideLayout" Target="/ppt/slideLayouts/slideLayout1.xml" Id="Rc429333f0e0f4017" /><Relationship Type="http://schemas.openxmlformats.org/officeDocument/2006/relationships/slideLayout" Target="/ppt/slideLayouts/slideLayout2.xml" Id="R69538f462c5c4d23" /><Relationship Type="http://schemas.openxmlformats.org/officeDocument/2006/relationships/slideLayout" Target="/ppt/slideLayouts/slideLayout3.xml" Id="R889f0777c2ad4a65" /><Relationship Type="http://schemas.openxmlformats.org/officeDocument/2006/relationships/slideLayout" Target="/ppt/slideLayouts/slideLayout4.xml" Id="Ra50b8adbd2344acb" /><Relationship Type="http://schemas.openxmlformats.org/officeDocument/2006/relationships/slideLayout" Target="/ppt/slideLayouts/slideLayout5.xml" Id="R19e2c42ed1444cc0" /><Relationship Type="http://schemas.openxmlformats.org/officeDocument/2006/relationships/slideLayout" Target="/ppt/slideLayouts/slideLayout6.xml" Id="R472b47329e384e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29333f0e0f4017"/>
    <p:sldLayoutId xmlns:r="http://schemas.openxmlformats.org/officeDocument/2006/relationships" id="2147483650" r:id="R69538f462c5c4d23"/>
    <p:sldLayoutId xmlns:r="http://schemas.openxmlformats.org/officeDocument/2006/relationships" id="2147483651" r:id="R889f0777c2ad4a65"/>
    <p:sldLayoutId xmlns:r="http://schemas.openxmlformats.org/officeDocument/2006/relationships" id="2147483652" r:id="Ra50b8adbd2344acb"/>
    <p:sldLayoutId xmlns:r="http://schemas.openxmlformats.org/officeDocument/2006/relationships" id="2147483653" r:id="R19e2c42ed1444cc0"/>
    <p:sldLayoutId xmlns:r="http://schemas.openxmlformats.org/officeDocument/2006/relationships" id="2147483654" r:id="R472b47329e384e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d2b265e661450d" /><Relationship Type="http://schemas.openxmlformats.org/officeDocument/2006/relationships/notesSlide" Target="/ppt/notesSlides/notesSlide1.xml" Id="Rbfcccd9ba5bb4e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6c1192f7e04778" /><Relationship Type="http://schemas.openxmlformats.org/officeDocument/2006/relationships/notesSlide" Target="/ppt/notesSlides/notesSlide2.xml" Id="R01b910d42c1a4e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61c34112084ec0" /><Relationship Type="http://schemas.openxmlformats.org/officeDocument/2006/relationships/notesSlide" Target="/ppt/notesSlides/notesSlide3.xml" Id="R579ad6b49ca34e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56ad11644940fe" /><Relationship Type="http://schemas.openxmlformats.org/officeDocument/2006/relationships/notesSlide" Target="/ppt/notesSlides/notesSlide4.xml" Id="R61abb3e2063d4a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e11614536649c9" /><Relationship Type="http://schemas.openxmlformats.org/officeDocument/2006/relationships/notesSlide" Target="/ppt/notesSlides/notesSlide5.xml" Id="Rce075613324548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46171f3bc1947a3" /><Relationship Type="http://schemas.openxmlformats.org/officeDocument/2006/relationships/chart" Target="/ppt/slides/charts/chart1.xml" Id="R2486b2d6f5a94aca" /><Relationship Type="http://schemas.openxmlformats.org/officeDocument/2006/relationships/notesSlide" Target="/ppt/notesSlides/notesSlide6.xml" Id="Re703a8182a4a43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7770f2081f41ae" /><Relationship Type="http://schemas.openxmlformats.org/officeDocument/2006/relationships/notesSlide" Target="/ppt/notesSlides/notesSlide7.xml" Id="R26adbe583d4d41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49f8a83f5ec47f0" /><Relationship Type="http://schemas.openxmlformats.org/officeDocument/2006/relationships/notesSlide" Target="/ppt/notesSlides/notesSlide8.xml" Id="R0647a03dc68f4f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b3de5af68c40a8" /><Relationship Type="http://schemas.openxmlformats.org/officeDocument/2006/relationships/chart" Target="/ppt/slides/charts/chart2.xml" Id="Ra0080620088841aa" /><Relationship Type="http://schemas.openxmlformats.org/officeDocument/2006/relationships/chart" Target="/ppt/slides/charts/chart3.xml" Id="Rdc9df921de234a53" /><Relationship Type="http://schemas.openxmlformats.org/officeDocument/2006/relationships/notesSlide" Target="/ppt/notesSlides/notesSlide9.xml" Id="Rd12253cbe1784a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1b5f64243f44c0e" /><Relationship Type="http://schemas.openxmlformats.org/officeDocument/2006/relationships/chart" Target="/ppt/slides/charts/chart4.xml" Id="R26b23b28484a4688" /><Relationship Type="http://schemas.openxmlformats.org/officeDocument/2006/relationships/notesSlide" Target="/ppt/notesSlides/notesSlide10.xml" Id="R89c1fff5434843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dae8f4bebaa4866" /><Relationship Type="http://schemas.openxmlformats.org/officeDocument/2006/relationships/notesSlide" Target="/ppt/notesSlides/notesSlide11.xml" Id="Ra8235c9422194ddf" /></Relationships>
</file>

<file path=ppt/slides/charts/chart1.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cat>
            <c:strLit>
              <c:ptCount val="2"/>
              <c:pt idx="0">
                <c:v>Macro-F1</c:v>
              </c:pt>
              <c:pt idx="1">
                <c:v>AUROC</c:v>
              </c:pt>
            </c:strLit>
          </c:cat>
          <c:val>
            <c:numLit>
              <c:formatCode>0.0</c:formatCode>
              <c:ptCount val="2"/>
              <c:pt idx="0">
                <c:v>0.485714</c:v>
              </c:pt>
              <c:pt idx="1">
                <c:v>0.666667</c:v>
              </c:pt>
            </c:numLit>
          </c:val>
        </c:ser>
        <c:ser>
          <c:idx val="1"/>
          <c:order val="1"/>
          <c:tx>
            <c:v>Weak context</c:v>
          </c:tx>
          <c:spPr>
            <a:solidFill xmlns:a="http://schemas.openxmlformats.org/drawingml/2006/main">
              <a:srgbClr val="D64545"/>
            </a:solidFill>
          </c:spPr>
          <c:cat>
            <c:strLit>
              <c:ptCount val="2"/>
              <c:pt idx="0">
                <c:v>Macro-F1</c:v>
              </c:pt>
              <c:pt idx="1">
                <c:v>AUROC</c:v>
              </c:pt>
            </c:strLit>
          </c:cat>
          <c:val>
            <c:numLit>
              <c:formatCode>0.0</c:formatCode>
              <c:ptCount val="2"/>
              <c:pt idx="0">
                <c:v>0.485714</c:v>
              </c:pt>
              <c:pt idx="1">
                <c:v>0.555556</c:v>
              </c:pt>
            </c:numLit>
          </c:val>
        </c:ser>
        <c:dLbls>
          <c:txPr>
            <a:bodyPr xmlns:a="http://schemas.openxmlformats.org/drawingml/2006/main" anchorCtr="1"/>
            <a:lstStyle xmlns:a="http://schemas.openxmlformats.org/drawingml/2006/main"/>
            <a:p xmlns:a="http://schemas.openxmlformats.org/drawingml/2006/main">
              <a:pPr>
                <a:defRPr sz="1050"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lineChart>
        <c:grouping val="standard"/>
        <c:ser>
          <c:idx val="0"/>
          <c:order val="0"/>
          <c:tx>
            <c:v>Red delta</c:v>
          </c:tx>
          <c:spPr>
            <a:ln xmlns:a="http://schemas.openxmlformats.org/drawingml/2006/main" w="19050">
              <a:solidFill>
                <a:srgbClr val="D64545"/>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-0.4143633161272078</c:v>
              </c:pt>
              <c:pt idx="4">
                <c:v>-0.412567138671875</c:v>
              </c:pt>
              <c:pt idx="5">
                <c:v>0</c:v>
              </c:pt>
              <c:pt idx="6">
                <c:v>0</c:v>
              </c:pt>
              <c:pt idx="7">
                <c:v>-0.4096810477120698</c:v>
              </c:pt>
              <c:pt idx="8">
                <c:v>-0.4296308244977638</c:v>
              </c:pt>
              <c:pt idx="9">
                <c:v>0.031607491629472406</c:v>
              </c:pt>
              <c:pt idx="10">
                <c:v>0</c:v>
              </c:pt>
              <c:pt idx="11">
                <c:v>-0.399627685546875</c:v>
              </c:pt>
              <c:pt idx="12">
                <c:v>-0.4138619559151948</c:v>
              </c:pt>
              <c:pt idx="13">
                <c:v>-0.013916015625</c:v>
              </c:pt>
              <c:pt idx="14">
                <c:v>-0.026576450892861203</c:v>
              </c:pt>
              <c:pt idx="15">
                <c:v>-0.4036865234375</c:v>
              </c:pt>
              <c:pt idx="16">
                <c:v>-0.4244515555245414</c:v>
              </c:pt>
              <c:pt idx="17">
                <c:v>0</c:v>
              </c:pt>
              <c:pt idx="18">
                <c:v>0</c:v>
              </c:pt>
              <c:pt idx="19">
                <c:v>-0.3768441336495414</c:v>
              </c:pt>
              <c:pt idx="20">
                <c:v>-0.4018423897879302</c:v>
              </c:pt>
              <c:pt idx="21">
                <c:v>-0.03975132533483361</c:v>
              </c:pt>
              <c:pt idx="22">
                <c:v>0</c:v>
              </c:pt>
              <c:pt idx="23">
                <c:v>-0.3576834542410552</c:v>
              </c:pt>
              <c:pt idx="24">
                <c:v>-0.4163774762834862</c:v>
              </c:pt>
              <c:pt idx="25">
                <c:v>-0.014556884765625</c:v>
              </c:pt>
              <c:pt idx="26">
                <c:v>0.012451171875</c:v>
              </c:pt>
              <c:pt idx="27">
                <c:v>0</c:v>
              </c:pt>
              <c:pt idx="28">
                <c:v>-0.4475010463169724</c:v>
              </c:pt>
              <c:pt idx="29">
                <c:v>-0.4424700055803612</c:v>
              </c:pt>
              <c:pt idx="30">
                <c:v>0.04420253208704139</c:v>
              </c:pt>
              <c:pt idx="31">
                <c:v>0.06489780970983361</c:v>
              </c:pt>
              <c:pt idx="32">
                <c:v>-0.4214739118303612</c:v>
              </c:pt>
              <c:pt idx="33">
                <c:v>-0.41204833984375</c:v>
              </c:pt>
              <c:pt idx="34">
                <c:v>0</c:v>
              </c:pt>
              <c:pt idx="35">
                <c:v>0</c:v>
              </c:pt>
              <c:pt idx="36">
                <c:v>-0.4158891950334862</c:v>
              </c:pt>
              <c:pt idx="37">
                <c:v>-0.4367762974330276</c:v>
              </c:pt>
              <c:pt idx="38">
                <c:v>0.032479422433056016</c:v>
              </c:pt>
              <c:pt idx="39">
                <c:v>0</c:v>
              </c:pt>
              <c:pt idx="40">
                <c:v>-0.4085824148995414</c:v>
              </c:pt>
              <c:pt idx="41">
                <c:v>-0.41741943359375</c:v>
              </c:pt>
              <c:pt idx="42">
                <c:v>0.00837489536829139</c:v>
              </c:pt>
              <c:pt idx="43">
                <c:v>0.043587820870527594</c:v>
              </c:pt>
              <c:pt idx="44">
                <c:v>-0.4385419573102638</c:v>
              </c:pt>
              <c:pt idx="45">
                <c:v>-0.466949462890625</c:v>
              </c:pt>
              <c:pt idx="46">
                <c:v>0.02656773158483361</c:v>
              </c:pt>
              <c:pt idx="47">
                <c:v>0.022059849330361203</c:v>
              </c:pt>
              <c:pt idx="48">
                <c:v>-0.383767264229931</c:v>
              </c:pt>
              <c:pt idx="49">
                <c:v>-0.3860081263950974</c:v>
              </c:pt>
              <c:pt idx="50">
                <c:v>0.016998291015625</c:v>
              </c:pt>
              <c:pt idx="51">
                <c:v>0</c:v>
              </c:pt>
              <c:pt idx="52">
                <c:v>0</c:v>
              </c:pt>
              <c:pt idx="53">
                <c:v>-0.4302542550223336</c:v>
              </c:pt>
              <c:pt idx="54">
                <c:v>-0.4677603585379586</c:v>
              </c:pt>
              <c:pt idx="55">
                <c:v>0.003169468470986203</c:v>
              </c:pt>
              <c:pt idx="56">
                <c:v>0</c:v>
              </c:pt>
              <c:pt idx="57">
                <c:v>-0.3912833077566802</c:v>
              </c:pt>
              <c:pt idx="58">
                <c:v>-0.39068603515625</c:v>
              </c:pt>
              <c:pt idx="59">
                <c:v>0.02470179966516639</c:v>
              </c:pt>
              <c:pt idx="60">
                <c:v>0</c:v>
              </c:pt>
            </c:numLit>
          </c:val>
        </c:ser>
        <c:ser>
          <c:idx val="1"/>
          <c:order val="1"/>
          <c:tx>
            <c:v>Green delta</c:v>
          </c:tx>
          <c:spPr>
            <a:ln xmlns:a="http://schemas.openxmlformats.org/drawingml/2006/main" w="19050">
              <a:solidFill>
                <a:srgbClr val="2B8A3E"/>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-0.7834385463169582</c:v>
              </c:pt>
              <c:pt idx="4">
                <c:v>-0.7651454380580418</c:v>
              </c:pt>
              <c:pt idx="5">
                <c:v>0</c:v>
              </c:pt>
              <c:pt idx="6">
                <c:v>0</c:v>
              </c:pt>
              <c:pt idx="7">
                <c:v>-0.7222769601004444</c:v>
              </c:pt>
              <c:pt idx="8">
                <c:v>-0.7588457380022362</c:v>
              </c:pt>
              <c:pt idx="9">
                <c:v>-0.1352146693638332</c:v>
              </c:pt>
              <c:pt idx="10">
                <c:v>0</c:v>
              </c:pt>
              <c:pt idx="11">
                <c:v>-0.6310817173549168</c:v>
              </c:pt>
              <c:pt idx="12">
                <c:v>-0.7615182059151806</c:v>
              </c:pt>
              <c:pt idx="13">
                <c:v>-0.1375340053013332</c:v>
              </c:pt>
              <c:pt idx="14">
                <c:v>-0.056435721261166805</c:v>
              </c:pt>
              <c:pt idx="15">
                <c:v>-0.6294032505580418</c:v>
              </c:pt>
              <c:pt idx="16">
                <c:v>-0.7135358537946388</c:v>
              </c:pt>
              <c:pt idx="17">
                <c:v>0</c:v>
              </c:pt>
              <c:pt idx="18">
                <c:v>0</c:v>
              </c:pt>
              <c:pt idx="19">
                <c:v>-0.6155831473214164</c:v>
              </c:pt>
              <c:pt idx="20">
                <c:v>-0.7376970563616112</c:v>
              </c:pt>
              <c:pt idx="21">
                <c:v>-0.2380022321428612</c:v>
              </c:pt>
              <c:pt idx="22">
                <c:v>0</c:v>
              </c:pt>
              <c:pt idx="23">
                <c:v>-0.4849897112165138</c:v>
              </c:pt>
              <c:pt idx="24">
                <c:v>-0.7569754464285694</c:v>
              </c:pt>
              <c:pt idx="25">
                <c:v>-0.2654811314174168</c:v>
              </c:pt>
              <c:pt idx="26">
                <c:v>-0.07031685965402801</c:v>
              </c:pt>
              <c:pt idx="27">
                <c:v>0</c:v>
              </c:pt>
              <c:pt idx="28">
                <c:v>-0.6883980887276806</c:v>
              </c:pt>
              <c:pt idx="29">
                <c:v>-0.7244480678013332</c:v>
              </c:pt>
              <c:pt idx="30">
                <c:v>-0.04806082589284699</c:v>
              </c:pt>
              <c:pt idx="31">
                <c:v>-0.0322701590401806</c:v>
              </c:pt>
              <c:pt idx="32">
                <c:v>-0.7096470424107082</c:v>
              </c:pt>
              <c:pt idx="33">
                <c:v>-0.7142987932477638</c:v>
              </c:pt>
              <c:pt idx="34">
                <c:v>0</c:v>
              </c:pt>
              <c:pt idx="35">
                <c:v>0</c:v>
              </c:pt>
              <c:pt idx="36">
                <c:v>-0.7640773228236668</c:v>
              </c:pt>
              <c:pt idx="37">
                <c:v>-0.7662484305245414</c:v>
              </c:pt>
              <c:pt idx="38">
                <c:v>-0.187774658203125</c:v>
              </c:pt>
              <c:pt idx="39">
                <c:v>0</c:v>
              </c:pt>
              <c:pt idx="40">
                <c:v>-0.627349853515625</c:v>
              </c:pt>
              <c:pt idx="41">
                <c:v>-0.7471051897321388</c:v>
              </c:pt>
              <c:pt idx="42">
                <c:v>-0.1837942940848194</c:v>
              </c:pt>
              <c:pt idx="43">
                <c:v>-0.06387765066965301</c:v>
              </c:pt>
              <c:pt idx="44">
                <c:v>-0.538508823939722</c:v>
              </c:pt>
              <c:pt idx="45">
                <c:v>-0.67822265625</c:v>
              </c:pt>
              <c:pt idx="46">
                <c:v>-0.232121058872778</c:v>
              </c:pt>
              <c:pt idx="47">
                <c:v>-0.124053955078125</c:v>
              </c:pt>
              <c:pt idx="48">
                <c:v>-0.7782941545758888</c:v>
              </c:pt>
              <c:pt idx="49">
                <c:v>-0.7961556570870556</c:v>
              </c:pt>
              <c:pt idx="50">
                <c:v>-0.153228759765625</c:v>
              </c:pt>
              <c:pt idx="51">
                <c:v>0</c:v>
              </c:pt>
              <c:pt idx="52">
                <c:v>0</c:v>
              </c:pt>
              <c:pt idx="53">
                <c:v>-0.7846897670200974</c:v>
              </c:pt>
              <c:pt idx="54">
                <c:v>-0.784580775669653</c:v>
              </c:pt>
              <c:pt idx="55">
                <c:v>-0.087921142578125</c:v>
              </c:pt>
              <c:pt idx="56">
                <c:v>0</c:v>
              </c:pt>
              <c:pt idx="57">
                <c:v>-0.6194370814732082</c:v>
              </c:pt>
              <c:pt idx="58">
                <c:v>-0.7602364676339306</c:v>
              </c:pt>
              <c:pt idx="59">
                <c:v>-0.0968584333147362</c:v>
              </c:pt>
              <c:pt idx="60">
                <c:v>0</c:v>
              </c:pt>
            </c:numLit>
          </c:val>
        </c:ser>
        <c:ser>
          <c:idx val="2"/>
          <c:order val="2"/>
          <c:tx>
            <c:v>Blue delta</c:v>
          </c:tx>
          <c:spPr>
            <a:ln xmlns:a="http://schemas.openxmlformats.org/drawingml/2006/main" w="19050">
              <a:solidFill>
                <a:srgbClr val="2F6BFF"/>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0.4245256696428612</c:v>
              </c:pt>
              <c:pt idx="4">
                <c:v>0.374424525669653</c:v>
              </c:pt>
              <c:pt idx="5">
                <c:v>0</c:v>
              </c:pt>
              <c:pt idx="6">
                <c:v>0</c:v>
              </c:pt>
              <c:pt idx="7">
                <c:v>0.1763741629464306</c:v>
              </c:pt>
              <c:pt idx="8">
                <c:v>0.4195469447544582</c:v>
              </c:pt>
              <c:pt idx="9">
                <c:v>0.3387058803013332</c:v>
              </c:pt>
              <c:pt idx="10">
                <c:v>0</c:v>
              </c:pt>
              <c:pt idx="11">
                <c:v>0.2032209123883888</c:v>
              </c:pt>
              <c:pt idx="12">
                <c:v>0.449676513671875</c:v>
              </c:pt>
              <c:pt idx="13">
                <c:v>0.3600812639508888</c:v>
              </c:pt>
              <c:pt idx="14">
                <c:v>0.2743704659598194</c:v>
              </c:pt>
              <c:pt idx="15">
                <c:v>0.2025844029017918</c:v>
              </c:pt>
              <c:pt idx="16">
                <c:v>0.338134765625</c:v>
              </c:pt>
              <c:pt idx="17">
                <c:v>0</c:v>
              </c:pt>
              <c:pt idx="18">
                <c:v>0</c:v>
              </c:pt>
              <c:pt idx="19">
                <c:v>0.0983668736049026</c:v>
              </c:pt>
              <c:pt idx="20">
                <c:v>0.4485604422433056</c:v>
              </c:pt>
              <c:pt idx="21">
                <c:v>0.4308253696986668</c:v>
              </c:pt>
              <c:pt idx="22">
                <c:v>0</c:v>
              </c:pt>
              <c:pt idx="23">
                <c:v>0.1352103097098194</c:v>
              </c:pt>
              <c:pt idx="24">
                <c:v>0.4003470284598194</c:v>
              </c:pt>
              <c:pt idx="25">
                <c:v>0.4747270856584862</c:v>
              </c:pt>
              <c:pt idx="26">
                <c:v>0.329616001674097</c:v>
              </c:pt>
              <c:pt idx="27">
                <c:v>0</c:v>
              </c:pt>
              <c:pt idx="28">
                <c:v>0.2153363909040138</c:v>
              </c:pt>
              <c:pt idx="29">
                <c:v>0.4968479701450974</c:v>
              </c:pt>
              <c:pt idx="30">
                <c:v>0.2441493443080418</c:v>
              </c:pt>
              <c:pt idx="31">
                <c:v>0.1488255092075974</c:v>
              </c:pt>
              <c:pt idx="32">
                <c:v>0.210784912109375</c:v>
              </c:pt>
              <c:pt idx="33">
                <c:v>0.324650355747778</c:v>
              </c:pt>
              <c:pt idx="34">
                <c:v>0</c:v>
              </c:pt>
              <c:pt idx="35">
                <c:v>0</c:v>
              </c:pt>
              <c:pt idx="36">
                <c:v>0.4257420131138474</c:v>
              </c:pt>
              <c:pt idx="37">
                <c:v>0.4450160435267776</c:v>
              </c:pt>
              <c:pt idx="38">
                <c:v>0.4252493722098194</c:v>
              </c:pt>
              <c:pt idx="39">
                <c:v>0</c:v>
              </c:pt>
              <c:pt idx="40">
                <c:v>0.11968994140625</c:v>
              </c:pt>
              <c:pt idx="41">
                <c:v>0.3784266880580418</c:v>
              </c:pt>
              <c:pt idx="42">
                <c:v>0.4236493791852638</c:v>
              </c:pt>
              <c:pt idx="43">
                <c:v>0.2369820731026806</c:v>
              </c:pt>
              <c:pt idx="44">
                <c:v>0.0337088448660694</c:v>
              </c:pt>
              <c:pt idx="45">
                <c:v>0.174774169921875</c:v>
              </c:pt>
              <c:pt idx="46">
                <c:v>0.4495195661272362</c:v>
              </c:pt>
              <c:pt idx="47">
                <c:v>0.1924307686941944</c:v>
              </c:pt>
              <c:pt idx="48">
                <c:v>0.3893040248325974</c:v>
              </c:pt>
              <c:pt idx="49">
                <c:v>0.4510018484933056</c:v>
              </c:pt>
              <c:pt idx="50">
                <c:v>0.2525547572544724</c:v>
              </c:pt>
              <c:pt idx="51">
                <c:v>0</c:v>
              </c:pt>
              <c:pt idx="52">
                <c:v>0</c:v>
              </c:pt>
              <c:pt idx="53">
                <c:v>0.4493756975446388</c:v>
              </c:pt>
              <c:pt idx="54">
                <c:v>0.3855024065290138</c:v>
              </c:pt>
              <c:pt idx="55">
                <c:v>0.2458060128348194</c:v>
              </c:pt>
              <c:pt idx="56">
                <c:v>0</c:v>
              </c:pt>
              <c:pt idx="57">
                <c:v>0.2301810128348194</c:v>
              </c:pt>
              <c:pt idx="58">
                <c:v>0.3696681431361668</c:v>
              </c:pt>
              <c:pt idx="59">
                <c:v>0.259159633091528</c:v>
              </c:pt>
              <c:pt idx="60">
                <c:v>0</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0 to 12 seconds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Modified minus control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cat>
            <c:strLit>
              <c:ptCount val="3"/>
              <c:pt idx="0">
                <c:v>Red</c:v>
              </c:pt>
              <c:pt idx="1">
                <c:v>Green</c:v>
              </c:pt>
              <c:pt idx="2">
                <c:v>Blue</c:v>
              </c:pt>
            </c:strLit>
          </c:cat>
          <c:val>
            <c:numLit>
              <c:formatCode>0.0</c:formatCode>
              <c:ptCount val="3"/>
              <c:pt idx="0">
                <c:v>0.9456918104760784</c:v>
              </c:pt>
              <c:pt idx="1">
                <c:v>0.9388008421856344</c:v>
              </c:pt>
              <c:pt idx="2">
                <c:v>0.6602763128284589</c:v>
              </c:pt>
            </c:numLit>
          </c:val>
        </c:ser>
        <c:ser>
          <c:idx val="1"/>
          <c:order val="1"/>
          <c:tx>
            <c:v>Neutral re-encode</c:v>
          </c:tx>
          <c:spPr>
            <a:solidFill xmlns:a="http://schemas.openxmlformats.org/drawingml/2006/main">
              <a:srgbClr val="627D98"/>
            </a:solidFill>
          </c:spPr>
          <c:cat>
            <c:strLit>
              <c:ptCount val="3"/>
              <c:pt idx="0">
                <c:v>Red</c:v>
              </c:pt>
              <c:pt idx="1">
                <c:v>Green</c:v>
              </c:pt>
              <c:pt idx="2">
                <c:v>Blue</c:v>
              </c:pt>
            </c:strLit>
          </c:cat>
          <c:val>
            <c:numLit>
              <c:formatCode>0.0</c:formatCode>
              <c:ptCount val="3"/>
              <c:pt idx="0">
                <c:v>0.2043617083266858</c:v>
              </c:pt>
              <c:pt idx="1">
                <c:v>0.1107587540702676</c:v>
              </c:pt>
              <c:pt idx="2">
                <c:v>0.0039781535791344</c:v>
              </c:pt>
            </c:numLit>
          </c:val>
        </c:ser>
        <c:dLbls>
          <c:txPr>
            <a:bodyPr xmlns:a="http://schemas.openxmlformats.org/drawingml/2006/main" anchorCtr="1"/>
            <a:lstStyle xmlns:a="http://schemas.openxmlformats.org/drawingml/2006/main"/>
            <a:p xmlns:a="http://schemas.openxmlformats.org/drawingml/2006/main">
              <a:pPr>
                <a:defRPr sz="900">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cat>
            <c:strLit>
              <c:ptCount val="4"/>
              <c:pt idx="0">
                <c:v>Original</c:v>
              </c:pt>
              <c:pt idx="1">
                <c:v>H.264 CRF 35</c:v>
              </c:pt>
              <c:pt idx="2">
                <c:v>256×224</c:v>
              </c:pt>
              <c:pt idx="3">
                <c:v>15 FPS</c:v>
              </c:pt>
            </c:strLit>
          </c:cat>
          <c:val>
            <c:numLit>
              <c:formatCode>0.0</c:formatCode>
              <c:ptCount val="4"/>
              <c:pt idx="0">
                <c:v>0.9456918104760784</c:v>
              </c:pt>
              <c:pt idx="1">
                <c:v>0.3672345169718491</c:v>
              </c:pt>
              <c:pt idx="2">
                <c:v>0.7997830616915408</c:v>
              </c:pt>
              <c:pt idx="3">
                <c:v>0.8732771056326861</c:v>
              </c:pt>
            </c:numLit>
          </c:val>
        </c:ser>
        <c:ser>
          <c:idx val="1"/>
          <c:order val="1"/>
          <c:tx>
            <c:v>Neutral re-encode</c:v>
          </c:tx>
          <c:spPr>
            <a:solidFill xmlns:a="http://schemas.openxmlformats.org/drawingml/2006/main">
              <a:srgbClr val="627D98"/>
            </a:solidFill>
          </c:spPr>
          <c:cat>
            <c:strLit>
              <c:ptCount val="4"/>
              <c:pt idx="0">
                <c:v>Original</c:v>
              </c:pt>
              <c:pt idx="1">
                <c:v>H.264 CRF 35</c:v>
              </c:pt>
              <c:pt idx="2">
                <c:v>256×224</c:v>
              </c:pt>
              <c:pt idx="3">
                <c:v>15 FPS</c:v>
              </c:pt>
            </c:strLit>
          </c:cat>
          <c:val>
            <c:numLit>
              <c:formatCode>0.0</c:formatCode>
              <c:ptCount val="4"/>
              <c:pt idx="0">
                <c:v>0.2043617083266858</c:v>
              </c:pt>
              <c:pt idx="1">
                <c:v>0.0434662282960078</c:v>
              </c:pt>
              <c:pt idx="2">
                <c:v>0.1272925039622935</c:v>
              </c:pt>
              <c:pt idx="3">
                <c:v>0.0418589577497892</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Red energy fraction near 1.2 Hz</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6253C7C-4705-4576-9D67-9FBE819B6D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FA3552-182B-4057-8F3A-4AE71376BEA9}"/>
              </a:ext>
            </a:extLst>
          </p:cNvPr>
          <p:cNvSpPr>
            <a:spLocks xmlns:a="http://schemas.openxmlformats.org/drawingml/2006/main" noGrp="1"/>
          </p:cNvSpPr>
          <p:nvPr/>
        </p:nvSpPr>
        <p:spPr>
          <a:xfrm xmlns:a="http://schemas.openxmlformats.org/drawingml/2006/main">
            <a:off x="781050" y="12858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4050" b="1">
                <a:solidFill>
                  <a:srgbClr val="FFFFFF"/>
                </a:solidFill>
                <a:latin typeface="Helvetica Neue"/>
                <a:ea typeface="Helvetica Neue"/>
                <a:cs typeface="Helvetica Neue"/>
              </a:defRPr>
            </a:defPPr>
          </a:lstStyle>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Context Matters</a:t>
            </a:r>
          </a:p>
        </p:txBody>
      </p:sp>
      <p:sp>
        <p:nvSpPr>
          <p:cNvPr id="3" name="">
            <a:extLst xmlns:a="http://schemas.openxmlformats.org/drawingml/2006/main">
              <a:ext uri="{FF2B5EF4-FFF2-40B4-BE49-F238E27FC236}">
                <a16:creationId xmlns:a16="http://schemas.microsoft.com/office/drawing/2014/main" id="{972F6B2C-FAC2-48EF-AEAE-AE9EDD775285}"/>
              </a:ext>
            </a:extLst>
          </p:cNvPr>
          <p:cNvSpPr>
            <a:spLocks xmlns:a="http://schemas.openxmlformats.org/drawingml/2006/main" noGrp="1"/>
          </p:cNvSpPr>
          <p:nvPr/>
        </p:nvSpPr>
        <p:spPr>
          <a:xfrm xmlns:a="http://schemas.openxmlformats.org/drawingml/2006/main">
            <a:off x="800100" y="2066925"/>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D9E8F5"/>
                </a:solidFill>
                <a:latin typeface="Helvetica Neue"/>
                <a:ea typeface="Helvetica Neue"/>
                <a:cs typeface="Helvetica Neue"/>
              </a:defRPr>
            </a:defPPr>
          </a:lstStyle>
          <a:p xmlns:a="http://schemas.openxmlformats.org/drawingml/2006/main">
            <a:pPr algn="l">
              <a:defRPr sz="2250" b="0">
                <a:solidFill>
                  <a:srgbClr val="D9E8F5"/>
                </a:solidFill>
                <a:latin typeface="Helvetica Neue"/>
                <a:ea typeface="Helvetica Neue"/>
                <a:cs typeface="Helvetica Neue"/>
              </a:defRPr>
            </a:pPr>
            <a:r>
              <a:rPr sz="2250" b="0">
                <a:solidFill>
                  <a:srgbClr val="D9E8F5"/>
                </a:solidFill>
                <a:latin typeface="Helvetica Neue"/>
                <a:ea typeface="Helvetica Neue"/>
                <a:cs typeface="Helvetica Neue"/>
              </a:rPr>
              <a:t>Two defensive signals for speech-to-face deepfakes</a:t>
            </a:r>
          </a:p>
        </p:txBody>
      </p:sp>
      <p:sp>
        <p:nvSpPr>
          <p:cNvPr id="4" name="">
            <a:extLst xmlns:a="http://schemas.openxmlformats.org/drawingml/2006/main">
              <a:ext uri="{FF2B5EF4-FFF2-40B4-BE49-F238E27FC236}">
                <a16:creationId xmlns:a16="http://schemas.microsoft.com/office/drawing/2014/main" id="{6BE6DF9A-ED11-4363-8504-C63A0D3B3EE7}"/>
              </a:ext>
            </a:extLst>
          </p:cNvPr>
          <p:cNvSpPr>
            <a:spLocks xmlns:a="http://schemas.openxmlformats.org/drawingml/2006/main" noGrp="1"/>
          </p:cNvSpPr>
          <p:nvPr/>
        </p:nvSpPr>
        <p:spPr>
          <a:xfrm xmlns:a="http://schemas.openxmlformats.org/drawingml/2006/main">
            <a:off x="800100" y="2962275"/>
            <a:ext cx="7810500" cy="28575"/>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78068F-1298-4596-AD0E-785C676B806C}"/>
              </a:ext>
            </a:extLst>
          </p:cNvPr>
          <p:cNvSpPr>
            <a:spLocks xmlns:a="http://schemas.openxmlformats.org/drawingml/2006/main" noGrp="1"/>
          </p:cNvSpPr>
          <p:nvPr/>
        </p:nvSpPr>
        <p:spPr>
          <a:xfrm xmlns:a="http://schemas.openxmlformats.org/drawingml/2006/main">
            <a:off x="800100" y="32861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stStyle>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Lip dynamics in phonetic context</a:t>
            </a:r>
          </a:p>
        </p:txBody>
      </p:sp>
      <p:sp>
        <p:nvSpPr>
          <p:cNvPr id="6" name="">
            <a:extLst xmlns:a="http://schemas.openxmlformats.org/drawingml/2006/main">
              <a:ext uri="{FF2B5EF4-FFF2-40B4-BE49-F238E27FC236}">
                <a16:creationId xmlns:a16="http://schemas.microsoft.com/office/drawing/2014/main" id="{53F5EA00-ADD3-42E6-B0A4-D97CA43D3B0E}"/>
              </a:ext>
            </a:extLst>
          </p:cNvPr>
          <p:cNvSpPr>
            <a:spLocks xmlns:a="http://schemas.openxmlformats.org/drawingml/2006/main" noGrp="1"/>
          </p:cNvSpPr>
          <p:nvPr/>
        </p:nvSpPr>
        <p:spPr>
          <a:xfrm xmlns:a="http://schemas.openxmlformats.org/drawingml/2006/main">
            <a:off x="800100" y="37814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stStyle>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Periodic chromatic traces from rPPG evasion</a:t>
            </a:r>
          </a:p>
        </p:txBody>
      </p:sp>
      <p:sp>
        <p:nvSpPr>
          <p:cNvPr id="7" name="">
            <a:extLst xmlns:a="http://schemas.openxmlformats.org/drawingml/2006/main">
              <a:ext uri="{FF2B5EF4-FFF2-40B4-BE49-F238E27FC236}">
                <a16:creationId xmlns:a16="http://schemas.microsoft.com/office/drawing/2014/main" id="{BC783CA1-BEB5-4416-9EE0-F5C73596913C}"/>
              </a:ext>
            </a:extLst>
          </p:cNvPr>
          <p:cNvSpPr>
            <a:spLocks xmlns:a="http://schemas.openxmlformats.org/drawingml/2006/main" noGrp="1"/>
          </p:cNvSpPr>
          <p:nvPr/>
        </p:nvSpPr>
        <p:spPr>
          <a:xfrm xmlns:a="http://schemas.openxmlformats.org/drawingml/2006/main">
            <a:off x="800100" y="51435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Light.Ningyizhuo_No.1</a:t>
            </a:r>
          </a:p>
        </p:txBody>
      </p:sp>
      <p:sp>
        <p:nvSpPr>
          <p:cNvPr id="8" name="">
            <a:extLst xmlns:a="http://schemas.openxmlformats.org/drawingml/2006/main">
              <a:ext uri="{FF2B5EF4-FFF2-40B4-BE49-F238E27FC236}">
                <a16:creationId xmlns:a16="http://schemas.microsoft.com/office/drawing/2014/main" id="{AEC4C6E5-866A-45C1-9D88-3D4805887DF3}"/>
              </a:ext>
            </a:extLst>
          </p:cNvPr>
          <p:cNvSpPr>
            <a:spLocks xmlns:a="http://schemas.openxmlformats.org/drawingml/2006/main" noGrp="1"/>
          </p:cNvSpPr>
          <p:nvPr/>
        </p:nvSpPr>
        <p:spPr>
          <a:xfrm xmlns:a="http://schemas.openxmlformats.org/drawingml/2006/main">
            <a:off x="800100" y="55245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FFFFFF"/>
                </a:solidFill>
                <a:latin typeface="Helvetica Neue"/>
                <a:ea typeface="Helvetica Neue"/>
                <a:cs typeface="Helvetica Neue"/>
              </a:defRPr>
            </a:defPPr>
          </a:lstStyle>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Yan Zhiheng  |  He Hongjie</a:t>
            </a:r>
          </a:p>
        </p:txBody>
      </p:sp>
      <p:sp>
        <p:nvSpPr>
          <p:cNvPr id="9" name="">
            <a:extLst xmlns:a="http://schemas.openxmlformats.org/drawingml/2006/main">
              <a:ext uri="{FF2B5EF4-FFF2-40B4-BE49-F238E27FC236}">
                <a16:creationId xmlns:a16="http://schemas.microsoft.com/office/drawing/2014/main" id="{B12B3B66-5CAB-41AC-873C-4B95B5EF68BB}"/>
              </a:ext>
            </a:extLst>
          </p:cNvPr>
          <p:cNvSpPr>
            <a:spLocks xmlns:a="http://schemas.openxmlformats.org/drawingml/2006/main" noGrp="1"/>
          </p:cNvSpPr>
          <p:nvPr/>
        </p:nvSpPr>
        <p:spPr>
          <a:xfrm xmlns:a="http://schemas.openxmlformats.org/drawingml/2006/main">
            <a:off x="9048750" y="60960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B7C9D9"/>
                </a:solidFill>
                <a:latin typeface="Helvetica Neue"/>
                <a:ea typeface="Helvetica Neue"/>
                <a:cs typeface="Helvetica Neue"/>
              </a:defRPr>
            </a:defPPr>
          </a:lstStyle>
          <a:p xmlns:a="http://schemas.openxmlformats.org/drawingml/2006/main">
            <a:pPr algn="r">
              <a:defRPr sz="1125" b="0">
                <a:solidFill>
                  <a:srgbClr val="B7C9D9"/>
                </a:solidFill>
                <a:latin typeface="Helvetica Neue"/>
                <a:ea typeface="Helvetica Neue"/>
                <a:cs typeface="Helvetica Neue"/>
              </a:defRPr>
            </a:pPr>
            <a:r>
              <a:rPr sz="1125" b="0">
                <a:solidFill>
                  <a:srgbClr val="B7C9D9"/>
                </a:solidFill>
                <a:latin typeface="Helvetica Neue"/>
                <a:ea typeface="Helvetica Neue"/>
                <a:cs typeface="Helvetica Neue"/>
              </a:rPr>
              <a:t>FIT5230 Milestone 3</a:t>
            </a:r>
          </a:p>
        </p:txBody>
      </p:sp>
    </p:spTree>
    <p:extLst>
      <p:ext uri="{BB962C8B-B14F-4D97-AF65-F5344CB8AC3E}">
        <p14:creationId xmlns:p14="http://schemas.microsoft.com/office/powerpoint/2010/main" val="4734021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A6A1AA6-2792-482B-8608-5C4FFD319991}"/>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Progress since Milestone 2</a:t>
            </a:r>
          </a:p>
        </p:txBody>
      </p:sp>
      <p:sp>
        <p:nvSpPr>
          <p:cNvPr id="2" name="">
            <a:extLst xmlns:a="http://schemas.openxmlformats.org/drawingml/2006/main">
              <a:ext uri="{FF2B5EF4-FFF2-40B4-BE49-F238E27FC236}">
                <a16:creationId xmlns:a16="http://schemas.microsoft.com/office/drawing/2014/main" id="{6EA2A2AD-D16D-49E1-A770-D4E2F3F43B35}"/>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3C4DB2D4-575A-4CD5-98B5-A472DA5F0E7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989888-0995-4225-8063-026E675FADA1}"/>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1E578271-B26F-4808-BD8C-E3953821F8E1}"/>
              </a:ext>
            </a:extLst>
          </p:cNvPr>
          <p:cNvSpPr>
            <a:spLocks xmlns:a="http://schemas.openxmlformats.org/drawingml/2006/main" noGrp="1"/>
          </p:cNvSpPr>
          <p:nvPr/>
        </p:nvSpPr>
        <p:spPr>
          <a:xfrm xmlns:a="http://schemas.openxmlformats.org/drawingml/2006/main">
            <a:off x="10572750" y="64960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2/11</a:t>
            </a:r>
          </a:p>
        </p:txBody>
      </p:sp>
      <p:sp>
        <p:nvSpPr>
          <p:cNvPr id="6" name="">
            <a:extLst xmlns:a="http://schemas.openxmlformats.org/drawingml/2006/main">
              <a:ext uri="{FF2B5EF4-FFF2-40B4-BE49-F238E27FC236}">
                <a16:creationId xmlns:a16="http://schemas.microsoft.com/office/drawing/2014/main" id="{456D1853-6795-4A16-BE28-94310EE7C559}"/>
              </a:ext>
            </a:extLst>
          </p:cNvPr>
          <p:cNvSpPr>
            <a:spLocks xmlns:a="http://schemas.openxmlformats.org/drawingml/2006/main" noGrp="1"/>
          </p:cNvSpPr>
          <p:nvPr/>
        </p:nvSpPr>
        <p:spPr>
          <a:xfrm xmlns:a="http://schemas.openxmlformats.org/drawingml/2006/main">
            <a:off x="66675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627D98"/>
                </a:solidFill>
                <a:latin typeface="Helvetica Neue"/>
                <a:ea typeface="Helvetica Neue"/>
                <a:cs typeface="Helvetica Neue"/>
              </a:defRPr>
            </a:defPPr>
          </a:lstStyle>
          <a:p xmlns:a="http://schemas.openxmlformats.org/drawingml/2006/main">
            <a:pPr algn="l">
              <a:defRPr sz="2100" b="1">
                <a:solidFill>
                  <a:srgbClr val="627D98"/>
                </a:solidFill>
                <a:latin typeface="Helvetica Neue"/>
                <a:ea typeface="Helvetica Neue"/>
                <a:cs typeface="Helvetica Neue"/>
              </a:defRPr>
            </a:pPr>
            <a:r>
              <a:rPr sz="2100" b="1">
                <a:solidFill>
                  <a:srgbClr val="627D98"/>
                </a:solidFill>
                <a:latin typeface="Helvetica Neue"/>
                <a:ea typeface="Helvetica Neue"/>
                <a:cs typeface="Helvetica Neue"/>
              </a:rPr>
              <a:t>M2</a:t>
            </a:r>
          </a:p>
        </p:txBody>
      </p:sp>
      <p:sp>
        <p:nvSpPr>
          <p:cNvPr id="7" name="">
            <a:extLst xmlns:a="http://schemas.openxmlformats.org/drawingml/2006/main">
              <a:ext uri="{FF2B5EF4-FFF2-40B4-BE49-F238E27FC236}">
                <a16:creationId xmlns:a16="http://schemas.microsoft.com/office/drawing/2014/main" id="{596D38A5-DDD0-477F-8895-F46937F7725B}"/>
              </a:ext>
            </a:extLst>
          </p:cNvPr>
          <p:cNvSpPr>
            <a:spLocks xmlns:a="http://schemas.openxmlformats.org/drawingml/2006/main" noGrp="1"/>
          </p:cNvSpPr>
          <p:nvPr/>
        </p:nvSpPr>
        <p:spPr>
          <a:xfrm xmlns:a="http://schemas.openxmlformats.org/drawingml/2006/main">
            <a:off x="647700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F6BFF"/>
                </a:solidFill>
                <a:latin typeface="Helvetica Neue"/>
                <a:ea typeface="Helvetica Neue"/>
                <a:cs typeface="Helvetica Neue"/>
              </a:defRPr>
            </a:defPPr>
          </a:lstStyle>
          <a:p xmlns:a="http://schemas.openxmlformats.org/drawingml/2006/main">
            <a:pPr algn="l">
              <a:defRPr sz="2100" b="1">
                <a:solidFill>
                  <a:srgbClr val="2F6BFF"/>
                </a:solidFill>
                <a:latin typeface="Helvetica Neue"/>
                <a:ea typeface="Helvetica Neue"/>
                <a:cs typeface="Helvetica Neue"/>
              </a:defRPr>
            </a:pPr>
            <a:r>
              <a:rPr sz="2100" b="1">
                <a:solidFill>
                  <a:srgbClr val="2F6BFF"/>
                </a:solidFill>
                <a:latin typeface="Helvetica Neue"/>
                <a:ea typeface="Helvetica Neue"/>
                <a:cs typeface="Helvetica Neue"/>
              </a:rPr>
              <a:t>M3</a:t>
            </a:r>
          </a:p>
        </p:txBody>
      </p:sp>
      <p:sp>
        <p:nvSpPr>
          <p:cNvPr id="8" name="">
            <a:extLst xmlns:a="http://schemas.openxmlformats.org/drawingml/2006/main">
              <a:ext uri="{FF2B5EF4-FFF2-40B4-BE49-F238E27FC236}">
                <a16:creationId xmlns:a16="http://schemas.microsoft.com/office/drawing/2014/main" id="{0C13A911-229D-4C47-B8CD-B7951E07D280}"/>
              </a:ext>
            </a:extLst>
          </p:cNvPr>
          <p:cNvSpPr>
            <a:spLocks xmlns:a="http://schemas.openxmlformats.org/drawingml/2006/main" noGrp="1"/>
          </p:cNvSpPr>
          <p:nvPr/>
        </p:nvSpPr>
        <p:spPr>
          <a:xfrm xmlns:a="http://schemas.openxmlformats.org/drawingml/2006/main">
            <a:off x="5905500" y="1276350"/>
            <a:ext cx="0" cy="457200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9" name="">
            <a:extLst xmlns:a="http://schemas.openxmlformats.org/drawingml/2006/main">
              <a:ext uri="{FF2B5EF4-FFF2-40B4-BE49-F238E27FC236}">
                <a16:creationId xmlns:a16="http://schemas.microsoft.com/office/drawing/2014/main" id="{88D28234-F182-416B-AC61-EC221744B2C5}"/>
              </a:ext>
            </a:extLst>
          </p:cNvPr>
          <p:cNvSpPr>
            <a:spLocks xmlns:a="http://schemas.openxmlformats.org/drawingml/2006/main" noGrp="1"/>
          </p:cNvSpPr>
          <p:nvPr/>
        </p:nvSpPr>
        <p:spPr>
          <a:xfrm xmlns:a="http://schemas.openxmlformats.org/drawingml/2006/main">
            <a:off x="685800" y="1857375"/>
            <a:ext cx="4667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a:solidFill>
                  <a:srgbClr val="627D98"/>
                </a:solidFill>
                <a:latin typeface="Helvetica Neue"/>
                <a:ea typeface="Helvetica Neue"/>
                <a:cs typeface="Helvetica Neue"/>
              </a:defRPr>
            </a:defPPr>
          </a:lstStyle>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Synthetic classifier checks</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Two public videos for preprocessing</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No held-out real-data experiment</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Peer score interface only</a:t>
            </a:r>
          </a:p>
        </p:txBody>
      </p:sp>
      <p:sp>
        <p:nvSpPr>
          <p:cNvPr id="10" name="">
            <a:extLst xmlns:a="http://schemas.openxmlformats.org/drawingml/2006/main">
              <a:ext uri="{FF2B5EF4-FFF2-40B4-BE49-F238E27FC236}">
                <a16:creationId xmlns:a16="http://schemas.microsoft.com/office/drawing/2014/main" id="{07D70004-2CF0-4C8D-BDB7-6D27C9310957}"/>
              </a:ext>
            </a:extLst>
          </p:cNvPr>
          <p:cNvSpPr>
            <a:spLocks xmlns:a="http://schemas.openxmlformats.org/drawingml/2006/main" noGrp="1"/>
          </p:cNvSpPr>
          <p:nvPr/>
        </p:nvSpPr>
        <p:spPr>
          <a:xfrm xmlns:a="http://schemas.openxmlformats.org/drawingml/2006/main">
            <a:off x="647700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2F6BFF"/>
                </a:solidFill>
                <a:latin typeface="Helvetica Neue"/>
                <a:ea typeface="Helvetica Neue"/>
                <a:cs typeface="Helvetica Neue"/>
              </a:defRPr>
            </a:defPPr>
          </a:lstStyle>
          <a:p xmlns:a="http://schemas.openxmlformats.org/drawingml/2006/main">
            <a:pPr algn="l">
              <a:defRPr sz="2850" b="1">
                <a:solidFill>
                  <a:srgbClr val="2F6BFF"/>
                </a:solidFill>
                <a:latin typeface="Helvetica Neue"/>
                <a:ea typeface="Helvetica Neue"/>
                <a:cs typeface="Helvetica Neue"/>
              </a:defRPr>
            </a:pPr>
            <a:r>
              <a:rPr sz="2850" b="1">
                <a:solidFill>
                  <a:srgbClr val="2F6BFF"/>
                </a:solidFill>
                <a:latin typeface="Helvetica Neue"/>
                <a:ea typeface="Helvetica Neue"/>
                <a:cs typeface="Helvetica Neue"/>
              </a:rPr>
              <a:t>24/24</a:t>
            </a:r>
          </a:p>
        </p:txBody>
      </p:sp>
      <p:sp>
        <p:nvSpPr>
          <p:cNvPr id="11" name="">
            <a:extLst xmlns:a="http://schemas.openxmlformats.org/drawingml/2006/main">
              <a:ext uri="{FF2B5EF4-FFF2-40B4-BE49-F238E27FC236}">
                <a16:creationId xmlns:a16="http://schemas.microsoft.com/office/drawing/2014/main" id="{DEB78C86-1B6E-47AF-869F-D478A64BC744}"/>
              </a:ext>
            </a:extLst>
          </p:cNvPr>
          <p:cNvSpPr>
            <a:spLocks xmlns:a="http://schemas.openxmlformats.org/drawingml/2006/main" noGrp="1"/>
          </p:cNvSpPr>
          <p:nvPr/>
        </p:nvSpPr>
        <p:spPr>
          <a:xfrm xmlns:a="http://schemas.openxmlformats.org/drawingml/2006/main">
            <a:off x="647700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landmark coverage</a:t>
            </a:r>
          </a:p>
        </p:txBody>
      </p:sp>
      <p:sp>
        <p:nvSpPr>
          <p:cNvPr id="12" name="">
            <a:extLst xmlns:a="http://schemas.openxmlformats.org/drawingml/2006/main">
              <a:ext uri="{FF2B5EF4-FFF2-40B4-BE49-F238E27FC236}">
                <a16:creationId xmlns:a16="http://schemas.microsoft.com/office/drawing/2014/main" id="{B6B40B6B-C302-4832-9274-AE4C55B3468F}"/>
              </a:ext>
            </a:extLst>
          </p:cNvPr>
          <p:cNvSpPr>
            <a:spLocks xmlns:a="http://schemas.openxmlformats.org/drawingml/2006/main" noGrp="1"/>
          </p:cNvSpPr>
          <p:nvPr/>
        </p:nvSpPr>
        <p:spPr>
          <a:xfrm xmlns:a="http://schemas.openxmlformats.org/drawingml/2006/main">
            <a:off x="904875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59E9C"/>
                </a:solidFill>
                <a:latin typeface="Helvetica Neue"/>
                <a:ea typeface="Helvetica Neue"/>
                <a:cs typeface="Helvetica Neue"/>
              </a:defRPr>
            </a:defPPr>
          </a:lstStyle>
          <a:p xmlns:a="http://schemas.openxmlformats.org/drawingml/2006/main">
            <a:pPr algn="l">
              <a:defRPr sz="2850" b="1">
                <a:solidFill>
                  <a:srgbClr val="159E9C"/>
                </a:solidFill>
                <a:latin typeface="Helvetica Neue"/>
                <a:ea typeface="Helvetica Neue"/>
                <a:cs typeface="Helvetica Neue"/>
              </a:defRPr>
            </a:pPr>
            <a:r>
              <a:rPr sz="2850" b="1">
                <a:solidFill>
                  <a:srgbClr val="159E9C"/>
                </a:solidFill>
                <a:latin typeface="Helvetica Neue"/>
                <a:ea typeface="Helvetica Neue"/>
                <a:cs typeface="Helvetica Neue"/>
              </a:rPr>
              <a:t>12 / 6 / 6</a:t>
            </a:r>
          </a:p>
        </p:txBody>
      </p:sp>
      <p:sp>
        <p:nvSpPr>
          <p:cNvPr id="13" name="">
            <a:extLst xmlns:a="http://schemas.openxmlformats.org/drawingml/2006/main">
              <a:ext uri="{FF2B5EF4-FFF2-40B4-BE49-F238E27FC236}">
                <a16:creationId xmlns:a16="http://schemas.microsoft.com/office/drawing/2014/main" id="{FDF3356C-2A27-496E-93FF-F80BA6B1D6E6}"/>
              </a:ext>
            </a:extLst>
          </p:cNvPr>
          <p:cNvSpPr>
            <a:spLocks xmlns:a="http://schemas.openxmlformats.org/drawingml/2006/main" noGrp="1"/>
          </p:cNvSpPr>
          <p:nvPr/>
        </p:nvSpPr>
        <p:spPr>
          <a:xfrm xmlns:a="http://schemas.openxmlformats.org/drawingml/2006/main">
            <a:off x="904875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train / val / test</a:t>
            </a:r>
          </a:p>
        </p:txBody>
      </p:sp>
      <p:sp>
        <p:nvSpPr>
          <p:cNvPr id="14" name="">
            <a:extLst xmlns:a="http://schemas.openxmlformats.org/drawingml/2006/main">
              <a:ext uri="{FF2B5EF4-FFF2-40B4-BE49-F238E27FC236}">
                <a16:creationId xmlns:a16="http://schemas.microsoft.com/office/drawing/2014/main" id="{6D50FAD0-9148-480F-A207-D022E398F1B4}"/>
              </a:ext>
            </a:extLst>
          </p:cNvPr>
          <p:cNvSpPr>
            <a:spLocks xmlns:a="http://schemas.openxmlformats.org/drawingml/2006/main" noGrp="1"/>
          </p:cNvSpPr>
          <p:nvPr/>
        </p:nvSpPr>
        <p:spPr>
          <a:xfrm xmlns:a="http://schemas.openxmlformats.org/drawingml/2006/main">
            <a:off x="647700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E67E22"/>
                </a:solidFill>
                <a:latin typeface="Helvetica Neue"/>
                <a:ea typeface="Helvetica Neue"/>
                <a:cs typeface="Helvetica Neue"/>
              </a:defRPr>
            </a:defPPr>
          </a:lstStyle>
          <a:p xmlns:a="http://schemas.openxmlformats.org/drawingml/2006/main">
            <a:pPr algn="l">
              <a:defRPr sz="2850" b="1">
                <a:solidFill>
                  <a:srgbClr val="E67E22"/>
                </a:solidFill>
                <a:latin typeface="Helvetica Neue"/>
                <a:ea typeface="Helvetica Neue"/>
                <a:cs typeface="Helvetica Neue"/>
              </a:defRPr>
            </a:pPr>
            <a:r>
              <a:rPr sz="2850" b="1">
                <a:solidFill>
                  <a:srgbClr val="E67E22"/>
                </a:solidFill>
                <a:latin typeface="Helvetica Neue"/>
                <a:ea typeface="Helvetica Neue"/>
                <a:cs typeface="Helvetica Neue"/>
              </a:rPr>
              <a:t>32</a:t>
            </a:r>
          </a:p>
        </p:txBody>
      </p:sp>
      <p:sp>
        <p:nvSpPr>
          <p:cNvPr id="15" name="">
            <a:extLst xmlns:a="http://schemas.openxmlformats.org/drawingml/2006/main">
              <a:ext uri="{FF2B5EF4-FFF2-40B4-BE49-F238E27FC236}">
                <a16:creationId xmlns:a16="http://schemas.microsoft.com/office/drawing/2014/main" id="{0935706E-C032-4D49-8DE0-41FC6EB6FB6D}"/>
              </a:ext>
            </a:extLst>
          </p:cNvPr>
          <p:cNvSpPr>
            <a:spLocks xmlns:a="http://schemas.openxmlformats.org/drawingml/2006/main" noGrp="1"/>
          </p:cNvSpPr>
          <p:nvPr/>
        </p:nvSpPr>
        <p:spPr>
          <a:xfrm xmlns:a="http://schemas.openxmlformats.org/drawingml/2006/main">
            <a:off x="647700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regression tests</a:t>
            </a:r>
          </a:p>
        </p:txBody>
      </p:sp>
      <p:sp>
        <p:nvSpPr>
          <p:cNvPr id="16" name="">
            <a:extLst xmlns:a="http://schemas.openxmlformats.org/drawingml/2006/main">
              <a:ext uri="{FF2B5EF4-FFF2-40B4-BE49-F238E27FC236}">
                <a16:creationId xmlns:a16="http://schemas.microsoft.com/office/drawing/2014/main" id="{68318D42-C9E5-42A8-8077-FF5520D839C1}"/>
              </a:ext>
            </a:extLst>
          </p:cNvPr>
          <p:cNvSpPr>
            <a:spLocks xmlns:a="http://schemas.openxmlformats.org/drawingml/2006/main" noGrp="1"/>
          </p:cNvSpPr>
          <p:nvPr/>
        </p:nvSpPr>
        <p:spPr>
          <a:xfrm xmlns:a="http://schemas.openxmlformats.org/drawingml/2006/main">
            <a:off x="904875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37B11B83-CCA2-4C2C-B309-1A91AF5E2720}"/>
              </a:ext>
            </a:extLst>
          </p:cNvPr>
          <p:cNvSpPr>
            <a:spLocks xmlns:a="http://schemas.openxmlformats.org/drawingml/2006/main" noGrp="1"/>
          </p:cNvSpPr>
          <p:nvPr/>
        </p:nvSpPr>
        <p:spPr>
          <a:xfrm xmlns:a="http://schemas.openxmlformats.org/drawingml/2006/main">
            <a:off x="904875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robustness conditions</a:t>
            </a:r>
          </a:p>
        </p:txBody>
      </p:sp>
      <p:sp>
        <p:nvSpPr>
          <p:cNvPr id="18" name="">
            <a:extLst xmlns:a="http://schemas.openxmlformats.org/drawingml/2006/main">
              <a:ext uri="{FF2B5EF4-FFF2-40B4-BE49-F238E27FC236}">
                <a16:creationId xmlns:a16="http://schemas.microsoft.com/office/drawing/2014/main" id="{8B6F629F-F4A7-445D-B414-B475754ACBA7}"/>
              </a:ext>
            </a:extLst>
          </p:cNvPr>
          <p:cNvSpPr>
            <a:spLocks xmlns:a="http://schemas.openxmlformats.org/drawingml/2006/main" noGrp="1"/>
          </p:cNvSpPr>
          <p:nvPr/>
        </p:nvSpPr>
        <p:spPr>
          <a:xfrm xmlns:a="http://schemas.openxmlformats.org/drawingml/2006/main">
            <a:off x="6477000" y="5334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02A43"/>
                </a:solidFill>
                <a:latin typeface="Helvetica Neue"/>
                <a:ea typeface="Helvetica Neue"/>
                <a:cs typeface="Helvetica Neue"/>
              </a:defRPr>
            </a:defPPr>
          </a:lstStyle>
          <a:p xmlns:a="http://schemas.openxmlformats.org/drawingml/2006/main">
            <a:pPr algn="l">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Real pilot evidence plus a peer-pair forensic audit</a:t>
            </a:r>
          </a:p>
        </p:txBody>
      </p:sp>
    </p:spTree>
    <p:extLst>
      <p:ext uri="{BB962C8B-B14F-4D97-AF65-F5344CB8AC3E}">
        <p14:creationId xmlns:p14="http://schemas.microsoft.com/office/powerpoint/2010/main" val="19648773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868EE59-BC5D-4D15-A769-282475075242}"/>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Two-channel experimental framework</a:t>
            </a:r>
          </a:p>
        </p:txBody>
      </p:sp>
      <p:sp>
        <p:nvSpPr>
          <p:cNvPr id="2" name="">
            <a:extLst xmlns:a="http://schemas.openxmlformats.org/drawingml/2006/main">
              <a:ext uri="{FF2B5EF4-FFF2-40B4-BE49-F238E27FC236}">
                <a16:creationId xmlns:a16="http://schemas.microsoft.com/office/drawing/2014/main" id="{40BEADFF-6E1A-4BBD-8278-BD71BB959104}"/>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8B12F435-183F-474E-9F3F-A91CBFA3254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B7DD6E6-7794-456F-87A0-39816542D760}"/>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D999CEA-5ECB-4149-8958-38E78D111E70}"/>
              </a:ext>
            </a:extLst>
          </p:cNvPr>
          <p:cNvSpPr>
            <a:spLocks xmlns:a="http://schemas.openxmlformats.org/drawingml/2006/main" noGrp="1"/>
          </p:cNvSpPr>
          <p:nvPr/>
        </p:nvSpPr>
        <p:spPr>
          <a:xfrm xmlns:a="http://schemas.openxmlformats.org/drawingml/2006/main">
            <a:off x="10572750" y="64960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3/11</a:t>
            </a:r>
          </a:p>
        </p:txBody>
      </p:sp>
      <p:sp>
        <p:nvSpPr>
          <p:cNvPr id="6" name="">
            <a:extLst xmlns:a="http://schemas.openxmlformats.org/drawingml/2006/main">
              <a:ext uri="{FF2B5EF4-FFF2-40B4-BE49-F238E27FC236}">
                <a16:creationId xmlns:a16="http://schemas.microsoft.com/office/drawing/2014/main" id="{3AD9001C-C60A-4F4E-91E9-11CEAD6168F9}"/>
              </a:ext>
            </a:extLst>
          </p:cNvPr>
          <p:cNvSpPr>
            <a:spLocks xmlns:a="http://schemas.openxmlformats.org/drawingml/2006/main" noGrp="1"/>
          </p:cNvSpPr>
          <p:nvPr/>
        </p:nvSpPr>
        <p:spPr>
          <a:xfrm xmlns:a="http://schemas.openxmlformats.org/drawingml/2006/main">
            <a:off x="628650" y="1381125"/>
            <a:ext cx="2333625" cy="1333500"/>
          </a:xfrm>
          <a:prstGeom xmlns:a="http://schemas.openxmlformats.org/drawingml/2006/main" prst="roundRect">
            <a:avLst>
              <a:gd name="adj" fmla="val 5714"/>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A9BCDFE9-CC48-4FF8-BF33-932005C3C72E}"/>
              </a:ext>
            </a:extLst>
          </p:cNvPr>
          <p:cNvSpPr>
            <a:spLocks xmlns:a="http://schemas.openxmlformats.org/drawingml/2006/main" noGrp="1"/>
          </p:cNvSpPr>
          <p:nvPr/>
        </p:nvSpPr>
        <p:spPr>
          <a:xfrm xmlns:a="http://schemas.openxmlformats.org/drawingml/2006/main">
            <a:off x="800100" y="1495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Public pilot</a:t>
            </a:r>
          </a:p>
        </p:txBody>
      </p:sp>
      <p:sp>
        <p:nvSpPr>
          <p:cNvPr id="8" name="">
            <a:extLst xmlns:a="http://schemas.openxmlformats.org/drawingml/2006/main">
              <a:ext uri="{FF2B5EF4-FFF2-40B4-BE49-F238E27FC236}">
                <a16:creationId xmlns:a16="http://schemas.microsoft.com/office/drawing/2014/main" id="{22F3CF4D-42E5-4291-940B-E29EB1269749}"/>
              </a:ext>
            </a:extLst>
          </p:cNvPr>
          <p:cNvSpPr>
            <a:spLocks xmlns:a="http://schemas.openxmlformats.org/drawingml/2006/main" noGrp="1"/>
          </p:cNvSpPr>
          <p:nvPr/>
        </p:nvSpPr>
        <p:spPr>
          <a:xfrm xmlns:a="http://schemas.openxmlformats.org/drawingml/2006/main">
            <a:off x="800100" y="1876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+ 12 fake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speaker/source splits</a:t>
            </a:r>
          </a:p>
        </p:txBody>
      </p:sp>
      <p:sp>
        <p:nvSpPr>
          <p:cNvPr id="9" name="">
            <a:extLst xmlns:a="http://schemas.openxmlformats.org/drawingml/2006/main">
              <a:ext uri="{FF2B5EF4-FFF2-40B4-BE49-F238E27FC236}">
                <a16:creationId xmlns:a16="http://schemas.microsoft.com/office/drawing/2014/main" id="{B711D198-F219-45F8-9E27-A0E2B180F2EF}"/>
              </a:ext>
            </a:extLst>
          </p:cNvPr>
          <p:cNvSpPr>
            <a:spLocks xmlns:a="http://schemas.openxmlformats.org/drawingml/2006/main" noGrp="1"/>
          </p:cNvSpPr>
          <p:nvPr/>
        </p:nvSpPr>
        <p:spPr>
          <a:xfrm xmlns:a="http://schemas.openxmlformats.org/drawingml/2006/main">
            <a:off x="628650" y="4048125"/>
            <a:ext cx="2333625" cy="1333500"/>
          </a:xfrm>
          <a:prstGeom xmlns:a="http://schemas.openxmlformats.org/drawingml/2006/main" prst="roundRect">
            <a:avLst>
              <a:gd name="adj" fmla="val 571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00F600B6-495F-4531-BDDF-2D7754F6E3BC}"/>
              </a:ext>
            </a:extLst>
          </p:cNvPr>
          <p:cNvSpPr>
            <a:spLocks xmlns:a="http://schemas.openxmlformats.org/drawingml/2006/main" noGrp="1"/>
          </p:cNvSpPr>
          <p:nvPr/>
        </p:nvSpPr>
        <p:spPr>
          <a:xfrm xmlns:a="http://schemas.openxmlformats.org/drawingml/2006/main">
            <a:off x="800100" y="4162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Peer pair</a:t>
            </a:r>
          </a:p>
        </p:txBody>
      </p:sp>
      <p:sp>
        <p:nvSpPr>
          <p:cNvPr id="11" name="">
            <a:extLst xmlns:a="http://schemas.openxmlformats.org/drawingml/2006/main">
              <a:ext uri="{FF2B5EF4-FFF2-40B4-BE49-F238E27FC236}">
                <a16:creationId xmlns:a16="http://schemas.microsoft.com/office/drawing/2014/main" id="{A24FF55E-3F44-474B-ADAC-233FFBD7B18E}"/>
              </a:ext>
            </a:extLst>
          </p:cNvPr>
          <p:cNvSpPr>
            <a:spLocks xmlns:a="http://schemas.openxmlformats.org/drawingml/2006/main" noGrp="1"/>
          </p:cNvSpPr>
          <p:nvPr/>
        </p:nvSpPr>
        <p:spPr>
          <a:xfrm xmlns:a="http://schemas.openxmlformats.org/drawingml/2006/main">
            <a:off x="800100" y="4543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Control + A=1 modified</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Private files, hash provenance</a:t>
            </a:r>
          </a:p>
        </p:txBody>
      </p:sp>
      <p:sp>
        <p:nvSpPr>
          <p:cNvPr id="12" name="">
            <a:extLst xmlns:a="http://schemas.openxmlformats.org/drawingml/2006/main">
              <a:ext uri="{FF2B5EF4-FFF2-40B4-BE49-F238E27FC236}">
                <a16:creationId xmlns:a16="http://schemas.microsoft.com/office/drawing/2014/main" id="{1BA030CA-6561-43A1-A95F-840543B7A2AE}"/>
              </a:ext>
            </a:extLst>
          </p:cNvPr>
          <p:cNvSpPr>
            <a:spLocks xmlns:a="http://schemas.openxmlformats.org/drawingml/2006/main" noGrp="1"/>
          </p:cNvSpPr>
          <p:nvPr/>
        </p:nvSpPr>
        <p:spPr>
          <a:xfrm xmlns:a="http://schemas.openxmlformats.org/drawingml/2006/main">
            <a:off x="4095750" y="1381125"/>
            <a:ext cx="2952750" cy="1333500"/>
          </a:xfrm>
          <a:prstGeom xmlns:a="http://schemas.openxmlformats.org/drawingml/2006/main" prst="roundRect">
            <a:avLst>
              <a:gd name="adj" fmla="val 5714"/>
            </a:avLst>
          </a:prstGeom>
          <a:solidFill xmlns:a="http://schemas.openxmlformats.org/drawingml/2006/main">
            <a:srgbClr val="E7F7F5"/>
          </a:solidFill>
          <a:ln xmlns:a="http://schemas.openxmlformats.org/drawingml/2006/main" w="19050">
            <a:solidFill>
              <a:srgbClr val="159E9C"/>
            </a:solidFill>
          </a:ln>
        </p:spPr>
      </p:sp>
      <p:sp>
        <p:nvSpPr>
          <p:cNvPr id="13" name="">
            <a:extLst xmlns:a="http://schemas.openxmlformats.org/drawingml/2006/main">
              <a:ext uri="{FF2B5EF4-FFF2-40B4-BE49-F238E27FC236}">
                <a16:creationId xmlns:a16="http://schemas.microsoft.com/office/drawing/2014/main" id="{EFE31472-852C-47C6-BB30-CF66DCFA5CB9}"/>
              </a:ext>
            </a:extLst>
          </p:cNvPr>
          <p:cNvSpPr>
            <a:spLocks xmlns:a="http://schemas.openxmlformats.org/drawingml/2006/main" noGrp="1"/>
          </p:cNvSpPr>
          <p:nvPr/>
        </p:nvSpPr>
        <p:spPr>
          <a:xfrm xmlns:a="http://schemas.openxmlformats.org/drawingml/2006/main">
            <a:off x="4267200" y="1495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Lip channel</a:t>
            </a:r>
          </a:p>
        </p:txBody>
      </p:sp>
      <p:sp>
        <p:nvSpPr>
          <p:cNvPr id="14" name="">
            <a:extLst xmlns:a="http://schemas.openxmlformats.org/drawingml/2006/main">
              <a:ext uri="{FF2B5EF4-FFF2-40B4-BE49-F238E27FC236}">
                <a16:creationId xmlns:a16="http://schemas.microsoft.com/office/drawing/2014/main" id="{2E3F5435-06AF-4599-AE9C-92349DFDB2EB}"/>
              </a:ext>
            </a:extLst>
          </p:cNvPr>
          <p:cNvSpPr>
            <a:spLocks xmlns:a="http://schemas.openxmlformats.org/drawingml/2006/main" noGrp="1"/>
          </p:cNvSpPr>
          <p:nvPr/>
        </p:nvSpPr>
        <p:spPr>
          <a:xfrm xmlns:a="http://schemas.openxmlformats.org/drawingml/2006/main">
            <a:off x="4267200" y="1876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MediaPipe geometry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Context-free vs weak context</a:t>
            </a:r>
          </a:p>
        </p:txBody>
      </p:sp>
      <p:sp>
        <p:nvSpPr>
          <p:cNvPr id="15" name="">
            <a:extLst xmlns:a="http://schemas.openxmlformats.org/drawingml/2006/main">
              <a:ext uri="{FF2B5EF4-FFF2-40B4-BE49-F238E27FC236}">
                <a16:creationId xmlns:a16="http://schemas.microsoft.com/office/drawing/2014/main" id="{E7A8C2D0-7229-487F-A0F8-2148EFEE4613}"/>
              </a:ext>
            </a:extLst>
          </p:cNvPr>
          <p:cNvSpPr>
            <a:spLocks xmlns:a="http://schemas.openxmlformats.org/drawingml/2006/main" noGrp="1"/>
          </p:cNvSpPr>
          <p:nvPr/>
        </p:nvSpPr>
        <p:spPr>
          <a:xfrm xmlns:a="http://schemas.openxmlformats.org/drawingml/2006/main">
            <a:off x="4095750" y="4048125"/>
            <a:ext cx="2952750" cy="1333500"/>
          </a:xfrm>
          <a:prstGeom xmlns:a="http://schemas.openxmlformats.org/drawingml/2006/main" prst="roundRect">
            <a:avLst>
              <a:gd name="adj" fmla="val 5714"/>
            </a:avLst>
          </a:prstGeom>
          <a:solidFill xmlns:a="http://schemas.openxmlformats.org/drawingml/2006/main">
            <a:srgbClr val="FCECEC"/>
          </a:solidFill>
          <a:ln xmlns:a="http://schemas.openxmlformats.org/drawingml/2006/main" w="19050">
            <a:solidFill>
              <a:srgbClr val="D64545"/>
            </a:solidFill>
          </a:ln>
        </p:spPr>
      </p:sp>
      <p:sp>
        <p:nvSpPr>
          <p:cNvPr id="16" name="">
            <a:extLst xmlns:a="http://schemas.openxmlformats.org/drawingml/2006/main">
              <a:ext uri="{FF2B5EF4-FFF2-40B4-BE49-F238E27FC236}">
                <a16:creationId xmlns:a16="http://schemas.microsoft.com/office/drawing/2014/main" id="{2531CDC0-9898-4645-95BD-18D93E5CF4F1}"/>
              </a:ext>
            </a:extLst>
          </p:cNvPr>
          <p:cNvSpPr>
            <a:spLocks xmlns:a="http://schemas.openxmlformats.org/drawingml/2006/main" noGrp="1"/>
          </p:cNvSpPr>
          <p:nvPr/>
        </p:nvSpPr>
        <p:spPr>
          <a:xfrm xmlns:a="http://schemas.openxmlformats.org/drawingml/2006/main">
            <a:off x="4267200" y="4162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Chromatic channel</a:t>
            </a:r>
          </a:p>
        </p:txBody>
      </p:sp>
      <p:sp>
        <p:nvSpPr>
          <p:cNvPr id="17" name="">
            <a:extLst xmlns:a="http://schemas.openxmlformats.org/drawingml/2006/main">
              <a:ext uri="{FF2B5EF4-FFF2-40B4-BE49-F238E27FC236}">
                <a16:creationId xmlns:a16="http://schemas.microsoft.com/office/drawing/2014/main" id="{FBAB5D59-5276-403D-8969-7281E12D5BA3}"/>
              </a:ext>
            </a:extLst>
          </p:cNvPr>
          <p:cNvSpPr>
            <a:spLocks xmlns:a="http://schemas.openxmlformats.org/drawingml/2006/main" noGrp="1"/>
          </p:cNvSpPr>
          <p:nvPr/>
        </p:nvSpPr>
        <p:spPr>
          <a:xfrm xmlns:a="http://schemas.openxmlformats.org/drawingml/2006/main">
            <a:off x="4267200" y="4543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RGB difference + FFT</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Neutral re-encode control</a:t>
            </a:r>
          </a:p>
        </p:txBody>
      </p:sp>
      <p:sp>
        <p:nvSpPr>
          <p:cNvPr id="18" name="">
            <a:extLst xmlns:a="http://schemas.openxmlformats.org/drawingml/2006/main">
              <a:ext uri="{FF2B5EF4-FFF2-40B4-BE49-F238E27FC236}">
                <a16:creationId xmlns:a16="http://schemas.microsoft.com/office/drawing/2014/main" id="{CF5E962B-53DB-4B2A-90B1-0941B1248A35}"/>
              </a:ext>
            </a:extLst>
          </p:cNvPr>
          <p:cNvSpPr>
            <a:spLocks xmlns:a="http://schemas.openxmlformats.org/drawingml/2006/main" noGrp="1"/>
          </p:cNvSpPr>
          <p:nvPr/>
        </p:nvSpPr>
        <p:spPr>
          <a:xfrm xmlns:a="http://schemas.openxmlformats.org/drawingml/2006/main">
            <a:off x="8334375" y="1381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19" name="">
            <a:extLst xmlns:a="http://schemas.openxmlformats.org/drawingml/2006/main">
              <a:ext uri="{FF2B5EF4-FFF2-40B4-BE49-F238E27FC236}">
                <a16:creationId xmlns:a16="http://schemas.microsoft.com/office/drawing/2014/main" id="{9FDEDDE1-D73C-4577-8327-8F7C1DFAB042}"/>
              </a:ext>
            </a:extLst>
          </p:cNvPr>
          <p:cNvSpPr>
            <a:spLocks xmlns:a="http://schemas.openxmlformats.org/drawingml/2006/main" noGrp="1"/>
          </p:cNvSpPr>
          <p:nvPr/>
        </p:nvSpPr>
        <p:spPr>
          <a:xfrm xmlns:a="http://schemas.openxmlformats.org/drawingml/2006/main">
            <a:off x="8505825" y="1495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Held-out metrics</a:t>
            </a:r>
          </a:p>
        </p:txBody>
      </p:sp>
      <p:sp>
        <p:nvSpPr>
          <p:cNvPr id="20" name="">
            <a:extLst xmlns:a="http://schemas.openxmlformats.org/drawingml/2006/main">
              <a:ext uri="{FF2B5EF4-FFF2-40B4-BE49-F238E27FC236}">
                <a16:creationId xmlns:a16="http://schemas.microsoft.com/office/drawing/2014/main" id="{F8FB751D-2539-4421-A422-F0D0BC59BE95}"/>
              </a:ext>
            </a:extLst>
          </p:cNvPr>
          <p:cNvSpPr>
            <a:spLocks xmlns:a="http://schemas.openxmlformats.org/drawingml/2006/main" noGrp="1"/>
          </p:cNvSpPr>
          <p:nvPr/>
        </p:nvSpPr>
        <p:spPr>
          <a:xfrm xmlns:a="http://schemas.openxmlformats.org/drawingml/2006/main">
            <a:off x="8505825" y="1876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Macro-F1, AUROC</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Failures and bootstrap intervals</a:t>
            </a:r>
          </a:p>
        </p:txBody>
      </p:sp>
      <p:sp>
        <p:nvSpPr>
          <p:cNvPr id="21" name="">
            <a:extLst xmlns:a="http://schemas.openxmlformats.org/drawingml/2006/main">
              <a:ext uri="{FF2B5EF4-FFF2-40B4-BE49-F238E27FC236}">
                <a16:creationId xmlns:a16="http://schemas.microsoft.com/office/drawing/2014/main" id="{D0EEE63A-B179-4BE0-9F75-72E1953168F9}"/>
              </a:ext>
            </a:extLst>
          </p:cNvPr>
          <p:cNvSpPr>
            <a:spLocks xmlns:a="http://schemas.openxmlformats.org/drawingml/2006/main" noGrp="1"/>
          </p:cNvSpPr>
          <p:nvPr/>
        </p:nvSpPr>
        <p:spPr>
          <a:xfrm xmlns:a="http://schemas.openxmlformats.org/drawingml/2006/main">
            <a:off x="8334375" y="4048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22" name="">
            <a:extLst xmlns:a="http://schemas.openxmlformats.org/drawingml/2006/main">
              <a:ext uri="{FF2B5EF4-FFF2-40B4-BE49-F238E27FC236}">
                <a16:creationId xmlns:a16="http://schemas.microsoft.com/office/drawing/2014/main" id="{D08D2B37-DFCF-4900-9F3D-175854834C0A}"/>
              </a:ext>
            </a:extLst>
          </p:cNvPr>
          <p:cNvSpPr>
            <a:spLocks xmlns:a="http://schemas.openxmlformats.org/drawingml/2006/main" noGrp="1"/>
          </p:cNvSpPr>
          <p:nvPr/>
        </p:nvSpPr>
        <p:spPr>
          <a:xfrm xmlns:a="http://schemas.openxmlformats.org/drawingml/2006/main">
            <a:off x="8505825" y="4162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Paired evidence</a:t>
            </a:r>
          </a:p>
        </p:txBody>
      </p:sp>
      <p:sp>
        <p:nvSpPr>
          <p:cNvPr id="23" name="">
            <a:extLst xmlns:a="http://schemas.openxmlformats.org/drawingml/2006/main">
              <a:ext uri="{FF2B5EF4-FFF2-40B4-BE49-F238E27FC236}">
                <a16:creationId xmlns:a16="http://schemas.microsoft.com/office/drawing/2014/main" id="{BC23BF08-5CD7-4E51-9C72-E54A154807B2}"/>
              </a:ext>
            </a:extLst>
          </p:cNvPr>
          <p:cNvSpPr>
            <a:spLocks xmlns:a="http://schemas.openxmlformats.org/drawingml/2006/main" noGrp="1"/>
          </p:cNvSpPr>
          <p:nvPr/>
        </p:nvSpPr>
        <p:spPr>
          <a:xfrm xmlns:a="http://schemas.openxmlformats.org/drawingml/2006/main">
            <a:off x="8505825" y="4543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Hz energy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Compression, resize, 15 FPS</a:t>
            </a:r>
          </a:p>
        </p:txBody>
      </p:sp>
      <p:sp>
        <p:nvSpPr>
          <p:cNvPr id="24" name="">
            <a:extLst xmlns:a="http://schemas.openxmlformats.org/drawingml/2006/main">
              <a:ext uri="{FF2B5EF4-FFF2-40B4-BE49-F238E27FC236}">
                <a16:creationId xmlns:a16="http://schemas.microsoft.com/office/drawing/2014/main" id="{11AF4DDF-A659-43E2-974B-89461094FBBF}"/>
              </a:ext>
            </a:extLst>
          </p:cNvPr>
          <p:cNvSpPr>
            <a:spLocks xmlns:a="http://schemas.openxmlformats.org/drawingml/2006/main" noGrp="1"/>
          </p:cNvSpPr>
          <p:nvPr/>
        </p:nvSpPr>
        <p:spPr>
          <a:xfrm xmlns:a="http://schemas.openxmlformats.org/drawingml/2006/main">
            <a:off x="2962275" y="2047875"/>
            <a:ext cx="11334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5" name="">
            <a:extLst xmlns:a="http://schemas.openxmlformats.org/drawingml/2006/main">
              <a:ext uri="{FF2B5EF4-FFF2-40B4-BE49-F238E27FC236}">
                <a16:creationId xmlns:a16="http://schemas.microsoft.com/office/drawing/2014/main" id="{D88CF9F7-2B2F-460F-9393-F9F0B6144DAD}"/>
              </a:ext>
            </a:extLst>
          </p:cNvPr>
          <p:cNvSpPr>
            <a:spLocks xmlns:a="http://schemas.openxmlformats.org/drawingml/2006/main" noGrp="1"/>
          </p:cNvSpPr>
          <p:nvPr/>
        </p:nvSpPr>
        <p:spPr>
          <a:xfrm xmlns:a="http://schemas.openxmlformats.org/drawingml/2006/main">
            <a:off x="7048500" y="2047875"/>
            <a:ext cx="1285875" cy="0"/>
          </a:xfrm>
          <a:prstGeom xmlns:a="http://schemas.openxmlformats.org/drawingml/2006/main" prst="line">
            <a:avLst/>
          </a:prstGeom>
          <a:noFill xmlns:a="http://schemas.openxmlformats.org/drawingml/2006/main"/>
          <a:ln xmlns:a="http://schemas.openxmlformats.org/drawingml/2006/main" w="19050">
            <a:solidFill>
              <a:srgbClr val="159E9C"/>
            </a:solidFill>
          </a:ln>
        </p:spPr>
      </p:sp>
      <p:sp>
        <p:nvSpPr>
          <p:cNvPr id="26" name="">
            <a:extLst xmlns:a="http://schemas.openxmlformats.org/drawingml/2006/main">
              <a:ext uri="{FF2B5EF4-FFF2-40B4-BE49-F238E27FC236}">
                <a16:creationId xmlns:a16="http://schemas.microsoft.com/office/drawing/2014/main" id="{73A601CD-2862-47B2-90CC-BE33533CA220}"/>
              </a:ext>
            </a:extLst>
          </p:cNvPr>
          <p:cNvSpPr>
            <a:spLocks xmlns:a="http://schemas.openxmlformats.org/drawingml/2006/main" noGrp="1"/>
          </p:cNvSpPr>
          <p:nvPr/>
        </p:nvSpPr>
        <p:spPr>
          <a:xfrm xmlns:a="http://schemas.openxmlformats.org/drawingml/2006/main">
            <a:off x="2962275" y="4714875"/>
            <a:ext cx="1133475"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7" name="">
            <a:extLst xmlns:a="http://schemas.openxmlformats.org/drawingml/2006/main">
              <a:ext uri="{FF2B5EF4-FFF2-40B4-BE49-F238E27FC236}">
                <a16:creationId xmlns:a16="http://schemas.microsoft.com/office/drawing/2014/main" id="{18E6F126-6EEB-4809-BA9D-B66D6BC3D3E8}"/>
              </a:ext>
            </a:extLst>
          </p:cNvPr>
          <p:cNvSpPr>
            <a:spLocks xmlns:a="http://schemas.openxmlformats.org/drawingml/2006/main" noGrp="1"/>
          </p:cNvSpPr>
          <p:nvPr/>
        </p:nvSpPr>
        <p:spPr>
          <a:xfrm xmlns:a="http://schemas.openxmlformats.org/drawingml/2006/main">
            <a:off x="7048500" y="4714875"/>
            <a:ext cx="1285875" cy="0"/>
          </a:xfrm>
          <a:prstGeom xmlns:a="http://schemas.openxmlformats.org/drawingml/2006/main" prst="line">
            <a:avLst/>
          </a:prstGeom>
          <a:noFill xmlns:a="http://schemas.openxmlformats.org/drawingml/2006/main"/>
          <a:ln xmlns:a="http://schemas.openxmlformats.org/drawingml/2006/main" w="19050">
            <a:solidFill>
              <a:srgbClr val="D64545"/>
            </a:solidFill>
          </a:ln>
        </p:spPr>
      </p:sp>
      <p:sp>
        <p:nvSpPr>
          <p:cNvPr id="28" name="">
            <a:extLst xmlns:a="http://schemas.openxmlformats.org/drawingml/2006/main">
              <a:ext uri="{FF2B5EF4-FFF2-40B4-BE49-F238E27FC236}">
                <a16:creationId xmlns:a16="http://schemas.microsoft.com/office/drawing/2014/main" id="{37653CE4-B004-4063-BD62-C7FD962DFF9A}"/>
              </a:ext>
            </a:extLst>
          </p:cNvPr>
          <p:cNvSpPr>
            <a:spLocks xmlns:a="http://schemas.openxmlformats.org/drawingml/2006/main" noGrp="1"/>
          </p:cNvSpPr>
          <p:nvPr/>
        </p:nvSpPr>
        <p:spPr>
          <a:xfrm xmlns:a="http://schemas.openxmlformats.org/drawingml/2006/main">
            <a:off x="3733800" y="5857875"/>
            <a:ext cx="542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102A43"/>
                </a:solidFill>
                <a:latin typeface="Helvetica Neue"/>
                <a:ea typeface="Helvetica Neue"/>
                <a:cs typeface="Helvetica Neue"/>
              </a:defRPr>
            </a:defPPr>
          </a:lstStyle>
          <a:p xmlns:a="http://schemas.openxmlformats.org/drawingml/2006/main">
            <a:pPr algn="ctr">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Separate evidence. No fusion tuned on one peer pair.</a:t>
            </a:r>
          </a:p>
        </p:txBody>
      </p:sp>
    </p:spTree>
    <p:extLst>
      <p:ext uri="{BB962C8B-B14F-4D97-AF65-F5344CB8AC3E}">
        <p14:creationId xmlns:p14="http://schemas.microsoft.com/office/powerpoint/2010/main" val="1178790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54C5DDA-D2C5-480F-A203-F0C84E5AD00B}"/>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Dark.Mimic attack and our defensive question</a:t>
            </a:r>
          </a:p>
        </p:txBody>
      </p:sp>
      <p:sp>
        <p:nvSpPr>
          <p:cNvPr id="2" name="">
            <a:extLst xmlns:a="http://schemas.openxmlformats.org/drawingml/2006/main">
              <a:ext uri="{FF2B5EF4-FFF2-40B4-BE49-F238E27FC236}">
                <a16:creationId xmlns:a16="http://schemas.microsoft.com/office/drawing/2014/main" id="{DF3D90E9-2AA5-4A9E-A749-8C7C92E007E0}"/>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DD704BC7-33DC-46FF-A1BC-17BBE7B54F99}"/>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7C8BEA-EF2E-4067-B640-815E1E0DA4D3}"/>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92697335-2F5C-4F6E-9D83-D689AFDB301B}"/>
              </a:ext>
            </a:extLst>
          </p:cNvPr>
          <p:cNvSpPr>
            <a:spLocks xmlns:a="http://schemas.openxmlformats.org/drawingml/2006/main" noGrp="1"/>
          </p:cNvSpPr>
          <p:nvPr/>
        </p:nvSpPr>
        <p:spPr>
          <a:xfrm xmlns:a="http://schemas.openxmlformats.org/drawingml/2006/main">
            <a:off x="10572750" y="64960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4/11</a:t>
            </a:r>
          </a:p>
        </p:txBody>
      </p:sp>
      <p:sp>
        <p:nvSpPr>
          <p:cNvPr id="6" name="">
            <a:extLst xmlns:a="http://schemas.openxmlformats.org/drawingml/2006/main">
              <a:ext uri="{FF2B5EF4-FFF2-40B4-BE49-F238E27FC236}">
                <a16:creationId xmlns:a16="http://schemas.microsoft.com/office/drawing/2014/main" id="{AEFE1FB1-4CFE-43A7-AC22-5E66A193F942}"/>
              </a:ext>
            </a:extLst>
          </p:cNvPr>
          <p:cNvSpPr>
            <a:spLocks xmlns:a="http://schemas.openxmlformats.org/drawingml/2006/main" noGrp="1"/>
          </p:cNvSpPr>
          <p:nvPr/>
        </p:nvSpPr>
        <p:spPr>
          <a:xfrm xmlns:a="http://schemas.openxmlformats.org/drawingml/2006/main">
            <a:off x="666750" y="1666875"/>
            <a:ext cx="2619375" cy="1238250"/>
          </a:xfrm>
          <a:prstGeom xmlns:a="http://schemas.openxmlformats.org/drawingml/2006/main" prst="roundRect">
            <a:avLst>
              <a:gd name="adj" fmla="val 6154"/>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2A08EFE4-4CE6-44F9-93F1-6397271E936C}"/>
              </a:ext>
            </a:extLst>
          </p:cNvPr>
          <p:cNvSpPr>
            <a:spLocks xmlns:a="http://schemas.openxmlformats.org/drawingml/2006/main" noGrp="1"/>
          </p:cNvSpPr>
          <p:nvPr/>
        </p:nvSpPr>
        <p:spPr>
          <a:xfrm xmlns:a="http://schemas.openxmlformats.org/drawingml/2006/main">
            <a:off x="838200"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Generated talking face</a:t>
            </a:r>
          </a:p>
        </p:txBody>
      </p:sp>
      <p:sp>
        <p:nvSpPr>
          <p:cNvPr id="8" name="">
            <a:extLst xmlns:a="http://schemas.openxmlformats.org/drawingml/2006/main">
              <a:ext uri="{FF2B5EF4-FFF2-40B4-BE49-F238E27FC236}">
                <a16:creationId xmlns:a16="http://schemas.microsoft.com/office/drawing/2014/main" id="{BFAEA2E0-6167-4AE2-826C-98EEE46392F7}"/>
              </a:ext>
            </a:extLst>
          </p:cNvPr>
          <p:cNvSpPr>
            <a:spLocks xmlns:a="http://schemas.openxmlformats.org/drawingml/2006/main" noGrp="1"/>
          </p:cNvSpPr>
          <p:nvPr/>
        </p:nvSpPr>
        <p:spPr>
          <a:xfrm xmlns:a="http://schemas.openxmlformats.org/drawingml/2006/main">
            <a:off x="838200"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SadTalker-style speech-to-face output</a:t>
            </a:r>
          </a:p>
        </p:txBody>
      </p:sp>
      <p:sp>
        <p:nvSpPr>
          <p:cNvPr id="9" name="">
            <a:extLst xmlns:a="http://schemas.openxmlformats.org/drawingml/2006/main">
              <a:ext uri="{FF2B5EF4-FFF2-40B4-BE49-F238E27FC236}">
                <a16:creationId xmlns:a16="http://schemas.microsoft.com/office/drawing/2014/main" id="{DCEA0F9C-FD1C-441D-96D1-1F3FCEE488E2}"/>
              </a:ext>
            </a:extLst>
          </p:cNvPr>
          <p:cNvSpPr>
            <a:spLocks xmlns:a="http://schemas.openxmlformats.org/drawingml/2006/main" noGrp="1"/>
          </p:cNvSpPr>
          <p:nvPr/>
        </p:nvSpPr>
        <p:spPr>
          <a:xfrm xmlns:a="http://schemas.openxmlformats.org/drawingml/2006/main">
            <a:off x="4810125" y="1666875"/>
            <a:ext cx="2619375" cy="1238250"/>
          </a:xfrm>
          <a:prstGeom xmlns:a="http://schemas.openxmlformats.org/drawingml/2006/main" prst="roundRect">
            <a:avLst>
              <a:gd name="adj" fmla="val 615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B7596F96-5C4E-4503-83B1-A9B5D1A00607}"/>
              </a:ext>
            </a:extLst>
          </p:cNvPr>
          <p:cNvSpPr>
            <a:spLocks xmlns:a="http://schemas.openxmlformats.org/drawingml/2006/main" noGrp="1"/>
          </p:cNvSpPr>
          <p:nvPr/>
        </p:nvSpPr>
        <p:spPr>
          <a:xfrm xmlns:a="http://schemas.openxmlformats.org/drawingml/2006/main">
            <a:off x="498157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Periodic colour change</a:t>
            </a:r>
          </a:p>
        </p:txBody>
      </p:sp>
      <p:sp>
        <p:nvSpPr>
          <p:cNvPr id="11" name="">
            <a:extLst xmlns:a="http://schemas.openxmlformats.org/drawingml/2006/main">
              <a:ext uri="{FF2B5EF4-FFF2-40B4-BE49-F238E27FC236}">
                <a16:creationId xmlns:a16="http://schemas.microsoft.com/office/drawing/2014/main" id="{9A1D57EC-057F-4E0C-9F68-C43494092E1E}"/>
              </a:ext>
            </a:extLst>
          </p:cNvPr>
          <p:cNvSpPr>
            <a:spLocks xmlns:a="http://schemas.openxmlformats.org/drawingml/2006/main" noGrp="1"/>
          </p:cNvSpPr>
          <p:nvPr/>
        </p:nvSpPr>
        <p:spPr>
          <a:xfrm xmlns:a="http://schemas.openxmlformats.org/drawingml/2006/main">
            <a:off x="498157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A=1 physiological-signal manipulation</a:t>
            </a:r>
          </a:p>
        </p:txBody>
      </p:sp>
      <p:sp>
        <p:nvSpPr>
          <p:cNvPr id="12" name="">
            <a:extLst xmlns:a="http://schemas.openxmlformats.org/drawingml/2006/main">
              <a:ext uri="{FF2B5EF4-FFF2-40B4-BE49-F238E27FC236}">
                <a16:creationId xmlns:a16="http://schemas.microsoft.com/office/drawing/2014/main" id="{06526E12-2CB0-4D96-A7DC-1778CD6C0765}"/>
              </a:ext>
            </a:extLst>
          </p:cNvPr>
          <p:cNvSpPr>
            <a:spLocks xmlns:a="http://schemas.openxmlformats.org/drawingml/2006/main" noGrp="1"/>
          </p:cNvSpPr>
          <p:nvPr/>
        </p:nvSpPr>
        <p:spPr>
          <a:xfrm xmlns:a="http://schemas.openxmlformats.org/drawingml/2006/main">
            <a:off x="8905875" y="1666875"/>
            <a:ext cx="2619375" cy="1238250"/>
          </a:xfrm>
          <a:prstGeom xmlns:a="http://schemas.openxmlformats.org/drawingml/2006/main" prst="roundRect">
            <a:avLst>
              <a:gd name="adj" fmla="val 6154"/>
            </a:avLst>
          </a:prstGeom>
          <a:solidFill xmlns:a="http://schemas.openxmlformats.org/drawingml/2006/main">
            <a:srgbClr val="EAF1FF"/>
          </a:solidFill>
          <a:ln xmlns:a="http://schemas.openxmlformats.org/drawingml/2006/main" w="19050">
            <a:solidFill>
              <a:srgbClr val="2F6BFF"/>
            </a:solidFill>
          </a:ln>
        </p:spPr>
      </p:sp>
      <p:sp>
        <p:nvSpPr>
          <p:cNvPr id="13" name="">
            <a:extLst xmlns:a="http://schemas.openxmlformats.org/drawingml/2006/main">
              <a:ext uri="{FF2B5EF4-FFF2-40B4-BE49-F238E27FC236}">
                <a16:creationId xmlns:a16="http://schemas.microsoft.com/office/drawing/2014/main" id="{B984AEAD-3F24-4867-8945-E9F256320939}"/>
              </a:ext>
            </a:extLst>
          </p:cNvPr>
          <p:cNvSpPr>
            <a:spLocks xmlns:a="http://schemas.openxmlformats.org/drawingml/2006/main" noGrp="1"/>
          </p:cNvSpPr>
          <p:nvPr/>
        </p:nvSpPr>
        <p:spPr>
          <a:xfrm xmlns:a="http://schemas.openxmlformats.org/drawingml/2006/main">
            <a:off x="907732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rPPG detector</a:t>
            </a:r>
          </a:p>
        </p:txBody>
      </p:sp>
      <p:sp>
        <p:nvSpPr>
          <p:cNvPr id="14" name="">
            <a:extLst xmlns:a="http://schemas.openxmlformats.org/drawingml/2006/main">
              <a:ext uri="{FF2B5EF4-FFF2-40B4-BE49-F238E27FC236}">
                <a16:creationId xmlns:a16="http://schemas.microsoft.com/office/drawing/2014/main" id="{EF2BB3D9-411B-48B1-B4C3-1225B51BA37B}"/>
              </a:ext>
            </a:extLst>
          </p:cNvPr>
          <p:cNvSpPr>
            <a:spLocks xmlns:a="http://schemas.openxmlformats.org/drawingml/2006/main" noGrp="1"/>
          </p:cNvSpPr>
          <p:nvPr/>
        </p:nvSpPr>
        <p:spPr>
          <a:xfrm xmlns:a="http://schemas.openxmlformats.org/drawingml/2006/main">
            <a:off x="907732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Goal: make the fake look physiologically plausible</a:t>
            </a:r>
          </a:p>
        </p:txBody>
      </p:sp>
      <p:sp>
        <p:nvSpPr>
          <p:cNvPr id="15" name="">
            <a:extLst xmlns:a="http://schemas.openxmlformats.org/drawingml/2006/main">
              <a:ext uri="{FF2B5EF4-FFF2-40B4-BE49-F238E27FC236}">
                <a16:creationId xmlns:a16="http://schemas.microsoft.com/office/drawing/2014/main" id="{8A45C406-A77C-4391-A330-7B0E6A6756DD}"/>
              </a:ext>
            </a:extLst>
          </p:cNvPr>
          <p:cNvSpPr>
            <a:spLocks xmlns:a="http://schemas.openxmlformats.org/drawingml/2006/main" noGrp="1"/>
          </p:cNvSpPr>
          <p:nvPr/>
        </p:nvSpPr>
        <p:spPr>
          <a:xfrm xmlns:a="http://schemas.openxmlformats.org/drawingml/2006/main">
            <a:off x="3286125" y="2286000"/>
            <a:ext cx="15240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16" name="">
            <a:extLst xmlns:a="http://schemas.openxmlformats.org/drawingml/2006/main">
              <a:ext uri="{FF2B5EF4-FFF2-40B4-BE49-F238E27FC236}">
                <a16:creationId xmlns:a16="http://schemas.microsoft.com/office/drawing/2014/main" id="{EA79A5D2-317B-4572-ACFF-847130224D53}"/>
              </a:ext>
            </a:extLst>
          </p:cNvPr>
          <p:cNvSpPr>
            <a:spLocks xmlns:a="http://schemas.openxmlformats.org/drawingml/2006/main" noGrp="1"/>
          </p:cNvSpPr>
          <p:nvPr/>
        </p:nvSpPr>
        <p:spPr>
          <a:xfrm xmlns:a="http://schemas.openxmlformats.org/drawingml/2006/main">
            <a:off x="7429500" y="2286000"/>
            <a:ext cx="14763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17" name="">
            <a:extLst xmlns:a="http://schemas.openxmlformats.org/drawingml/2006/main">
              <a:ext uri="{FF2B5EF4-FFF2-40B4-BE49-F238E27FC236}">
                <a16:creationId xmlns:a16="http://schemas.microsoft.com/office/drawing/2014/main" id="{5C7D39C0-5970-48DE-AD7C-8FC87DD3D3F8}"/>
              </a:ext>
            </a:extLst>
          </p:cNvPr>
          <p:cNvSpPr>
            <a:spLocks xmlns:a="http://schemas.openxmlformats.org/drawingml/2006/main" noGrp="1"/>
          </p:cNvSpPr>
          <p:nvPr/>
        </p:nvSpPr>
        <p:spPr>
          <a:xfrm xmlns:a="http://schemas.openxmlformats.org/drawingml/2006/main">
            <a:off x="1666875" y="3714750"/>
            <a:ext cx="8858250" cy="381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860B6FD-5842-4A8F-A45D-4C2DF620DCFE}"/>
              </a:ext>
            </a:extLst>
          </p:cNvPr>
          <p:cNvSpPr>
            <a:spLocks xmlns:a="http://schemas.openxmlformats.org/drawingml/2006/main" noGrp="1"/>
          </p:cNvSpPr>
          <p:nvPr/>
        </p:nvSpPr>
        <p:spPr>
          <a:xfrm xmlns:a="http://schemas.openxmlformats.org/drawingml/2006/main">
            <a:off x="666750" y="404812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1">
                <a:solidFill>
                  <a:srgbClr val="159E9C"/>
                </a:solidFill>
                <a:latin typeface="Helvetica Neue"/>
                <a:ea typeface="Helvetica Neue"/>
                <a:cs typeface="Helvetica Neue"/>
              </a:defRPr>
            </a:defPPr>
          </a:lstStyle>
          <a:p xmlns:a="http://schemas.openxmlformats.org/drawingml/2006/main">
            <a:pPr algn="l">
              <a:defRPr sz="1800" b="1">
                <a:solidFill>
                  <a:srgbClr val="159E9C"/>
                </a:solidFill>
                <a:latin typeface="Helvetica Neue"/>
                <a:ea typeface="Helvetica Neue"/>
                <a:cs typeface="Helvetica Neue"/>
              </a:defRPr>
            </a:pPr>
            <a:r>
              <a:rPr sz="1800" b="1">
                <a:solidFill>
                  <a:srgbClr val="159E9C"/>
                </a:solidFill>
                <a:latin typeface="Helvetica Neue"/>
                <a:ea typeface="Helvetica Neue"/>
                <a:cs typeface="Helvetica Neue"/>
              </a:rPr>
              <a:t>Light-side question</a:t>
            </a:r>
          </a:p>
        </p:txBody>
      </p:sp>
      <p:sp>
        <p:nvSpPr>
          <p:cNvPr id="19" name="">
            <a:extLst xmlns:a="http://schemas.openxmlformats.org/drawingml/2006/main">
              <a:ext uri="{FF2B5EF4-FFF2-40B4-BE49-F238E27FC236}">
                <a16:creationId xmlns:a16="http://schemas.microsoft.com/office/drawing/2014/main" id="{FF6DF7A1-FDDF-4A77-98B4-B4C97C4B02D3}"/>
              </a:ext>
            </a:extLst>
          </p:cNvPr>
          <p:cNvSpPr>
            <a:spLocks xmlns:a="http://schemas.openxmlformats.org/drawingml/2006/main" noGrp="1"/>
          </p:cNvSpPr>
          <p:nvPr/>
        </p:nvSpPr>
        <p:spPr>
          <a:xfrm xmlns:a="http://schemas.openxmlformats.org/drawingml/2006/main">
            <a:off x="3333750" y="3943350"/>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102A43"/>
                </a:solidFill>
                <a:latin typeface="Helvetica Neue"/>
                <a:ea typeface="Helvetica Neue"/>
                <a:cs typeface="Helvetica Neue"/>
              </a:defRPr>
            </a:defPPr>
          </a:lstStyle>
          <a:p xmlns:a="http://schemas.openxmlformats.org/drawingml/2006/main">
            <a:pPr algn="ctr">
              <a:defRPr sz="2250" b="1">
                <a:solidFill>
                  <a:srgbClr val="102A43"/>
                </a:solidFill>
                <a:latin typeface="Helvetica Neue"/>
                <a:ea typeface="Helvetica Neue"/>
                <a:cs typeface="Helvetica Neue"/>
              </a:defRPr>
            </a:pPr>
            <a:r>
              <a:rPr sz="2250" b="1">
                <a:solidFill>
                  <a:srgbClr val="102A43"/>
                </a:solidFill>
                <a:latin typeface="Helvetica Neue"/>
                <a:ea typeface="Helvetica Neue"/>
                <a:cs typeface="Helvetica Neue"/>
              </a:rPr>
              <a:t>If the attack repairs one signal, does it leave another trace?</a:t>
            </a:r>
          </a:p>
        </p:txBody>
      </p:sp>
      <p:sp>
        <p:nvSpPr>
          <p:cNvPr id="20" name="">
            <a:extLst xmlns:a="http://schemas.openxmlformats.org/drawingml/2006/main">
              <a:ext uri="{FF2B5EF4-FFF2-40B4-BE49-F238E27FC236}">
                <a16:creationId xmlns:a16="http://schemas.microsoft.com/office/drawing/2014/main" id="{412F8DB4-8770-42FC-BC0C-0BFD4403FDA3}"/>
              </a:ext>
            </a:extLst>
          </p:cNvPr>
          <p:cNvSpPr>
            <a:spLocks xmlns:a="http://schemas.openxmlformats.org/drawingml/2006/main" noGrp="1"/>
          </p:cNvSpPr>
          <p:nvPr/>
        </p:nvSpPr>
        <p:spPr>
          <a:xfrm xmlns:a="http://schemas.openxmlformats.org/drawingml/2006/main">
            <a:off x="1619250" y="48101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0">
                <a:solidFill>
                  <a:srgbClr val="243B53"/>
                </a:solidFill>
                <a:latin typeface="Helvetica Neue"/>
                <a:ea typeface="Helvetica Neue"/>
                <a:cs typeface="Helvetica Neue"/>
              </a:defRPr>
            </a:defPPr>
          </a:lstStyle>
          <a:p xmlns:a="http://schemas.openxmlformats.org/drawingml/2006/main">
            <a:pPr algn="ctr">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Earlier paired check: identical audio and mouth-geometry correlations of 0.997 to 0.999</a:t>
            </a:r>
          </a:p>
        </p:txBody>
      </p:sp>
      <p:sp>
        <p:nvSpPr>
          <p:cNvPr id="21" name="">
            <a:extLst xmlns:a="http://schemas.openxmlformats.org/drawingml/2006/main">
              <a:ext uri="{FF2B5EF4-FFF2-40B4-BE49-F238E27FC236}">
                <a16:creationId xmlns:a16="http://schemas.microsoft.com/office/drawing/2014/main" id="{3F76CD17-42AC-45AC-8B4C-EC0F6500866E}"/>
              </a:ext>
            </a:extLst>
          </p:cNvPr>
          <p:cNvSpPr>
            <a:spLocks xmlns:a="http://schemas.openxmlformats.org/drawingml/2006/main" noGrp="1"/>
          </p:cNvSpPr>
          <p:nvPr/>
        </p:nvSpPr>
        <p:spPr>
          <a:xfrm xmlns:a="http://schemas.openxmlformats.org/drawingml/2006/main">
            <a:off x="1619250" y="53435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D64545"/>
                </a:solidFill>
                <a:latin typeface="Helvetica Neue"/>
                <a:ea typeface="Helvetica Neue"/>
                <a:cs typeface="Helvetica Neue"/>
              </a:defRPr>
            </a:defPPr>
          </a:lstStyle>
          <a:p xmlns:a="http://schemas.openxmlformats.org/drawingml/2006/main">
            <a:pPr algn="ctr">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New M3 check: periodic decoded-pixel differences near the peer-reported 1.2 Hz</a:t>
            </a:r>
          </a:p>
        </p:txBody>
      </p:sp>
    </p:spTree>
    <p:extLst>
      <p:ext uri="{BB962C8B-B14F-4D97-AF65-F5344CB8AC3E}">
        <p14:creationId xmlns:p14="http://schemas.microsoft.com/office/powerpoint/2010/main" val="2805872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03EBAC1-CE7F-4216-9634-118B589D9AC4}"/>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A: lip dynamics in phonetic context</a:t>
            </a:r>
          </a:p>
        </p:txBody>
      </p:sp>
      <p:sp>
        <p:nvSpPr>
          <p:cNvPr id="2" name="">
            <a:extLst xmlns:a="http://schemas.openxmlformats.org/drawingml/2006/main">
              <a:ext uri="{FF2B5EF4-FFF2-40B4-BE49-F238E27FC236}">
                <a16:creationId xmlns:a16="http://schemas.microsoft.com/office/drawing/2014/main" id="{F3969F70-B366-483A-9A54-82882966E686}"/>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C4B88D3C-D5DF-42BC-A214-FC04FEF440B1}"/>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DCF2F9-00B1-4E23-9493-DF6B25D1B489}"/>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0E7ED77B-D38B-49B3-89C4-4C3978369715}"/>
              </a:ext>
            </a:extLst>
          </p:cNvPr>
          <p:cNvSpPr>
            <a:spLocks xmlns:a="http://schemas.openxmlformats.org/drawingml/2006/main" noGrp="1"/>
          </p:cNvSpPr>
          <p:nvPr/>
        </p:nvSpPr>
        <p:spPr>
          <a:xfrm xmlns:a="http://schemas.openxmlformats.org/drawingml/2006/main">
            <a:off x="10572750" y="64960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5/11</a:t>
            </a:r>
          </a:p>
        </p:txBody>
      </p:sp>
      <p:sp>
        <p:nvSpPr>
          <p:cNvPr id="6" name="">
            <a:extLst xmlns:a="http://schemas.openxmlformats.org/drawingml/2006/main">
              <a:ext uri="{FF2B5EF4-FFF2-40B4-BE49-F238E27FC236}">
                <a16:creationId xmlns:a16="http://schemas.microsoft.com/office/drawing/2014/main" id="{8C136E31-6734-4E9E-A593-DB354534601D}"/>
              </a:ext>
            </a:extLst>
          </p:cNvPr>
          <p:cNvSpPr>
            <a:spLocks xmlns:a="http://schemas.openxmlformats.org/drawingml/2006/main" noGrp="1"/>
          </p:cNvSpPr>
          <p:nvPr/>
        </p:nvSpPr>
        <p:spPr>
          <a:xfrm xmlns:a="http://schemas.openxmlformats.org/drawingml/2006/main">
            <a:off x="476250" y="2000250"/>
            <a:ext cx="1952625" cy="1524000"/>
          </a:xfrm>
          <a:prstGeom xmlns:a="http://schemas.openxmlformats.org/drawingml/2006/main" prst="roundRect">
            <a:avLst>
              <a:gd name="adj" fmla="val 5000"/>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86AF2266-ABBF-4A4F-97D0-F1F6B055DC27}"/>
              </a:ext>
            </a:extLst>
          </p:cNvPr>
          <p:cNvSpPr>
            <a:spLocks xmlns:a="http://schemas.openxmlformats.org/drawingml/2006/main" noGrp="1"/>
          </p:cNvSpPr>
          <p:nvPr/>
        </p:nvSpPr>
        <p:spPr>
          <a:xfrm xmlns:a="http://schemas.openxmlformats.org/drawingml/2006/main">
            <a:off x="6477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24 clips</a:t>
            </a:r>
          </a:p>
        </p:txBody>
      </p:sp>
      <p:sp>
        <p:nvSpPr>
          <p:cNvPr id="8" name="">
            <a:extLst xmlns:a="http://schemas.openxmlformats.org/drawingml/2006/main">
              <a:ext uri="{FF2B5EF4-FFF2-40B4-BE49-F238E27FC236}">
                <a16:creationId xmlns:a16="http://schemas.microsoft.com/office/drawing/2014/main" id="{56278C31-9155-4F6C-9B71-37E0FE020072}"/>
              </a:ext>
            </a:extLst>
          </p:cNvPr>
          <p:cNvSpPr>
            <a:spLocks xmlns:a="http://schemas.openxmlformats.org/drawingml/2006/main" noGrp="1"/>
          </p:cNvSpPr>
          <p:nvPr/>
        </p:nvSpPr>
        <p:spPr>
          <a:xfrm xmlns:a="http://schemas.openxmlformats.org/drawingml/2006/main">
            <a:off x="6477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12 fake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25 FPS, 512 canvas</a:t>
            </a:r>
          </a:p>
        </p:txBody>
      </p:sp>
      <p:sp>
        <p:nvSpPr>
          <p:cNvPr id="9" name="">
            <a:extLst xmlns:a="http://schemas.openxmlformats.org/drawingml/2006/main">
              <a:ext uri="{FF2B5EF4-FFF2-40B4-BE49-F238E27FC236}">
                <a16:creationId xmlns:a16="http://schemas.microsoft.com/office/drawing/2014/main" id="{FB5165DF-F99F-4A27-BAFA-7E49353FE603}"/>
              </a:ext>
            </a:extLst>
          </p:cNvPr>
          <p:cNvSpPr>
            <a:spLocks xmlns:a="http://schemas.openxmlformats.org/drawingml/2006/main" noGrp="1"/>
          </p:cNvSpPr>
          <p:nvPr/>
        </p:nvSpPr>
        <p:spPr>
          <a:xfrm xmlns:a="http://schemas.openxmlformats.org/drawingml/2006/main">
            <a:off x="242887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0" name="">
            <a:extLst xmlns:a="http://schemas.openxmlformats.org/drawingml/2006/main">
              <a:ext uri="{FF2B5EF4-FFF2-40B4-BE49-F238E27FC236}">
                <a16:creationId xmlns:a16="http://schemas.microsoft.com/office/drawing/2014/main" id="{4ADAD660-ED48-49C8-9FC9-49A0D820377B}"/>
              </a:ext>
            </a:extLst>
          </p:cNvPr>
          <p:cNvSpPr>
            <a:spLocks xmlns:a="http://schemas.openxmlformats.org/drawingml/2006/main" noGrp="1"/>
          </p:cNvSpPr>
          <p:nvPr/>
        </p:nvSpPr>
        <p:spPr>
          <a:xfrm xmlns:a="http://schemas.openxmlformats.org/drawingml/2006/main">
            <a:off x="2809875" y="2000250"/>
            <a:ext cx="1952625" cy="1524000"/>
          </a:xfrm>
          <a:prstGeom xmlns:a="http://schemas.openxmlformats.org/drawingml/2006/main" prst="roundRect">
            <a:avLst>
              <a:gd name="adj" fmla="val 5000"/>
            </a:avLst>
          </a:prstGeom>
          <a:solidFill xmlns:a="http://schemas.openxmlformats.org/drawingml/2006/main">
            <a:srgbClr val="E7F7F5"/>
          </a:solidFill>
          <a:ln xmlns:a="http://schemas.openxmlformats.org/drawingml/2006/main" w="19050">
            <a:solidFill>
              <a:srgbClr val="159E9C"/>
            </a:solidFill>
          </a:ln>
        </p:spPr>
      </p:sp>
      <p:sp>
        <p:nvSpPr>
          <p:cNvPr id="11" name="">
            <a:extLst xmlns:a="http://schemas.openxmlformats.org/drawingml/2006/main">
              <a:ext uri="{FF2B5EF4-FFF2-40B4-BE49-F238E27FC236}">
                <a16:creationId xmlns:a16="http://schemas.microsoft.com/office/drawing/2014/main" id="{E4F578ED-F4FD-464A-B2E6-0031F0392775}"/>
              </a:ext>
            </a:extLst>
          </p:cNvPr>
          <p:cNvSpPr>
            <a:spLocks xmlns:a="http://schemas.openxmlformats.org/drawingml/2006/main" noGrp="1"/>
          </p:cNvSpPr>
          <p:nvPr/>
        </p:nvSpPr>
        <p:spPr>
          <a:xfrm xmlns:a="http://schemas.openxmlformats.org/drawingml/2006/main">
            <a:off x="298132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Mouth signals</a:t>
            </a:r>
          </a:p>
        </p:txBody>
      </p:sp>
      <p:sp>
        <p:nvSpPr>
          <p:cNvPr id="12" name="">
            <a:extLst xmlns:a="http://schemas.openxmlformats.org/drawingml/2006/main">
              <a:ext uri="{FF2B5EF4-FFF2-40B4-BE49-F238E27FC236}">
                <a16:creationId xmlns:a16="http://schemas.microsoft.com/office/drawing/2014/main" id="{6C777F33-2F3A-4326-A83E-B26514769678}"/>
              </a:ext>
            </a:extLst>
          </p:cNvPr>
          <p:cNvSpPr>
            <a:spLocks xmlns:a="http://schemas.openxmlformats.org/drawingml/2006/main" noGrp="1"/>
          </p:cNvSpPr>
          <p:nvPr/>
        </p:nvSpPr>
        <p:spPr>
          <a:xfrm xmlns:a="http://schemas.openxmlformats.org/drawingml/2006/main">
            <a:off x="298132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Aperture, width</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velocity to jerk</a:t>
            </a:r>
          </a:p>
        </p:txBody>
      </p:sp>
      <p:sp>
        <p:nvSpPr>
          <p:cNvPr id="13" name="">
            <a:extLst xmlns:a="http://schemas.openxmlformats.org/drawingml/2006/main">
              <a:ext uri="{FF2B5EF4-FFF2-40B4-BE49-F238E27FC236}">
                <a16:creationId xmlns:a16="http://schemas.microsoft.com/office/drawing/2014/main" id="{DE273DB1-2FA5-4E34-91E5-7EDAFD98E504}"/>
              </a:ext>
            </a:extLst>
          </p:cNvPr>
          <p:cNvSpPr>
            <a:spLocks xmlns:a="http://schemas.openxmlformats.org/drawingml/2006/main" noGrp="1"/>
          </p:cNvSpPr>
          <p:nvPr/>
        </p:nvSpPr>
        <p:spPr>
          <a:xfrm xmlns:a="http://schemas.openxmlformats.org/drawingml/2006/main">
            <a:off x="476250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4" name="">
            <a:extLst xmlns:a="http://schemas.openxmlformats.org/drawingml/2006/main">
              <a:ext uri="{FF2B5EF4-FFF2-40B4-BE49-F238E27FC236}">
                <a16:creationId xmlns:a16="http://schemas.microsoft.com/office/drawing/2014/main" id="{B8CB325B-34AF-4CA9-9A08-CF00CB29EAE5}"/>
              </a:ext>
            </a:extLst>
          </p:cNvPr>
          <p:cNvSpPr>
            <a:spLocks xmlns:a="http://schemas.openxmlformats.org/drawingml/2006/main" noGrp="1"/>
          </p:cNvSpPr>
          <p:nvPr/>
        </p:nvSpPr>
        <p:spPr>
          <a:xfrm xmlns:a="http://schemas.openxmlformats.org/drawingml/2006/main">
            <a:off x="5143500" y="2000250"/>
            <a:ext cx="1952625" cy="1524000"/>
          </a:xfrm>
          <a:prstGeom xmlns:a="http://schemas.openxmlformats.org/drawingml/2006/main" prst="roundRect">
            <a:avLst>
              <a:gd name="adj" fmla="val 5000"/>
            </a:avLst>
          </a:prstGeom>
          <a:solidFill xmlns:a="http://schemas.openxmlformats.org/drawingml/2006/main">
            <a:srgbClr val="FFF2E2"/>
          </a:solidFill>
          <a:ln xmlns:a="http://schemas.openxmlformats.org/drawingml/2006/main" w="19050">
            <a:solidFill>
              <a:srgbClr val="E67E22"/>
            </a:solidFill>
          </a:ln>
        </p:spPr>
      </p:sp>
      <p:sp>
        <p:nvSpPr>
          <p:cNvPr id="15" name="">
            <a:extLst xmlns:a="http://schemas.openxmlformats.org/drawingml/2006/main">
              <a:ext uri="{FF2B5EF4-FFF2-40B4-BE49-F238E27FC236}">
                <a16:creationId xmlns:a16="http://schemas.microsoft.com/office/drawing/2014/main" id="{A27B30CF-854C-4050-948E-0AF03189F6A6}"/>
              </a:ext>
            </a:extLst>
          </p:cNvPr>
          <p:cNvSpPr>
            <a:spLocks xmlns:a="http://schemas.openxmlformats.org/drawingml/2006/main" noGrp="1"/>
          </p:cNvSpPr>
          <p:nvPr/>
        </p:nvSpPr>
        <p:spPr>
          <a:xfrm xmlns:a="http://schemas.openxmlformats.org/drawingml/2006/main">
            <a:off x="531495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Weak alignment</a:t>
            </a:r>
          </a:p>
        </p:txBody>
      </p:sp>
      <p:sp>
        <p:nvSpPr>
          <p:cNvPr id="16" name="">
            <a:extLst xmlns:a="http://schemas.openxmlformats.org/drawingml/2006/main">
              <a:ext uri="{FF2B5EF4-FFF2-40B4-BE49-F238E27FC236}">
                <a16:creationId xmlns:a16="http://schemas.microsoft.com/office/drawing/2014/main" id="{4154C07E-88A3-47DC-8955-04F37C1C6103}"/>
              </a:ext>
            </a:extLst>
          </p:cNvPr>
          <p:cNvSpPr>
            <a:spLocks xmlns:a="http://schemas.openxmlformats.org/drawingml/2006/main" noGrp="1"/>
          </p:cNvSpPr>
          <p:nvPr/>
        </p:nvSpPr>
        <p:spPr>
          <a:xfrm xmlns:a="http://schemas.openxmlformats.org/drawingml/2006/main">
            <a:off x="531495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Whisper timestamps</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CMUdict phones</a:t>
            </a:r>
          </a:p>
        </p:txBody>
      </p:sp>
      <p:sp>
        <p:nvSpPr>
          <p:cNvPr id="17" name="">
            <a:extLst xmlns:a="http://schemas.openxmlformats.org/drawingml/2006/main">
              <a:ext uri="{FF2B5EF4-FFF2-40B4-BE49-F238E27FC236}">
                <a16:creationId xmlns:a16="http://schemas.microsoft.com/office/drawing/2014/main" id="{A8B83E61-A611-437E-921C-BB4CD7485DE1}"/>
              </a:ext>
            </a:extLst>
          </p:cNvPr>
          <p:cNvSpPr>
            <a:spLocks xmlns:a="http://schemas.openxmlformats.org/drawingml/2006/main" noGrp="1"/>
          </p:cNvSpPr>
          <p:nvPr/>
        </p:nvSpPr>
        <p:spPr>
          <a:xfrm xmlns:a="http://schemas.openxmlformats.org/drawingml/2006/main">
            <a:off x="709612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8" name="">
            <a:extLst xmlns:a="http://schemas.openxmlformats.org/drawingml/2006/main">
              <a:ext uri="{FF2B5EF4-FFF2-40B4-BE49-F238E27FC236}">
                <a16:creationId xmlns:a16="http://schemas.microsoft.com/office/drawing/2014/main" id="{BCF598D8-542D-4977-B49E-C4D5861BFEB4}"/>
              </a:ext>
            </a:extLst>
          </p:cNvPr>
          <p:cNvSpPr>
            <a:spLocks xmlns:a="http://schemas.openxmlformats.org/drawingml/2006/main" noGrp="1"/>
          </p:cNvSpPr>
          <p:nvPr/>
        </p:nvSpPr>
        <p:spPr>
          <a:xfrm xmlns:a="http://schemas.openxmlformats.org/drawingml/2006/main">
            <a:off x="7477125" y="2000250"/>
            <a:ext cx="1952625" cy="1524000"/>
          </a:xfrm>
          <a:prstGeom xmlns:a="http://schemas.openxmlformats.org/drawingml/2006/main" prst="roundRect">
            <a:avLst>
              <a:gd name="adj" fmla="val 5000"/>
            </a:avLst>
          </a:prstGeom>
          <a:solidFill xmlns:a="http://schemas.openxmlformats.org/drawingml/2006/main">
            <a:srgbClr val="FCECEC"/>
          </a:solidFill>
          <a:ln xmlns:a="http://schemas.openxmlformats.org/drawingml/2006/main" w="19050">
            <a:solidFill>
              <a:srgbClr val="D64545"/>
            </a:solidFill>
          </a:ln>
        </p:spPr>
      </p:sp>
      <p:sp>
        <p:nvSpPr>
          <p:cNvPr id="19" name="">
            <a:extLst xmlns:a="http://schemas.openxmlformats.org/drawingml/2006/main">
              <a:ext uri="{FF2B5EF4-FFF2-40B4-BE49-F238E27FC236}">
                <a16:creationId xmlns:a16="http://schemas.microsoft.com/office/drawing/2014/main" id="{9D0377D5-1917-46A2-B002-F0FCF704080D}"/>
              </a:ext>
            </a:extLst>
          </p:cNvPr>
          <p:cNvSpPr>
            <a:spLocks xmlns:a="http://schemas.openxmlformats.org/drawingml/2006/main" noGrp="1"/>
          </p:cNvSpPr>
          <p:nvPr/>
        </p:nvSpPr>
        <p:spPr>
          <a:xfrm xmlns:a="http://schemas.openxmlformats.org/drawingml/2006/main">
            <a:off x="764857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Two models</a:t>
            </a:r>
          </a:p>
        </p:txBody>
      </p:sp>
      <p:sp>
        <p:nvSpPr>
          <p:cNvPr id="20" name="">
            <a:extLst xmlns:a="http://schemas.openxmlformats.org/drawingml/2006/main">
              <a:ext uri="{FF2B5EF4-FFF2-40B4-BE49-F238E27FC236}">
                <a16:creationId xmlns:a16="http://schemas.microsoft.com/office/drawing/2014/main" id="{28C95F8F-E563-43D1-B2EF-D17174E4463A}"/>
              </a:ext>
            </a:extLst>
          </p:cNvPr>
          <p:cNvSpPr>
            <a:spLocks xmlns:a="http://schemas.openxmlformats.org/drawingml/2006/main" noGrp="1"/>
          </p:cNvSpPr>
          <p:nvPr/>
        </p:nvSpPr>
        <p:spPr>
          <a:xfrm xmlns:a="http://schemas.openxmlformats.org/drawingml/2006/main">
            <a:off x="764857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Context-free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Weak context</a:t>
            </a:r>
          </a:p>
        </p:txBody>
      </p:sp>
      <p:sp>
        <p:nvSpPr>
          <p:cNvPr id="21" name="">
            <a:extLst xmlns:a="http://schemas.openxmlformats.org/drawingml/2006/main">
              <a:ext uri="{FF2B5EF4-FFF2-40B4-BE49-F238E27FC236}">
                <a16:creationId xmlns:a16="http://schemas.microsoft.com/office/drawing/2014/main" id="{5BA58843-E2BA-4CE5-B2FB-EA3E0686F066}"/>
              </a:ext>
            </a:extLst>
          </p:cNvPr>
          <p:cNvSpPr>
            <a:spLocks xmlns:a="http://schemas.openxmlformats.org/drawingml/2006/main" noGrp="1"/>
          </p:cNvSpPr>
          <p:nvPr/>
        </p:nvSpPr>
        <p:spPr>
          <a:xfrm xmlns:a="http://schemas.openxmlformats.org/drawingml/2006/main">
            <a:off x="942975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22" name="">
            <a:extLst xmlns:a="http://schemas.openxmlformats.org/drawingml/2006/main">
              <a:ext uri="{FF2B5EF4-FFF2-40B4-BE49-F238E27FC236}">
                <a16:creationId xmlns:a16="http://schemas.microsoft.com/office/drawing/2014/main" id="{51F252DE-684D-43F1-8893-4EE2477D67AB}"/>
              </a:ext>
            </a:extLst>
          </p:cNvPr>
          <p:cNvSpPr>
            <a:spLocks xmlns:a="http://schemas.openxmlformats.org/drawingml/2006/main" noGrp="1"/>
          </p:cNvSpPr>
          <p:nvPr/>
        </p:nvSpPr>
        <p:spPr>
          <a:xfrm xmlns:a="http://schemas.openxmlformats.org/drawingml/2006/main">
            <a:off x="9810750" y="2000250"/>
            <a:ext cx="1952625" cy="1524000"/>
          </a:xfrm>
          <a:prstGeom xmlns:a="http://schemas.openxmlformats.org/drawingml/2006/main" prst="roundRect">
            <a:avLst>
              <a:gd name="adj" fmla="val 5000"/>
            </a:avLst>
          </a:prstGeom>
          <a:solidFill xmlns:a="http://schemas.openxmlformats.org/drawingml/2006/main">
            <a:srgbClr val="F4F7FB"/>
          </a:solidFill>
          <a:ln xmlns:a="http://schemas.openxmlformats.org/drawingml/2006/main" w="19050">
            <a:solidFill>
              <a:srgbClr val="102A43"/>
            </a:solidFill>
          </a:ln>
        </p:spPr>
      </p:sp>
      <p:sp>
        <p:nvSpPr>
          <p:cNvPr id="23" name="">
            <a:extLst xmlns:a="http://schemas.openxmlformats.org/drawingml/2006/main">
              <a:ext uri="{FF2B5EF4-FFF2-40B4-BE49-F238E27FC236}">
                <a16:creationId xmlns:a16="http://schemas.microsoft.com/office/drawing/2014/main" id="{823A2BB8-F943-4F00-B8B1-F10DBFD9D5D7}"/>
              </a:ext>
            </a:extLst>
          </p:cNvPr>
          <p:cNvSpPr>
            <a:spLocks xmlns:a="http://schemas.openxmlformats.org/drawingml/2006/main" noGrp="1"/>
          </p:cNvSpPr>
          <p:nvPr/>
        </p:nvSpPr>
        <p:spPr>
          <a:xfrm xmlns:a="http://schemas.openxmlformats.org/drawingml/2006/main">
            <a:off x="99822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Held-out test</a:t>
            </a:r>
          </a:p>
        </p:txBody>
      </p:sp>
      <p:sp>
        <p:nvSpPr>
          <p:cNvPr id="24" name="">
            <a:extLst xmlns:a="http://schemas.openxmlformats.org/drawingml/2006/main">
              <a:ext uri="{FF2B5EF4-FFF2-40B4-BE49-F238E27FC236}">
                <a16:creationId xmlns:a16="http://schemas.microsoft.com/office/drawing/2014/main" id="{30B4D018-2F78-4120-8700-E70CF0C031A6}"/>
              </a:ext>
            </a:extLst>
          </p:cNvPr>
          <p:cNvSpPr>
            <a:spLocks xmlns:a="http://schemas.openxmlformats.org/drawingml/2006/main" noGrp="1"/>
          </p:cNvSpPr>
          <p:nvPr/>
        </p:nvSpPr>
        <p:spPr>
          <a:xfrm xmlns:a="http://schemas.openxmlformats.org/drawingml/2006/main">
            <a:off x="99822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n=6</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threshold 0.5</a:t>
            </a:r>
          </a:p>
        </p:txBody>
      </p:sp>
      <p:sp>
        <p:nvSpPr>
          <p:cNvPr id="25" name="">
            <a:extLst xmlns:a="http://schemas.openxmlformats.org/drawingml/2006/main">
              <a:ext uri="{FF2B5EF4-FFF2-40B4-BE49-F238E27FC236}">
                <a16:creationId xmlns:a16="http://schemas.microsoft.com/office/drawing/2014/main" id="{210D9784-E6C7-4C80-BDBD-D0B476F86BA5}"/>
              </a:ext>
            </a:extLst>
          </p:cNvPr>
          <p:cNvSpPr>
            <a:spLocks xmlns:a="http://schemas.openxmlformats.org/drawingml/2006/main" noGrp="1"/>
          </p:cNvSpPr>
          <p:nvPr/>
        </p:nvSpPr>
        <p:spPr>
          <a:xfrm xmlns:a="http://schemas.openxmlformats.org/drawingml/2006/main">
            <a:off x="904875" y="4095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Same clips and split for both models</a:t>
            </a:r>
          </a:p>
        </p:txBody>
      </p:sp>
      <p:sp>
        <p:nvSpPr>
          <p:cNvPr id="26" name="">
            <a:extLst xmlns:a="http://schemas.openxmlformats.org/drawingml/2006/main">
              <a:ext uri="{FF2B5EF4-FFF2-40B4-BE49-F238E27FC236}">
                <a16:creationId xmlns:a16="http://schemas.microsoft.com/office/drawing/2014/main" id="{8910DC59-F574-4A8B-BD8C-8DCEBE97E102}"/>
              </a:ext>
            </a:extLst>
          </p:cNvPr>
          <p:cNvSpPr>
            <a:spLocks xmlns:a="http://schemas.openxmlformats.org/drawingml/2006/main" noGrp="1"/>
          </p:cNvSpPr>
          <p:nvPr/>
        </p:nvSpPr>
        <p:spPr>
          <a:xfrm xmlns:a="http://schemas.openxmlformats.org/drawingml/2006/main">
            <a:off x="904875" y="46196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One central vowel proxy per clip</a:t>
            </a:r>
          </a:p>
        </p:txBody>
      </p:sp>
      <p:sp>
        <p:nvSpPr>
          <p:cNvPr id="27" name="">
            <a:extLst xmlns:a="http://schemas.openxmlformats.org/drawingml/2006/main">
              <a:ext uri="{FF2B5EF4-FFF2-40B4-BE49-F238E27FC236}">
                <a16:creationId xmlns:a16="http://schemas.microsoft.com/office/drawing/2014/main" id="{CF7A1C68-67DF-4F86-993B-747098CBA73D}"/>
              </a:ext>
            </a:extLst>
          </p:cNvPr>
          <p:cNvSpPr>
            <a:spLocks xmlns:a="http://schemas.openxmlformats.org/drawingml/2006/main" noGrp="1"/>
          </p:cNvSpPr>
          <p:nvPr/>
        </p:nvSpPr>
        <p:spPr>
          <a:xfrm xmlns:a="http://schemas.openxmlformats.org/drawingml/2006/main">
            <a:off x="676275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Not forced alignment</a:t>
            </a:r>
          </a:p>
        </p:txBody>
      </p:sp>
      <p:sp>
        <p:nvSpPr>
          <p:cNvPr id="28" name="">
            <a:extLst xmlns:a="http://schemas.openxmlformats.org/drawingml/2006/main">
              <a:ext uri="{FF2B5EF4-FFF2-40B4-BE49-F238E27FC236}">
                <a16:creationId xmlns:a16="http://schemas.microsoft.com/office/drawing/2014/main" id="{3CB24F91-5238-428F-AFB6-355A45EACF33}"/>
              </a:ext>
            </a:extLst>
          </p:cNvPr>
          <p:cNvSpPr>
            <a:spLocks xmlns:a="http://schemas.openxmlformats.org/drawingml/2006/main" noGrp="1"/>
          </p:cNvSpPr>
          <p:nvPr/>
        </p:nvSpPr>
        <p:spPr>
          <a:xfrm xmlns:a="http://schemas.openxmlformats.org/drawingml/2006/main">
            <a:off x="6762750" y="46196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Feasibility pilot, not generalisation evidence</a:t>
            </a:r>
          </a:p>
        </p:txBody>
      </p:sp>
      <p:sp>
        <p:nvSpPr>
          <p:cNvPr id="29" name="">
            <a:extLst xmlns:a="http://schemas.openxmlformats.org/drawingml/2006/main">
              <a:ext uri="{FF2B5EF4-FFF2-40B4-BE49-F238E27FC236}">
                <a16:creationId xmlns:a16="http://schemas.microsoft.com/office/drawing/2014/main" id="{B76C5216-B22F-48C4-80E1-12B8ECBBCFE9}"/>
              </a:ext>
            </a:extLst>
          </p:cNvPr>
          <p:cNvSpPr>
            <a:spLocks xmlns:a="http://schemas.openxmlformats.org/drawingml/2006/main" noGrp="1"/>
          </p:cNvSpPr>
          <p:nvPr/>
        </p:nvSpPr>
        <p:spPr>
          <a:xfrm xmlns:a="http://schemas.openxmlformats.org/drawingml/2006/main">
            <a:off x="666750" y="578167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1">
                <a:solidFill>
                  <a:srgbClr val="159E9C"/>
                </a:solidFill>
                <a:latin typeface="Helvetica Neue"/>
                <a:ea typeface="Helvetica Neue"/>
                <a:cs typeface="Helvetica Neue"/>
              </a:defRPr>
            </a:defPPr>
          </a:lstStyle>
          <a:p xmlns:a="http://schemas.openxmlformats.org/drawingml/2006/main">
            <a:pPr algn="l">
              <a:defRPr sz="1350" b="1">
                <a:solidFill>
                  <a:srgbClr val="159E9C"/>
                </a:solidFill>
                <a:latin typeface="Helvetica Neue"/>
                <a:ea typeface="Helvetica Neue"/>
                <a:cs typeface="Helvetica Neue"/>
              </a:defRPr>
            </a:pPr>
            <a:r>
              <a:rPr sz="1350" b="1">
                <a:solidFill>
                  <a:srgbClr val="159E9C"/>
                </a:solidFill>
                <a:latin typeface="Helvetica Neue"/>
                <a:ea typeface="Helvetica Neue"/>
                <a:cs typeface="Helvetica Neue"/>
              </a:rPr>
              <a:t>Yan Zhiheng</a:t>
            </a:r>
          </a:p>
        </p:txBody>
      </p:sp>
    </p:spTree>
    <p:extLst>
      <p:ext uri="{BB962C8B-B14F-4D97-AF65-F5344CB8AC3E}">
        <p14:creationId xmlns:p14="http://schemas.microsoft.com/office/powerpoint/2010/main" val="4030382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66255BE-0707-47E3-9A08-CF20B422BE7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Weak context did not improve the held-out pilot</a:t>
            </a:r>
          </a:p>
        </p:txBody>
      </p:sp>
      <p:sp>
        <p:nvSpPr>
          <p:cNvPr id="2" name="">
            <a:extLst xmlns:a="http://schemas.openxmlformats.org/drawingml/2006/main">
              <a:ext uri="{FF2B5EF4-FFF2-40B4-BE49-F238E27FC236}">
                <a16:creationId xmlns:a16="http://schemas.microsoft.com/office/drawing/2014/main" id="{82B9CC80-69EA-44C1-B741-8485F4410D89}"/>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FA360772-4957-437A-9B1D-62BA7EB0A2AB}"/>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4ACD14-07E0-43F3-A561-784528C9B59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C0740F74-47BA-44D6-AC6B-782B63C366DD}"/>
              </a:ext>
            </a:extLst>
          </p:cNvPr>
          <p:cNvSpPr>
            <a:spLocks xmlns:a="http://schemas.openxmlformats.org/drawingml/2006/main" noGrp="1"/>
          </p:cNvSpPr>
          <p:nvPr/>
        </p:nvSpPr>
        <p:spPr>
          <a:xfrm xmlns:a="http://schemas.openxmlformats.org/drawingml/2006/main">
            <a:off x="10572750" y="64960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6/11</a:t>
            </a:r>
          </a:p>
        </p:txBody>
      </p:sp>
      <p:graphicFrame>
        <p:nvGraphicFramePr>
          <p:cNvPr id="6" name="Chart">
            <a:extLst xmlns:a="http://schemas.openxmlformats.org/drawingml/2006/main">
              <a:ext uri="{FF2B5EF4-FFF2-40B4-BE49-F238E27FC236}">
                <a16:creationId xmlns:a16="http://schemas.microsoft.com/office/drawing/2014/main" id="{4866993B-CB6D-41E8-90F8-4E2BD6832CBD}"/>
              </a:ext>
            </a:extLst>
          </p:cNvPr>
          <p:cNvGraphicFramePr/>
          <p:nvPr/>
        </p:nvGraphicFramePr>
        <p:xfrm>
          <a:off xmlns:a="http://schemas.openxmlformats.org/drawingml/2006/main" x="666750" y="1476375"/>
          <a:ext xmlns:a="http://schemas.openxmlformats.org/drawingml/2006/main" cx="6762750" cy="4095750"/>
        </p:xfrm>
        <a:graphic xmlns:a="http://schemas.openxmlformats.org/drawingml/2006/main">
          <a:graphicData uri="http://schemas.openxmlformats.org/drawingml/2006/chart">
            <c:chart xmlns:r="http://schemas.openxmlformats.org/officeDocument/2006/relationships" xmlns:c="http://schemas.openxmlformats.org/drawingml/2006/chart" r:id="R2486b2d6f5a94aca"/>
          </a:graphicData>
        </a:graphic>
      </p:graphicFrame>
      <p:sp>
        <p:nvSpPr>
          <p:cNvPr id="7" name="">
            <a:extLst xmlns:a="http://schemas.openxmlformats.org/drawingml/2006/main">
              <a:ext uri="{FF2B5EF4-FFF2-40B4-BE49-F238E27FC236}">
                <a16:creationId xmlns:a16="http://schemas.microsoft.com/office/drawing/2014/main" id="{78C18474-30CB-4566-8D63-FC5774D96CFA}"/>
              </a:ext>
            </a:extLst>
          </p:cNvPr>
          <p:cNvSpPr>
            <a:spLocks xmlns:a="http://schemas.openxmlformats.org/drawingml/2006/main" noGrp="1"/>
          </p:cNvSpPr>
          <p:nvPr/>
        </p:nvSpPr>
        <p:spPr>
          <a:xfrm xmlns:a="http://schemas.openxmlformats.org/drawingml/2006/main">
            <a:off x="8096250" y="161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102A43"/>
                </a:solidFill>
                <a:latin typeface="Helvetica Neue"/>
                <a:ea typeface="Helvetica Neue"/>
                <a:cs typeface="Helvetica Neue"/>
              </a:defRPr>
            </a:defPPr>
          </a:lstStyle>
          <a:p xmlns:a="http://schemas.openxmlformats.org/drawingml/2006/main">
            <a:pPr algn="l">
              <a:defRPr sz="2100" b="1">
                <a:solidFill>
                  <a:srgbClr val="102A43"/>
                </a:solidFill>
                <a:latin typeface="Helvetica Neue"/>
                <a:ea typeface="Helvetica Neue"/>
                <a:cs typeface="Helvetica Neue"/>
              </a:defRPr>
            </a:pPr>
            <a:r>
              <a:rPr sz="2100" b="1">
                <a:solidFill>
                  <a:srgbClr val="102A43"/>
                </a:solidFill>
                <a:latin typeface="Helvetica Neue"/>
                <a:ea typeface="Helvetica Neue"/>
                <a:cs typeface="Helvetica Neue"/>
              </a:rPr>
              <a:t>Held-out n = 6</a:t>
            </a:r>
          </a:p>
        </p:txBody>
      </p:sp>
      <p:sp>
        <p:nvSpPr>
          <p:cNvPr id="8" name="">
            <a:extLst xmlns:a="http://schemas.openxmlformats.org/drawingml/2006/main">
              <a:ext uri="{FF2B5EF4-FFF2-40B4-BE49-F238E27FC236}">
                <a16:creationId xmlns:a16="http://schemas.microsoft.com/office/drawing/2014/main" id="{C444AD33-E11C-4D20-97A6-0C3D6B7F8F67}"/>
              </a:ext>
            </a:extLst>
          </p:cNvPr>
          <p:cNvSpPr>
            <a:spLocks xmlns:a="http://schemas.openxmlformats.org/drawingml/2006/main" noGrp="1"/>
          </p:cNvSpPr>
          <p:nvPr/>
        </p:nvSpPr>
        <p:spPr>
          <a:xfrm xmlns:a="http://schemas.openxmlformats.org/drawingml/2006/main">
            <a:off x="8096250" y="2143125"/>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650" b="0">
                <a:solidFill>
                  <a:srgbClr val="243B53"/>
                </a:solidFill>
                <a:latin typeface="Helvetica Neue"/>
                <a:ea typeface="Helvetica Neue"/>
                <a:cs typeface="Helvetica Neue"/>
              </a:defRPr>
            </a:defPPr>
          </a:lstStyle>
          <a:p xmlns:a="http://schemas.openxmlformats.org/drawingml/2006/main">
            <a:pPr algn="l">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real</a:t>
            </a:r>
          </a:p>
          <a:p xmlns:a="http://schemas.openxmlformats.org/drawingml/2006/main">
            <a:pPr algn="l">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fake</a:t>
            </a:r>
          </a:p>
        </p:txBody>
      </p:sp>
      <p:sp>
        <p:nvSpPr>
          <p:cNvPr id="9" name="">
            <a:extLst xmlns:a="http://schemas.openxmlformats.org/drawingml/2006/main">
              <a:ext uri="{FF2B5EF4-FFF2-40B4-BE49-F238E27FC236}">
                <a16:creationId xmlns:a16="http://schemas.microsoft.com/office/drawing/2014/main" id="{938D695C-FF86-4604-9AB6-491DE62AB1B2}"/>
              </a:ext>
            </a:extLst>
          </p:cNvPr>
          <p:cNvSpPr>
            <a:spLocks xmlns:a="http://schemas.openxmlformats.org/drawingml/2006/main" noGrp="1"/>
          </p:cNvSpPr>
          <p:nvPr/>
        </p:nvSpPr>
        <p:spPr>
          <a:xfrm xmlns:a="http://schemas.openxmlformats.org/drawingml/2006/main">
            <a:off x="80962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AUROC change</a:t>
            </a:r>
          </a:p>
        </p:txBody>
      </p:sp>
      <p:sp>
        <p:nvSpPr>
          <p:cNvPr id="10" name="">
            <a:extLst xmlns:a="http://schemas.openxmlformats.org/drawingml/2006/main">
              <a:ext uri="{FF2B5EF4-FFF2-40B4-BE49-F238E27FC236}">
                <a16:creationId xmlns:a16="http://schemas.microsoft.com/office/drawing/2014/main" id="{E9314410-F30E-4240-80A0-85E89379DFD2}"/>
              </a:ext>
            </a:extLst>
          </p:cNvPr>
          <p:cNvSpPr>
            <a:spLocks xmlns:a="http://schemas.openxmlformats.org/drawingml/2006/main" noGrp="1"/>
          </p:cNvSpPr>
          <p:nvPr/>
        </p:nvSpPr>
        <p:spPr>
          <a:xfrm xmlns:a="http://schemas.openxmlformats.org/drawingml/2006/main">
            <a:off x="8096250" y="35909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-0.111</a:t>
            </a:r>
          </a:p>
        </p:txBody>
      </p:sp>
      <p:sp>
        <p:nvSpPr>
          <p:cNvPr id="11" name="">
            <a:extLst xmlns:a="http://schemas.openxmlformats.org/drawingml/2006/main">
              <a:ext uri="{FF2B5EF4-FFF2-40B4-BE49-F238E27FC236}">
                <a16:creationId xmlns:a16="http://schemas.microsoft.com/office/drawing/2014/main" id="{96946BEA-C64A-4708-8E69-FAE910BE2FF5}"/>
              </a:ext>
            </a:extLst>
          </p:cNvPr>
          <p:cNvSpPr>
            <a:spLocks xmlns:a="http://schemas.openxmlformats.org/drawingml/2006/main" noGrp="1"/>
          </p:cNvSpPr>
          <p:nvPr/>
        </p:nvSpPr>
        <p:spPr>
          <a:xfrm xmlns:a="http://schemas.openxmlformats.org/drawingml/2006/main">
            <a:off x="8096250" y="45148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243B53"/>
                </a:solidFill>
                <a:latin typeface="Helvetica Neue"/>
                <a:ea typeface="Helvetica Neue"/>
                <a:cs typeface="Helvetica Neue"/>
              </a:defRPr>
            </a:defPPr>
          </a:lstStyle>
          <a:p xmlns:a="http://schemas.openxmlformats.org/drawingml/2006/main">
            <a:pPr algn="l">
              <a:defRPr sz="1500" b="1">
                <a:solidFill>
                  <a:srgbClr val="243B53"/>
                </a:solidFill>
                <a:latin typeface="Helvetica Neue"/>
                <a:ea typeface="Helvetica Neue"/>
                <a:cs typeface="Helvetica Neue"/>
              </a:defRPr>
            </a:pPr>
            <a:r>
              <a:rPr sz="1500" b="1">
                <a:solidFill>
                  <a:srgbClr val="243B53"/>
                </a:solidFill>
                <a:latin typeface="Helvetica Neue"/>
                <a:ea typeface="Helvetica Neue"/>
                <a:cs typeface="Helvetica Neue"/>
              </a:rPr>
              <a:t>Macro-F1 unchanged</a:t>
            </a:r>
          </a:p>
        </p:txBody>
      </p:sp>
      <p:sp>
        <p:nvSpPr>
          <p:cNvPr id="12" name="">
            <a:extLst xmlns:a="http://schemas.openxmlformats.org/drawingml/2006/main">
              <a:ext uri="{FF2B5EF4-FFF2-40B4-BE49-F238E27FC236}">
                <a16:creationId xmlns:a16="http://schemas.microsoft.com/office/drawing/2014/main" id="{4DA2097D-D954-479C-8467-90FCDE9AAECC}"/>
              </a:ext>
            </a:extLst>
          </p:cNvPr>
          <p:cNvSpPr>
            <a:spLocks xmlns:a="http://schemas.openxmlformats.org/drawingml/2006/main" noGrp="1"/>
          </p:cNvSpPr>
          <p:nvPr/>
        </p:nvSpPr>
        <p:spPr>
          <a:xfrm xmlns:a="http://schemas.openxmlformats.org/drawingml/2006/main">
            <a:off x="8096250" y="50292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95% bootstrap intervals span most of 0 to 1</a:t>
            </a:r>
          </a:p>
        </p:txBody>
      </p:sp>
      <p:sp>
        <p:nvSpPr>
          <p:cNvPr id="13" name="">
            <a:extLst xmlns:a="http://schemas.openxmlformats.org/drawingml/2006/main">
              <a:ext uri="{FF2B5EF4-FFF2-40B4-BE49-F238E27FC236}">
                <a16:creationId xmlns:a16="http://schemas.microsoft.com/office/drawing/2014/main" id="{7B060C53-02C0-4F2F-8CAB-BB22A839FB43}"/>
              </a:ext>
            </a:extLst>
          </p:cNvPr>
          <p:cNvSpPr>
            <a:spLocks xmlns:a="http://schemas.openxmlformats.org/drawingml/2006/main" noGrp="1"/>
          </p:cNvSpPr>
          <p:nvPr/>
        </p:nvSpPr>
        <p:spPr>
          <a:xfrm xmlns:a="http://schemas.openxmlformats.org/drawingml/2006/main">
            <a:off x="666750" y="58102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050" b="0">
                <a:solidFill>
                  <a:srgbClr val="627D98"/>
                </a:solidFill>
                <a:latin typeface="Helvetica Neue"/>
                <a:ea typeface="Helvetica Neue"/>
                <a:cs typeface="Helvetica Neue"/>
              </a:defRPr>
            </a:defPPr>
          </a:lstStyle>
          <a:p xmlns:a="http://schemas.openxmlformats.org/drawingml/2006/main">
            <a:pPr algn="ctr">
              <a:defRPr sz="1050" b="0">
                <a:solidFill>
                  <a:srgbClr val="627D98"/>
                </a:solidFill>
                <a:latin typeface="Helvetica Neue"/>
                <a:ea typeface="Helvetica Neue"/>
                <a:cs typeface="Helvetica Neue"/>
              </a:defRPr>
            </a:pPr>
            <a:r>
              <a:rPr sz="1050" b="0">
                <a:solidFill>
                  <a:srgbClr val="627D98"/>
                </a:solidFill>
                <a:latin typeface="Helvetica Neue"/>
                <a:ea typeface="Helvetica Neue"/>
                <a:cs typeface="Helvetica Neue"/>
              </a:rPr>
              <a:t>Saved reference run shown. Fresh Colab: AUROC 0.556 vs 0.444; same -0.111 change.</a:t>
            </a:r>
          </a:p>
        </p:txBody>
      </p:sp>
    </p:spTree>
    <p:extLst>
      <p:ext uri="{BB962C8B-B14F-4D97-AF65-F5344CB8AC3E}">
        <p14:creationId xmlns:p14="http://schemas.microsoft.com/office/powerpoint/2010/main" val="21468303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54799D3-1B28-49D9-8813-F337D34F224A}"/>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Why weak context did not improve the pilot</a:t>
            </a:r>
          </a:p>
        </p:txBody>
      </p:sp>
      <p:sp>
        <p:nvSpPr>
          <p:cNvPr id="2" name="">
            <a:extLst xmlns:a="http://schemas.openxmlformats.org/drawingml/2006/main">
              <a:ext uri="{FF2B5EF4-FFF2-40B4-BE49-F238E27FC236}">
                <a16:creationId xmlns:a16="http://schemas.microsoft.com/office/drawing/2014/main" id="{8604EE6A-54CA-45CB-9F51-9236E70D90BF}"/>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09B1E017-B6E6-4F4B-B210-3EA4F1569EC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B7EE025-0FB3-4CA3-9E9B-DB2CDBABE90D}"/>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A12D4D34-428B-4730-AF30-BC87CA1A070D}"/>
              </a:ext>
            </a:extLst>
          </p:cNvPr>
          <p:cNvSpPr>
            <a:spLocks xmlns:a="http://schemas.openxmlformats.org/drawingml/2006/main" noGrp="1"/>
          </p:cNvSpPr>
          <p:nvPr/>
        </p:nvSpPr>
        <p:spPr>
          <a:xfrm xmlns:a="http://schemas.openxmlformats.org/drawingml/2006/main">
            <a:off x="10572750" y="64960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7/11</a:t>
            </a:r>
          </a:p>
        </p:txBody>
      </p:sp>
      <p:sp>
        <p:nvSpPr>
          <p:cNvPr id="6" name="">
            <a:extLst xmlns:a="http://schemas.openxmlformats.org/drawingml/2006/main">
              <a:ext uri="{FF2B5EF4-FFF2-40B4-BE49-F238E27FC236}">
                <a16:creationId xmlns:a16="http://schemas.microsoft.com/office/drawing/2014/main" id="{909CDD7B-BF77-4232-97EC-B80904C863D4}"/>
              </a:ext>
            </a:extLst>
          </p:cNvPr>
          <p:cNvSpPr>
            <a:spLocks xmlns:a="http://schemas.openxmlformats.org/drawingml/2006/main" noGrp="1"/>
          </p:cNvSpPr>
          <p:nvPr/>
        </p:nvSpPr>
        <p:spPr>
          <a:xfrm xmlns:a="http://schemas.openxmlformats.org/drawingml/2006/main">
            <a:off x="571500" y="147637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E67E22"/>
                </a:solidFill>
                <a:latin typeface="Helvetica Neue"/>
                <a:ea typeface="Helvetica Neue"/>
                <a:cs typeface="Helvetica Neue"/>
              </a:defRPr>
            </a:defPPr>
          </a:lstStyle>
          <a:p xmlns:a="http://schemas.openxmlformats.org/drawingml/2006/main">
            <a:pPr algn="l">
              <a:defRPr sz="2025" b="1">
                <a:solidFill>
                  <a:srgbClr val="E67E22"/>
                </a:solidFill>
                <a:latin typeface="Helvetica Neue"/>
                <a:ea typeface="Helvetica Neue"/>
                <a:cs typeface="Helvetica Neue"/>
              </a:defRPr>
            </a:pPr>
            <a:r>
              <a:rPr sz="2025" b="1">
                <a:solidFill>
                  <a:srgbClr val="E67E22"/>
                </a:solidFill>
                <a:latin typeface="Helvetica Neue"/>
                <a:ea typeface="Helvetica Neue"/>
                <a:cs typeface="Helvetica Neue"/>
              </a:rPr>
              <a:t>Alignment</a:t>
            </a:r>
          </a:p>
        </p:txBody>
      </p:sp>
      <p:sp>
        <p:nvSpPr>
          <p:cNvPr id="7" name="">
            <a:extLst xmlns:a="http://schemas.openxmlformats.org/drawingml/2006/main">
              <a:ext uri="{FF2B5EF4-FFF2-40B4-BE49-F238E27FC236}">
                <a16:creationId xmlns:a16="http://schemas.microsoft.com/office/drawing/2014/main" id="{41F80ADF-9F46-4DF7-936C-DD9ECD89A32F}"/>
              </a:ext>
            </a:extLst>
          </p:cNvPr>
          <p:cNvSpPr>
            <a:spLocks xmlns:a="http://schemas.openxmlformats.org/drawingml/2006/main" noGrp="1"/>
          </p:cNvSpPr>
          <p:nvPr/>
        </p:nvSpPr>
        <p:spPr>
          <a:xfrm xmlns:a="http://schemas.openxmlformats.org/drawingml/2006/main">
            <a:off x="571500" y="2019300"/>
            <a:ext cx="3238500" cy="28575"/>
          </a:xfrm>
          <a:prstGeom xmlns:a="http://schemas.openxmlformats.org/drawingml/2006/main" prst="rect">
            <a:avLst/>
          </a:prstGeom>
          <a:solidFill xmlns:a="http://schemas.openxmlformats.org/drawingml/2006/main">
            <a:srgbClr val="E67E2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540C7ED-D3D2-4F84-AE9B-887F80EB27BA}"/>
              </a:ext>
            </a:extLst>
          </p:cNvPr>
          <p:cNvSpPr>
            <a:spLocks xmlns:a="http://schemas.openxmlformats.org/drawingml/2006/main" noGrp="1"/>
          </p:cNvSpPr>
          <p:nvPr/>
        </p:nvSpPr>
        <p:spPr>
          <a:xfrm xmlns:a="http://schemas.openxmlformats.org/drawingml/2006/main">
            <a:off x="571500" y="22860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1">
                <a:solidFill>
                  <a:srgbClr val="627D98"/>
                </a:solidFill>
                <a:latin typeface="Helvetica Neue"/>
                <a:ea typeface="Helvetica Neue"/>
                <a:cs typeface="Helvetica Neue"/>
              </a:defRPr>
            </a:defPPr>
          </a:lstStyle>
          <a:p xmlns:a="http://schemas.openxmlformats.org/drawingml/2006/main">
            <a:pPr algn="l">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Current limitation</a:t>
            </a:r>
          </a:p>
        </p:txBody>
      </p:sp>
      <p:sp>
        <p:nvSpPr>
          <p:cNvPr id="9" name="">
            <a:extLst xmlns:a="http://schemas.openxmlformats.org/drawingml/2006/main">
              <a:ext uri="{FF2B5EF4-FFF2-40B4-BE49-F238E27FC236}">
                <a16:creationId xmlns:a16="http://schemas.microsoft.com/office/drawing/2014/main" id="{53576E1A-2DA8-4EE0-B584-D4CD9E643AF7}"/>
              </a:ext>
            </a:extLst>
          </p:cNvPr>
          <p:cNvSpPr>
            <a:spLocks xmlns:a="http://schemas.openxmlformats.org/drawingml/2006/main" noGrp="1"/>
          </p:cNvSpPr>
          <p:nvPr/>
        </p:nvSpPr>
        <p:spPr>
          <a:xfrm xmlns:a="http://schemas.openxmlformats.org/drawingml/2006/main">
            <a:off x="571500" y="2619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Uniform phone placement inside Whisper word timestamps</a:t>
            </a:r>
          </a:p>
        </p:txBody>
      </p:sp>
      <p:sp>
        <p:nvSpPr>
          <p:cNvPr id="10" name="">
            <a:extLst xmlns:a="http://schemas.openxmlformats.org/drawingml/2006/main">
              <a:ext uri="{FF2B5EF4-FFF2-40B4-BE49-F238E27FC236}">
                <a16:creationId xmlns:a16="http://schemas.microsoft.com/office/drawing/2014/main" id="{B88A4F88-3D96-4F76-BA03-F3D59950DC69}"/>
              </a:ext>
            </a:extLst>
          </p:cNvPr>
          <p:cNvSpPr>
            <a:spLocks xmlns:a="http://schemas.openxmlformats.org/drawingml/2006/main" noGrp="1"/>
          </p:cNvSpPr>
          <p:nvPr/>
        </p:nvSpPr>
        <p:spPr>
          <a:xfrm xmlns:a="http://schemas.openxmlformats.org/drawingml/2006/main">
            <a:off x="571500" y="39528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1">
                <a:solidFill>
                  <a:srgbClr val="627D98"/>
                </a:solidFill>
                <a:latin typeface="Helvetica Neue"/>
                <a:ea typeface="Helvetica Neue"/>
                <a:cs typeface="Helvetica Neue"/>
              </a:defRPr>
            </a:defPPr>
          </a:lstStyle>
          <a:p xmlns:a="http://schemas.openxmlformats.org/drawingml/2006/main">
            <a:pPr algn="l">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Next experiment</a:t>
            </a:r>
          </a:p>
        </p:txBody>
      </p:sp>
      <p:sp>
        <p:nvSpPr>
          <p:cNvPr id="11" name="">
            <a:extLst xmlns:a="http://schemas.openxmlformats.org/drawingml/2006/main">
              <a:ext uri="{FF2B5EF4-FFF2-40B4-BE49-F238E27FC236}">
                <a16:creationId xmlns:a16="http://schemas.microsoft.com/office/drawing/2014/main" id="{5B250AA7-E9B2-4600-8B35-C7CA92C40C7E}"/>
              </a:ext>
            </a:extLst>
          </p:cNvPr>
          <p:cNvSpPr>
            <a:spLocks xmlns:a="http://schemas.openxmlformats.org/drawingml/2006/main" noGrp="1"/>
          </p:cNvSpPr>
          <p:nvPr/>
        </p:nvSpPr>
        <p:spPr>
          <a:xfrm xmlns:a="http://schemas.openxmlformats.org/drawingml/2006/main">
            <a:off x="571500" y="42862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1">
                <a:solidFill>
                  <a:srgbClr val="102A43"/>
                </a:solidFill>
                <a:latin typeface="Helvetica Neue"/>
                <a:ea typeface="Helvetica Neue"/>
                <a:cs typeface="Helvetica Neue"/>
              </a:defRPr>
            </a:defPPr>
          </a:lstStyle>
          <a:p xmlns:a="http://schemas.openxmlformats.org/drawingml/2006/main">
            <a:pPr algn="l">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Forced phone alignment and manual spot checks</a:t>
            </a:r>
          </a:p>
        </p:txBody>
      </p:sp>
      <p:sp>
        <p:nvSpPr>
          <p:cNvPr id="12" name="">
            <a:extLst xmlns:a="http://schemas.openxmlformats.org/drawingml/2006/main">
              <a:ext uri="{FF2B5EF4-FFF2-40B4-BE49-F238E27FC236}">
                <a16:creationId xmlns:a16="http://schemas.microsoft.com/office/drawing/2014/main" id="{5EF74709-DBD2-4BE7-AC49-5F329F6017B5}"/>
              </a:ext>
            </a:extLst>
          </p:cNvPr>
          <p:cNvSpPr>
            <a:spLocks xmlns:a="http://schemas.openxmlformats.org/drawingml/2006/main" noGrp="1"/>
          </p:cNvSpPr>
          <p:nvPr/>
        </p:nvSpPr>
        <p:spPr>
          <a:xfrm xmlns:a="http://schemas.openxmlformats.org/drawingml/2006/main">
            <a:off x="4429125" y="147637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F6BFF"/>
                </a:solidFill>
                <a:latin typeface="Helvetica Neue"/>
                <a:ea typeface="Helvetica Neue"/>
                <a:cs typeface="Helvetica Neue"/>
              </a:defRPr>
            </a:defPPr>
          </a:lstStyle>
          <a:p xmlns:a="http://schemas.openxmlformats.org/drawingml/2006/main">
            <a:pPr algn="l">
              <a:defRPr sz="2025" b="1">
                <a:solidFill>
                  <a:srgbClr val="2F6BFF"/>
                </a:solidFill>
                <a:latin typeface="Helvetica Neue"/>
                <a:ea typeface="Helvetica Neue"/>
                <a:cs typeface="Helvetica Neue"/>
              </a:defRPr>
            </a:pPr>
            <a:r>
              <a:rPr sz="2025" b="1">
                <a:solidFill>
                  <a:srgbClr val="2F6BFF"/>
                </a:solidFill>
                <a:latin typeface="Helvetica Neue"/>
                <a:ea typeface="Helvetica Neue"/>
                <a:cs typeface="Helvetica Neue"/>
              </a:rPr>
              <a:t>Data volume</a:t>
            </a:r>
          </a:p>
        </p:txBody>
      </p:sp>
      <p:sp>
        <p:nvSpPr>
          <p:cNvPr id="13" name="">
            <a:extLst xmlns:a="http://schemas.openxmlformats.org/drawingml/2006/main">
              <a:ext uri="{FF2B5EF4-FFF2-40B4-BE49-F238E27FC236}">
                <a16:creationId xmlns:a16="http://schemas.microsoft.com/office/drawing/2014/main" id="{C3F6AC4B-7EC3-4CEC-A9FC-036537DD32A1}"/>
              </a:ext>
            </a:extLst>
          </p:cNvPr>
          <p:cNvSpPr>
            <a:spLocks xmlns:a="http://schemas.openxmlformats.org/drawingml/2006/main" noGrp="1"/>
          </p:cNvSpPr>
          <p:nvPr/>
        </p:nvSpPr>
        <p:spPr>
          <a:xfrm xmlns:a="http://schemas.openxmlformats.org/drawingml/2006/main">
            <a:off x="4429125" y="2019300"/>
            <a:ext cx="3238500" cy="28575"/>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004CE83-D402-4F57-B608-EF11BF650A14}"/>
              </a:ext>
            </a:extLst>
          </p:cNvPr>
          <p:cNvSpPr>
            <a:spLocks xmlns:a="http://schemas.openxmlformats.org/drawingml/2006/main" noGrp="1"/>
          </p:cNvSpPr>
          <p:nvPr/>
        </p:nvSpPr>
        <p:spPr>
          <a:xfrm xmlns:a="http://schemas.openxmlformats.org/drawingml/2006/main">
            <a:off x="4429125" y="22860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1">
                <a:solidFill>
                  <a:srgbClr val="627D98"/>
                </a:solidFill>
                <a:latin typeface="Helvetica Neue"/>
                <a:ea typeface="Helvetica Neue"/>
                <a:cs typeface="Helvetica Neue"/>
              </a:defRPr>
            </a:defPPr>
          </a:lstStyle>
          <a:p xmlns:a="http://schemas.openxmlformats.org/drawingml/2006/main">
            <a:pPr algn="l">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Current limitation</a:t>
            </a:r>
          </a:p>
        </p:txBody>
      </p:sp>
      <p:sp>
        <p:nvSpPr>
          <p:cNvPr id="15" name="">
            <a:extLst xmlns:a="http://schemas.openxmlformats.org/drawingml/2006/main">
              <a:ext uri="{FF2B5EF4-FFF2-40B4-BE49-F238E27FC236}">
                <a16:creationId xmlns:a16="http://schemas.microsoft.com/office/drawing/2014/main" id="{C8AA3D64-8958-45C8-91C2-3602EDB6A546}"/>
              </a:ext>
            </a:extLst>
          </p:cNvPr>
          <p:cNvSpPr>
            <a:spLocks xmlns:a="http://schemas.openxmlformats.org/drawingml/2006/main" noGrp="1"/>
          </p:cNvSpPr>
          <p:nvPr/>
        </p:nvSpPr>
        <p:spPr>
          <a:xfrm xmlns:a="http://schemas.openxmlformats.org/drawingml/2006/main">
            <a:off x="4429125" y="2619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One interval per clip and only 12 training clips</a:t>
            </a:r>
          </a:p>
        </p:txBody>
      </p:sp>
      <p:sp>
        <p:nvSpPr>
          <p:cNvPr id="16" name="">
            <a:extLst xmlns:a="http://schemas.openxmlformats.org/drawingml/2006/main">
              <a:ext uri="{FF2B5EF4-FFF2-40B4-BE49-F238E27FC236}">
                <a16:creationId xmlns:a16="http://schemas.microsoft.com/office/drawing/2014/main" id="{8873FB95-7FC2-457A-BE5D-C960BE83EB72}"/>
              </a:ext>
            </a:extLst>
          </p:cNvPr>
          <p:cNvSpPr>
            <a:spLocks xmlns:a="http://schemas.openxmlformats.org/drawingml/2006/main" noGrp="1"/>
          </p:cNvSpPr>
          <p:nvPr/>
        </p:nvSpPr>
        <p:spPr>
          <a:xfrm xmlns:a="http://schemas.openxmlformats.org/drawingml/2006/main">
            <a:off x="4429125" y="39528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1">
                <a:solidFill>
                  <a:srgbClr val="627D98"/>
                </a:solidFill>
                <a:latin typeface="Helvetica Neue"/>
                <a:ea typeface="Helvetica Neue"/>
                <a:cs typeface="Helvetica Neue"/>
              </a:defRPr>
            </a:defPPr>
          </a:lstStyle>
          <a:p xmlns:a="http://schemas.openxmlformats.org/drawingml/2006/main">
            <a:pPr algn="l">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Next experiment</a:t>
            </a:r>
          </a:p>
        </p:txBody>
      </p:sp>
      <p:sp>
        <p:nvSpPr>
          <p:cNvPr id="17" name="">
            <a:extLst xmlns:a="http://schemas.openxmlformats.org/drawingml/2006/main">
              <a:ext uri="{FF2B5EF4-FFF2-40B4-BE49-F238E27FC236}">
                <a16:creationId xmlns:a16="http://schemas.microsoft.com/office/drawing/2014/main" id="{FF4851D7-AC98-4251-8C54-8615F57BB9A4}"/>
              </a:ext>
            </a:extLst>
          </p:cNvPr>
          <p:cNvSpPr>
            <a:spLocks xmlns:a="http://schemas.openxmlformats.org/drawingml/2006/main" noGrp="1"/>
          </p:cNvSpPr>
          <p:nvPr/>
        </p:nvSpPr>
        <p:spPr>
          <a:xfrm xmlns:a="http://schemas.openxmlformats.org/drawingml/2006/main">
            <a:off x="4429125" y="42862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1">
                <a:solidFill>
                  <a:srgbClr val="102A43"/>
                </a:solidFill>
                <a:latin typeface="Helvetica Neue"/>
                <a:ea typeface="Helvetica Neue"/>
                <a:cs typeface="Helvetica Neue"/>
              </a:defRPr>
            </a:defPPr>
          </a:lstStyle>
          <a:p xmlns:a="http://schemas.openxmlformats.org/drawingml/2006/main">
            <a:pPr algn="l">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Many intervals per speaker across more identities</a:t>
            </a:r>
          </a:p>
        </p:txBody>
      </p:sp>
      <p:sp>
        <p:nvSpPr>
          <p:cNvPr id="18" name="">
            <a:extLst xmlns:a="http://schemas.openxmlformats.org/drawingml/2006/main">
              <a:ext uri="{FF2B5EF4-FFF2-40B4-BE49-F238E27FC236}">
                <a16:creationId xmlns:a16="http://schemas.microsoft.com/office/drawing/2014/main" id="{51829173-5DF1-4B44-94DE-7A3BF145D2B2}"/>
              </a:ext>
            </a:extLst>
          </p:cNvPr>
          <p:cNvSpPr>
            <a:spLocks xmlns:a="http://schemas.openxmlformats.org/drawingml/2006/main" noGrp="1"/>
          </p:cNvSpPr>
          <p:nvPr/>
        </p:nvSpPr>
        <p:spPr>
          <a:xfrm xmlns:a="http://schemas.openxmlformats.org/drawingml/2006/main">
            <a:off x="8286750" y="147637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D64545"/>
                </a:solidFill>
                <a:latin typeface="Helvetica Neue"/>
                <a:ea typeface="Helvetica Neue"/>
                <a:cs typeface="Helvetica Neue"/>
              </a:defRPr>
            </a:defPPr>
          </a:lstStyle>
          <a:p xmlns:a="http://schemas.openxmlformats.org/drawingml/2006/main">
            <a:pPr algn="l">
              <a:defRPr sz="2025" b="1">
                <a:solidFill>
                  <a:srgbClr val="D64545"/>
                </a:solidFill>
                <a:latin typeface="Helvetica Neue"/>
                <a:ea typeface="Helvetica Neue"/>
                <a:cs typeface="Helvetica Neue"/>
              </a:defRPr>
            </a:pPr>
            <a:r>
              <a:rPr sz="2025" b="1">
                <a:solidFill>
                  <a:srgbClr val="D64545"/>
                </a:solidFill>
                <a:latin typeface="Helvetica Neue"/>
                <a:ea typeface="Helvetica Neue"/>
                <a:cs typeface="Helvetica Neue"/>
              </a:rPr>
              <a:t>Domain shift</a:t>
            </a:r>
          </a:p>
        </p:txBody>
      </p:sp>
      <p:sp>
        <p:nvSpPr>
          <p:cNvPr id="19" name="">
            <a:extLst xmlns:a="http://schemas.openxmlformats.org/drawingml/2006/main">
              <a:ext uri="{FF2B5EF4-FFF2-40B4-BE49-F238E27FC236}">
                <a16:creationId xmlns:a16="http://schemas.microsoft.com/office/drawing/2014/main" id="{CA985948-BCE0-47CE-97A6-03F2FAEC20BA}"/>
              </a:ext>
            </a:extLst>
          </p:cNvPr>
          <p:cNvSpPr>
            <a:spLocks xmlns:a="http://schemas.openxmlformats.org/drawingml/2006/main" noGrp="1"/>
          </p:cNvSpPr>
          <p:nvPr/>
        </p:nvSpPr>
        <p:spPr>
          <a:xfrm xmlns:a="http://schemas.openxmlformats.org/drawingml/2006/main">
            <a:off x="8286750" y="2019300"/>
            <a:ext cx="3238500" cy="28575"/>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3F8972E-D30B-468A-B348-6C486D208179}"/>
              </a:ext>
            </a:extLst>
          </p:cNvPr>
          <p:cNvSpPr>
            <a:spLocks xmlns:a="http://schemas.openxmlformats.org/drawingml/2006/main" noGrp="1"/>
          </p:cNvSpPr>
          <p:nvPr/>
        </p:nvSpPr>
        <p:spPr>
          <a:xfrm xmlns:a="http://schemas.openxmlformats.org/drawingml/2006/main">
            <a:off x="8286750" y="22860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1">
                <a:solidFill>
                  <a:srgbClr val="627D98"/>
                </a:solidFill>
                <a:latin typeface="Helvetica Neue"/>
                <a:ea typeface="Helvetica Neue"/>
                <a:cs typeface="Helvetica Neue"/>
              </a:defRPr>
            </a:defPPr>
          </a:lstStyle>
          <a:p xmlns:a="http://schemas.openxmlformats.org/drawingml/2006/main">
            <a:pPr algn="l">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Current limitation</a:t>
            </a:r>
          </a:p>
        </p:txBody>
      </p:sp>
      <p:sp>
        <p:nvSpPr>
          <p:cNvPr id="21" name="">
            <a:extLst xmlns:a="http://schemas.openxmlformats.org/drawingml/2006/main">
              <a:ext uri="{FF2B5EF4-FFF2-40B4-BE49-F238E27FC236}">
                <a16:creationId xmlns:a16="http://schemas.microsoft.com/office/drawing/2014/main" id="{87779ABA-6953-4E7B-8EE2-EDD48D46E493}"/>
              </a:ext>
            </a:extLst>
          </p:cNvPr>
          <p:cNvSpPr>
            <a:spLocks xmlns:a="http://schemas.openxmlformats.org/drawingml/2006/main" noGrp="1"/>
          </p:cNvSpPr>
          <p:nvPr/>
        </p:nvSpPr>
        <p:spPr>
          <a:xfrm xmlns:a="http://schemas.openxmlformats.org/drawingml/2006/main">
            <a:off x="8286750" y="2619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Real and fake clips come from different collections</a:t>
            </a:r>
          </a:p>
        </p:txBody>
      </p:sp>
      <p:sp>
        <p:nvSpPr>
          <p:cNvPr id="22" name="">
            <a:extLst xmlns:a="http://schemas.openxmlformats.org/drawingml/2006/main">
              <a:ext uri="{FF2B5EF4-FFF2-40B4-BE49-F238E27FC236}">
                <a16:creationId xmlns:a16="http://schemas.microsoft.com/office/drawing/2014/main" id="{886EE3E5-B5EB-4B6C-872F-25293F79E641}"/>
              </a:ext>
            </a:extLst>
          </p:cNvPr>
          <p:cNvSpPr>
            <a:spLocks xmlns:a="http://schemas.openxmlformats.org/drawingml/2006/main" noGrp="1"/>
          </p:cNvSpPr>
          <p:nvPr/>
        </p:nvSpPr>
        <p:spPr>
          <a:xfrm xmlns:a="http://schemas.openxmlformats.org/drawingml/2006/main">
            <a:off x="8286750" y="39528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1">
                <a:solidFill>
                  <a:srgbClr val="627D98"/>
                </a:solidFill>
                <a:latin typeface="Helvetica Neue"/>
                <a:ea typeface="Helvetica Neue"/>
                <a:cs typeface="Helvetica Neue"/>
              </a:defRPr>
            </a:defPPr>
          </a:lstStyle>
          <a:p xmlns:a="http://schemas.openxmlformats.org/drawingml/2006/main">
            <a:pPr algn="l">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Next experiment</a:t>
            </a:r>
          </a:p>
        </p:txBody>
      </p:sp>
      <p:sp>
        <p:nvSpPr>
          <p:cNvPr id="23" name="">
            <a:extLst xmlns:a="http://schemas.openxmlformats.org/drawingml/2006/main">
              <a:ext uri="{FF2B5EF4-FFF2-40B4-BE49-F238E27FC236}">
                <a16:creationId xmlns:a16="http://schemas.microsoft.com/office/drawing/2014/main" id="{51797BF1-17D2-4BE6-A595-B818A157C71F}"/>
              </a:ext>
            </a:extLst>
          </p:cNvPr>
          <p:cNvSpPr>
            <a:spLocks xmlns:a="http://schemas.openxmlformats.org/drawingml/2006/main" noGrp="1"/>
          </p:cNvSpPr>
          <p:nvPr/>
        </p:nvSpPr>
        <p:spPr>
          <a:xfrm xmlns:a="http://schemas.openxmlformats.org/drawingml/2006/main">
            <a:off x="8286750" y="42862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1">
                <a:solidFill>
                  <a:srgbClr val="102A43"/>
                </a:solidFill>
                <a:latin typeface="Helvetica Neue"/>
                <a:ea typeface="Helvetica Neue"/>
                <a:cs typeface="Helvetica Neue"/>
              </a:defRPr>
            </a:defPPr>
          </a:lstStyle>
          <a:p xmlns:a="http://schemas.openxmlformats.org/drawingml/2006/main">
            <a:pPr algn="l">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Matched source videos with controlled generation</a:t>
            </a:r>
          </a:p>
        </p:txBody>
      </p:sp>
      <p:sp>
        <p:nvSpPr>
          <p:cNvPr id="24" name="">
            <a:extLst xmlns:a="http://schemas.openxmlformats.org/drawingml/2006/main">
              <a:ext uri="{FF2B5EF4-FFF2-40B4-BE49-F238E27FC236}">
                <a16:creationId xmlns:a16="http://schemas.microsoft.com/office/drawing/2014/main" id="{67A000D7-28B8-4DB7-BE7E-6B69539FD0F7}"/>
              </a:ext>
            </a:extLst>
          </p:cNvPr>
          <p:cNvSpPr>
            <a:spLocks xmlns:a="http://schemas.openxmlformats.org/drawingml/2006/main" noGrp="1"/>
          </p:cNvSpPr>
          <p:nvPr/>
        </p:nvSpPr>
        <p:spPr>
          <a:xfrm xmlns:a="http://schemas.openxmlformats.org/drawingml/2006/main">
            <a:off x="571500" y="5810250"/>
            <a:ext cx="10953750" cy="28575"/>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6E850EB-B41A-4A6F-BDE5-F1A80A4777BC}"/>
              </a:ext>
            </a:extLst>
          </p:cNvPr>
          <p:cNvSpPr>
            <a:spLocks xmlns:a="http://schemas.openxmlformats.org/drawingml/2006/main" noGrp="1"/>
          </p:cNvSpPr>
          <p:nvPr/>
        </p:nvSpPr>
        <p:spPr>
          <a:xfrm xmlns:a="http://schemas.openxmlformats.org/drawingml/2006/main">
            <a:off x="762000" y="5905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159E9C"/>
                </a:solidFill>
                <a:latin typeface="Helvetica Neue"/>
                <a:ea typeface="Helvetica Neue"/>
                <a:cs typeface="Helvetica Neue"/>
              </a:defRPr>
            </a:defPPr>
          </a:lstStyle>
          <a:p xmlns:a="http://schemas.openxmlformats.org/drawingml/2006/main">
            <a:pPr algn="ctr">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Course fallback: retain the context-free lip baseline and report the context result as a negative finding</a:t>
            </a:r>
          </a:p>
        </p:txBody>
      </p:sp>
    </p:spTree>
    <p:extLst>
      <p:ext uri="{BB962C8B-B14F-4D97-AF65-F5344CB8AC3E}">
        <p14:creationId xmlns:p14="http://schemas.microsoft.com/office/powerpoint/2010/main" val="8824365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E9B59C9-967A-4290-9947-022E472A8F3D}"/>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B: periodic chromatic-injection forensics</a:t>
            </a:r>
          </a:p>
        </p:txBody>
      </p:sp>
      <p:sp>
        <p:nvSpPr>
          <p:cNvPr id="2" name="">
            <a:extLst xmlns:a="http://schemas.openxmlformats.org/drawingml/2006/main">
              <a:ext uri="{FF2B5EF4-FFF2-40B4-BE49-F238E27FC236}">
                <a16:creationId xmlns:a16="http://schemas.microsoft.com/office/drawing/2014/main" id="{31E7E9F0-7074-4395-948E-8A0357AA338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E9506E36-4561-43C5-B91E-32A1457E612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416BD1-7C48-4C9A-921D-479A1B359688}"/>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4015C0A1-73D6-4BCB-AF8F-4B598050FDBA}"/>
              </a:ext>
            </a:extLst>
          </p:cNvPr>
          <p:cNvSpPr>
            <a:spLocks xmlns:a="http://schemas.openxmlformats.org/drawingml/2006/main" noGrp="1"/>
          </p:cNvSpPr>
          <p:nvPr/>
        </p:nvSpPr>
        <p:spPr>
          <a:xfrm xmlns:a="http://schemas.openxmlformats.org/drawingml/2006/main">
            <a:off x="10572750" y="64960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8/11</a:t>
            </a:r>
          </a:p>
        </p:txBody>
      </p:sp>
      <p:sp>
        <p:nvSpPr>
          <p:cNvPr id="6" name="">
            <a:extLst xmlns:a="http://schemas.openxmlformats.org/drawingml/2006/main">
              <a:ext uri="{FF2B5EF4-FFF2-40B4-BE49-F238E27FC236}">
                <a16:creationId xmlns:a16="http://schemas.microsoft.com/office/drawing/2014/main" id="{8D1300C9-39E8-4B38-BB3E-C12ADC7E373D}"/>
              </a:ext>
            </a:extLst>
          </p:cNvPr>
          <p:cNvSpPr>
            <a:spLocks xmlns:a="http://schemas.openxmlformats.org/drawingml/2006/main" noGrp="1"/>
          </p:cNvSpPr>
          <p:nvPr/>
        </p:nvSpPr>
        <p:spPr>
          <a:xfrm xmlns:a="http://schemas.openxmlformats.org/drawingml/2006/main">
            <a:off x="666750" y="1476375"/>
            <a:ext cx="2190750" cy="1143000"/>
          </a:xfrm>
          <a:prstGeom xmlns:a="http://schemas.openxmlformats.org/drawingml/2006/main" prst="roundRect">
            <a:avLst>
              <a:gd name="adj" fmla="val 6667"/>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070E7F36-B4D7-4362-ACDB-40715106D34D}"/>
              </a:ext>
            </a:extLst>
          </p:cNvPr>
          <p:cNvSpPr>
            <a:spLocks xmlns:a="http://schemas.openxmlformats.org/drawingml/2006/main" noGrp="1"/>
          </p:cNvSpPr>
          <p:nvPr/>
        </p:nvSpPr>
        <p:spPr>
          <a:xfrm xmlns:a="http://schemas.openxmlformats.org/drawingml/2006/main">
            <a:off x="838200" y="159067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Control</a:t>
            </a:r>
          </a:p>
        </p:txBody>
      </p:sp>
      <p:sp>
        <p:nvSpPr>
          <p:cNvPr id="8" name="">
            <a:extLst xmlns:a="http://schemas.openxmlformats.org/drawingml/2006/main">
              <a:ext uri="{FF2B5EF4-FFF2-40B4-BE49-F238E27FC236}">
                <a16:creationId xmlns:a16="http://schemas.microsoft.com/office/drawing/2014/main" id="{D6CF38D1-D1C7-4268-AA32-BA0633C69C2C}"/>
              </a:ext>
            </a:extLst>
          </p:cNvPr>
          <p:cNvSpPr>
            <a:spLocks xmlns:a="http://schemas.openxmlformats.org/drawingml/2006/main" noGrp="1"/>
          </p:cNvSpPr>
          <p:nvPr/>
        </p:nvSpPr>
        <p:spPr>
          <a:xfrm xmlns:a="http://schemas.openxmlformats.org/drawingml/2006/main">
            <a:off x="838200" y="197167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Original generated video</a:t>
            </a:r>
          </a:p>
        </p:txBody>
      </p:sp>
      <p:sp>
        <p:nvSpPr>
          <p:cNvPr id="9" name="">
            <a:extLst xmlns:a="http://schemas.openxmlformats.org/drawingml/2006/main">
              <a:ext uri="{FF2B5EF4-FFF2-40B4-BE49-F238E27FC236}">
                <a16:creationId xmlns:a16="http://schemas.microsoft.com/office/drawing/2014/main" id="{1EAAEA71-6A6B-473D-8B8F-93FDD422CF54}"/>
              </a:ext>
            </a:extLst>
          </p:cNvPr>
          <p:cNvSpPr>
            <a:spLocks xmlns:a="http://schemas.openxmlformats.org/drawingml/2006/main" noGrp="1"/>
          </p:cNvSpPr>
          <p:nvPr/>
        </p:nvSpPr>
        <p:spPr>
          <a:xfrm xmlns:a="http://schemas.openxmlformats.org/drawingml/2006/main">
            <a:off x="666750" y="3286125"/>
            <a:ext cx="2190750" cy="1143000"/>
          </a:xfrm>
          <a:prstGeom xmlns:a="http://schemas.openxmlformats.org/drawingml/2006/main" prst="roundRect">
            <a:avLst>
              <a:gd name="adj" fmla="val 6667"/>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27109A18-20F8-4EDD-B0B9-566FB92A291C}"/>
              </a:ext>
            </a:extLst>
          </p:cNvPr>
          <p:cNvSpPr>
            <a:spLocks xmlns:a="http://schemas.openxmlformats.org/drawingml/2006/main" noGrp="1"/>
          </p:cNvSpPr>
          <p:nvPr/>
        </p:nvSpPr>
        <p:spPr>
          <a:xfrm xmlns:a="http://schemas.openxmlformats.org/drawingml/2006/main">
            <a:off x="838200" y="340042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A=1 modified</a:t>
            </a:r>
          </a:p>
        </p:txBody>
      </p:sp>
      <p:sp>
        <p:nvSpPr>
          <p:cNvPr id="11" name="">
            <a:extLst xmlns:a="http://schemas.openxmlformats.org/drawingml/2006/main">
              <a:ext uri="{FF2B5EF4-FFF2-40B4-BE49-F238E27FC236}">
                <a16:creationId xmlns:a16="http://schemas.microsoft.com/office/drawing/2014/main" id="{C658D28F-D6C0-4871-A020-2F1B4DCC655E}"/>
              </a:ext>
            </a:extLst>
          </p:cNvPr>
          <p:cNvSpPr>
            <a:spLocks xmlns:a="http://schemas.openxmlformats.org/drawingml/2006/main" noGrp="1"/>
          </p:cNvSpPr>
          <p:nvPr/>
        </p:nvSpPr>
        <p:spPr>
          <a:xfrm xmlns:a="http://schemas.openxmlformats.org/drawingml/2006/main">
            <a:off x="838200" y="378142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Dark.Mimic periodic colour change</a:t>
            </a:r>
          </a:p>
        </p:txBody>
      </p:sp>
      <p:sp>
        <p:nvSpPr>
          <p:cNvPr id="12" name="">
            <a:extLst xmlns:a="http://schemas.openxmlformats.org/drawingml/2006/main">
              <a:ext uri="{FF2B5EF4-FFF2-40B4-BE49-F238E27FC236}">
                <a16:creationId xmlns:a16="http://schemas.microsoft.com/office/drawing/2014/main" id="{B00644EC-8979-4A12-9AC6-AD2C5D9B9A46}"/>
              </a:ext>
            </a:extLst>
          </p:cNvPr>
          <p:cNvSpPr>
            <a:spLocks xmlns:a="http://schemas.openxmlformats.org/drawingml/2006/main" noGrp="1"/>
          </p:cNvSpPr>
          <p:nvPr/>
        </p:nvSpPr>
        <p:spPr>
          <a:xfrm xmlns:a="http://schemas.openxmlformats.org/drawingml/2006/main">
            <a:off x="4191000" y="2286000"/>
            <a:ext cx="2952750" cy="1428750"/>
          </a:xfrm>
          <a:prstGeom xmlns:a="http://schemas.openxmlformats.org/drawingml/2006/main" prst="roundRect">
            <a:avLst>
              <a:gd name="adj" fmla="val 5333"/>
            </a:avLst>
          </a:prstGeom>
          <a:solidFill xmlns:a="http://schemas.openxmlformats.org/drawingml/2006/main">
            <a:srgbClr val="FCECEC"/>
          </a:solidFill>
          <a:ln xmlns:a="http://schemas.openxmlformats.org/drawingml/2006/main" w="19050">
            <a:solidFill>
              <a:srgbClr val="D64545"/>
            </a:solidFill>
          </a:ln>
        </p:spPr>
      </p:sp>
      <p:sp>
        <p:nvSpPr>
          <p:cNvPr id="13" name="">
            <a:extLst xmlns:a="http://schemas.openxmlformats.org/drawingml/2006/main">
              <a:ext uri="{FF2B5EF4-FFF2-40B4-BE49-F238E27FC236}">
                <a16:creationId xmlns:a16="http://schemas.microsoft.com/office/drawing/2014/main" id="{96161803-CE75-4B41-8EE4-F8501D224D1D}"/>
              </a:ext>
            </a:extLst>
          </p:cNvPr>
          <p:cNvSpPr>
            <a:spLocks xmlns:a="http://schemas.openxmlformats.org/drawingml/2006/main" noGrp="1"/>
          </p:cNvSpPr>
          <p:nvPr/>
        </p:nvSpPr>
        <p:spPr>
          <a:xfrm xmlns:a="http://schemas.openxmlformats.org/drawingml/2006/main">
            <a:off x="4362450" y="240030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Frame-aligned RGB difference</a:t>
            </a:r>
          </a:p>
        </p:txBody>
      </p:sp>
      <p:sp>
        <p:nvSpPr>
          <p:cNvPr id="14" name="">
            <a:extLst xmlns:a="http://schemas.openxmlformats.org/drawingml/2006/main">
              <a:ext uri="{FF2B5EF4-FFF2-40B4-BE49-F238E27FC236}">
                <a16:creationId xmlns:a16="http://schemas.microsoft.com/office/drawing/2014/main" id="{49030C6D-3B36-42AA-AEF5-F9B4152005ED}"/>
              </a:ext>
            </a:extLst>
          </p:cNvPr>
          <p:cNvSpPr>
            <a:spLocks xmlns:a="http://schemas.openxmlformats.org/drawingml/2006/main" noGrp="1"/>
          </p:cNvSpPr>
          <p:nvPr/>
        </p:nvSpPr>
        <p:spPr>
          <a:xfrm xmlns:a="http://schemas.openxmlformats.org/drawingml/2006/main">
            <a:off x="4362450" y="2781300"/>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forehead and both cheeks</a:t>
            </a:r>
          </a:p>
        </p:txBody>
      </p:sp>
      <p:sp>
        <p:nvSpPr>
          <p:cNvPr id="15" name="">
            <a:extLst xmlns:a="http://schemas.openxmlformats.org/drawingml/2006/main">
              <a:ext uri="{FF2B5EF4-FFF2-40B4-BE49-F238E27FC236}">
                <a16:creationId xmlns:a16="http://schemas.microsoft.com/office/drawing/2014/main" id="{48B53CA2-72A8-46D6-BB62-45FC8449BF87}"/>
              </a:ext>
            </a:extLst>
          </p:cNvPr>
          <p:cNvSpPr>
            <a:spLocks xmlns:a="http://schemas.openxmlformats.org/drawingml/2006/main" noGrp="1"/>
          </p:cNvSpPr>
          <p:nvPr/>
        </p:nvSpPr>
        <p:spPr>
          <a:xfrm xmlns:a="http://schemas.openxmlformats.org/drawingml/2006/main">
            <a:off x="8572500" y="2286000"/>
            <a:ext cx="2857500" cy="1428750"/>
          </a:xfrm>
          <a:prstGeom xmlns:a="http://schemas.openxmlformats.org/drawingml/2006/main" prst="roundRect">
            <a:avLst>
              <a:gd name="adj" fmla="val 5333"/>
            </a:avLst>
          </a:prstGeom>
          <a:solidFill xmlns:a="http://schemas.openxmlformats.org/drawingml/2006/main">
            <a:srgbClr val="EAF1FF"/>
          </a:solidFill>
          <a:ln xmlns:a="http://schemas.openxmlformats.org/drawingml/2006/main" w="19050">
            <a:solidFill>
              <a:srgbClr val="2F6BFF"/>
            </a:solidFill>
          </a:ln>
        </p:spPr>
      </p:sp>
      <p:sp>
        <p:nvSpPr>
          <p:cNvPr id="16" name="">
            <a:extLst xmlns:a="http://schemas.openxmlformats.org/drawingml/2006/main">
              <a:ext uri="{FF2B5EF4-FFF2-40B4-BE49-F238E27FC236}">
                <a16:creationId xmlns:a16="http://schemas.microsoft.com/office/drawing/2014/main" id="{5FEA86A6-FF87-4061-BD81-093477E1A7C9}"/>
              </a:ext>
            </a:extLst>
          </p:cNvPr>
          <p:cNvSpPr>
            <a:spLocks xmlns:a="http://schemas.openxmlformats.org/drawingml/2006/main" noGrp="1"/>
          </p:cNvSpPr>
          <p:nvPr/>
        </p:nvSpPr>
        <p:spPr>
          <a:xfrm xmlns:a="http://schemas.openxmlformats.org/drawingml/2006/main">
            <a:off x="8743950" y="2400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FFT audit</a:t>
            </a:r>
          </a:p>
        </p:txBody>
      </p:sp>
      <p:sp>
        <p:nvSpPr>
          <p:cNvPr id="17" name="">
            <a:extLst xmlns:a="http://schemas.openxmlformats.org/drawingml/2006/main">
              <a:ext uri="{FF2B5EF4-FFF2-40B4-BE49-F238E27FC236}">
                <a16:creationId xmlns:a16="http://schemas.microsoft.com/office/drawing/2014/main" id="{07363EB3-F139-4661-9C8A-B1BD0F6EB9BB}"/>
              </a:ext>
            </a:extLst>
          </p:cNvPr>
          <p:cNvSpPr>
            <a:spLocks xmlns:a="http://schemas.openxmlformats.org/drawingml/2006/main" noGrp="1"/>
          </p:cNvSpPr>
          <p:nvPr/>
        </p:nvSpPr>
        <p:spPr>
          <a:xfrm xmlns:a="http://schemas.openxmlformats.org/drawingml/2006/main">
            <a:off x="8743950" y="27813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 frequency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Peak-to-median ratio</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Energy near 1.2 Hz</a:t>
            </a:r>
          </a:p>
        </p:txBody>
      </p:sp>
      <p:sp>
        <p:nvSpPr>
          <p:cNvPr id="18" name="">
            <a:extLst xmlns:a="http://schemas.openxmlformats.org/drawingml/2006/main">
              <a:ext uri="{FF2B5EF4-FFF2-40B4-BE49-F238E27FC236}">
                <a16:creationId xmlns:a16="http://schemas.microsoft.com/office/drawing/2014/main" id="{FB67C729-5FE7-41EF-B78D-A39F7F37B630}"/>
              </a:ext>
            </a:extLst>
          </p:cNvPr>
          <p:cNvSpPr>
            <a:spLocks xmlns:a="http://schemas.openxmlformats.org/drawingml/2006/main" noGrp="1"/>
          </p:cNvSpPr>
          <p:nvPr/>
        </p:nvSpPr>
        <p:spPr>
          <a:xfrm xmlns:a="http://schemas.openxmlformats.org/drawingml/2006/main">
            <a:off x="2857500" y="2047875"/>
            <a:ext cx="1333500" cy="66675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9" name="">
            <a:extLst xmlns:a="http://schemas.openxmlformats.org/drawingml/2006/main">
              <a:ext uri="{FF2B5EF4-FFF2-40B4-BE49-F238E27FC236}">
                <a16:creationId xmlns:a16="http://schemas.microsoft.com/office/drawing/2014/main" id="{2126CD3E-E6C1-4492-8770-91378FCF428D}"/>
              </a:ext>
            </a:extLst>
          </p:cNvPr>
          <p:cNvSpPr>
            <a:spLocks xmlns:a="http://schemas.openxmlformats.org/drawingml/2006/main" noGrp="1"/>
          </p:cNvSpPr>
          <p:nvPr/>
        </p:nvSpPr>
        <p:spPr>
          <a:xfrm xmlns:a="http://schemas.openxmlformats.org/drawingml/2006/main">
            <a:off x="2857500" y="3857625"/>
            <a:ext cx="13335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0" name="">
            <a:extLst xmlns:a="http://schemas.openxmlformats.org/drawingml/2006/main">
              <a:ext uri="{FF2B5EF4-FFF2-40B4-BE49-F238E27FC236}">
                <a16:creationId xmlns:a16="http://schemas.microsoft.com/office/drawing/2014/main" id="{C66DC799-3723-4927-BDBC-56929D6FEBA0}"/>
              </a:ext>
            </a:extLst>
          </p:cNvPr>
          <p:cNvSpPr>
            <a:spLocks xmlns:a="http://schemas.openxmlformats.org/drawingml/2006/main" noGrp="1"/>
          </p:cNvSpPr>
          <p:nvPr/>
        </p:nvSpPr>
        <p:spPr>
          <a:xfrm xmlns:a="http://schemas.openxmlformats.org/drawingml/2006/main">
            <a:off x="7143750" y="3000375"/>
            <a:ext cx="1428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1" name="">
            <a:extLst xmlns:a="http://schemas.openxmlformats.org/drawingml/2006/main">
              <a:ext uri="{FF2B5EF4-FFF2-40B4-BE49-F238E27FC236}">
                <a16:creationId xmlns:a16="http://schemas.microsoft.com/office/drawing/2014/main" id="{898327BF-8595-4F70-964E-2463E5D0177C}"/>
              </a:ext>
            </a:extLst>
          </p:cNvPr>
          <p:cNvSpPr>
            <a:spLocks xmlns:a="http://schemas.openxmlformats.org/drawingml/2006/main" noGrp="1"/>
          </p:cNvSpPr>
          <p:nvPr/>
        </p:nvSpPr>
        <p:spPr>
          <a:xfrm xmlns:a="http://schemas.openxmlformats.org/drawingml/2006/main">
            <a:off x="2000250" y="4762500"/>
            <a:ext cx="8001000" cy="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22" name="">
            <a:extLst xmlns:a="http://schemas.openxmlformats.org/drawingml/2006/main">
              <a:ext uri="{FF2B5EF4-FFF2-40B4-BE49-F238E27FC236}">
                <a16:creationId xmlns:a16="http://schemas.microsoft.com/office/drawing/2014/main" id="{D0C017B8-D51D-4C67-B671-C0B460C90E4C}"/>
              </a:ext>
            </a:extLst>
          </p:cNvPr>
          <p:cNvSpPr>
            <a:spLocks xmlns:a="http://schemas.openxmlformats.org/drawingml/2006/main" noGrp="1"/>
          </p:cNvSpPr>
          <p:nvPr/>
        </p:nvSpPr>
        <p:spPr>
          <a:xfrm xmlns:a="http://schemas.openxmlformats.org/drawingml/2006/main">
            <a:off x="666750" y="5095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159E9C"/>
                </a:solidFill>
                <a:latin typeface="Helvetica Neue"/>
                <a:ea typeface="Helvetica Neue"/>
                <a:cs typeface="Helvetica Neue"/>
              </a:defRPr>
            </a:defPPr>
          </a:lstStyle>
          <a:p xmlns:a="http://schemas.openxmlformats.org/drawingml/2006/main">
            <a:pPr algn="l">
              <a:defRPr sz="1725" b="1">
                <a:solidFill>
                  <a:srgbClr val="159E9C"/>
                </a:solidFill>
                <a:latin typeface="Helvetica Neue"/>
                <a:ea typeface="Helvetica Neue"/>
                <a:cs typeface="Helvetica Neue"/>
              </a:defRPr>
            </a:pPr>
            <a:r>
              <a:rPr sz="1725" b="1">
                <a:solidFill>
                  <a:srgbClr val="159E9C"/>
                </a:solidFill>
                <a:latin typeface="Helvetica Neue"/>
                <a:ea typeface="Helvetica Neue"/>
                <a:cs typeface="Helvetica Neue"/>
              </a:rPr>
              <a:t>Neutral control</a:t>
            </a:r>
          </a:p>
        </p:txBody>
      </p:sp>
      <p:sp>
        <p:nvSpPr>
          <p:cNvPr id="23" name="">
            <a:extLst xmlns:a="http://schemas.openxmlformats.org/drawingml/2006/main">
              <a:ext uri="{FF2B5EF4-FFF2-40B4-BE49-F238E27FC236}">
                <a16:creationId xmlns:a16="http://schemas.microsoft.com/office/drawing/2014/main" id="{76E59753-F6D7-489D-B14F-3A272474F7FD}"/>
              </a:ext>
            </a:extLst>
          </p:cNvPr>
          <p:cNvSpPr>
            <a:spLocks xmlns:a="http://schemas.openxmlformats.org/drawingml/2006/main" noGrp="1"/>
          </p:cNvSpPr>
          <p:nvPr/>
        </p:nvSpPr>
        <p:spPr>
          <a:xfrm xmlns:a="http://schemas.openxmlformats.org/drawingml/2006/main">
            <a:off x="2857500" y="5010150"/>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Re-encode the control with the same codec family and similar bitrate, then apply the identical audit</a:t>
            </a:r>
          </a:p>
        </p:txBody>
      </p:sp>
      <p:sp>
        <p:nvSpPr>
          <p:cNvPr id="24" name="">
            <a:extLst xmlns:a="http://schemas.openxmlformats.org/drawingml/2006/main">
              <a:ext uri="{FF2B5EF4-FFF2-40B4-BE49-F238E27FC236}">
                <a16:creationId xmlns:a16="http://schemas.microsoft.com/office/drawing/2014/main" id="{D6E37139-8086-4E17-AF95-6B804E7A54E2}"/>
              </a:ext>
            </a:extLst>
          </p:cNvPr>
          <p:cNvSpPr>
            <a:spLocks xmlns:a="http://schemas.openxmlformats.org/drawingml/2006/main" noGrp="1"/>
          </p:cNvSpPr>
          <p:nvPr/>
        </p:nvSpPr>
        <p:spPr>
          <a:xfrm xmlns:a="http://schemas.openxmlformats.org/drawingml/2006/main">
            <a:off x="1714500" y="59055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D64545"/>
                </a:solidFill>
                <a:latin typeface="Helvetica Neue"/>
                <a:ea typeface="Helvetica Neue"/>
                <a:cs typeface="Helvetica Neue"/>
              </a:defRPr>
            </a:defPPr>
          </a:lstStyle>
          <a:p xmlns:a="http://schemas.openxmlformats.org/drawingml/2006/main">
            <a:pPr algn="ctr">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Paired forensic evidence. No pulse recovery and no arbitrary-video classifier.</a:t>
            </a:r>
          </a:p>
        </p:txBody>
      </p:sp>
    </p:spTree>
    <p:extLst>
      <p:ext uri="{BB962C8B-B14F-4D97-AF65-F5344CB8AC3E}">
        <p14:creationId xmlns:p14="http://schemas.microsoft.com/office/powerpoint/2010/main" val="1168587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240AD35-E1C5-4AB4-AF46-4B7929DFF66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A=1 pair contains a strong 1.2 Hz colour trace</a:t>
            </a:r>
          </a:p>
        </p:txBody>
      </p:sp>
      <p:sp>
        <p:nvSpPr>
          <p:cNvPr id="2" name="">
            <a:extLst xmlns:a="http://schemas.openxmlformats.org/drawingml/2006/main">
              <a:ext uri="{FF2B5EF4-FFF2-40B4-BE49-F238E27FC236}">
                <a16:creationId xmlns:a16="http://schemas.microsoft.com/office/drawing/2014/main" id="{4D631714-FE58-49EB-9469-73E3672EF4DA}"/>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63E09E6F-4253-4641-AE71-E9CB49412236}"/>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8377A0-E873-40A8-A5DA-28F5876821FA}"/>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7400308-685D-40FC-8DEF-9FDDC6CFC16C}"/>
              </a:ext>
            </a:extLst>
          </p:cNvPr>
          <p:cNvSpPr>
            <a:spLocks xmlns:a="http://schemas.openxmlformats.org/drawingml/2006/main" noGrp="1"/>
          </p:cNvSpPr>
          <p:nvPr/>
        </p:nvSpPr>
        <p:spPr>
          <a:xfrm xmlns:a="http://schemas.openxmlformats.org/drawingml/2006/main">
            <a:off x="10572750" y="64960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9/11</a:t>
            </a:r>
          </a:p>
        </p:txBody>
      </p:sp>
      <p:graphicFrame>
        <p:nvGraphicFramePr>
          <p:cNvPr id="6" name="Chart">
            <a:extLst xmlns:a="http://schemas.openxmlformats.org/drawingml/2006/main">
              <a:ext uri="{FF2B5EF4-FFF2-40B4-BE49-F238E27FC236}">
                <a16:creationId xmlns:a16="http://schemas.microsoft.com/office/drawing/2014/main" id="{AF297FD3-E26F-49FA-89E5-EA941FE71521}"/>
              </a:ext>
            </a:extLst>
          </p:cNvPr>
          <p:cNvGraphicFramePr/>
          <p:nvPr/>
        </p:nvGraphicFramePr>
        <p:xfrm>
          <a:off xmlns:a="http://schemas.openxmlformats.org/drawingml/2006/main" x="619125" y="1285875"/>
          <a:ext xmlns:a="http://schemas.openxmlformats.org/drawingml/2006/main" cx="6667500" cy="2333625"/>
        </p:xfrm>
        <a:graphic xmlns:a="http://schemas.openxmlformats.org/drawingml/2006/main">
          <a:graphicData uri="http://schemas.openxmlformats.org/drawingml/2006/chart">
            <c:chart xmlns:r="http://schemas.openxmlformats.org/officeDocument/2006/relationships" xmlns:c="http://schemas.openxmlformats.org/drawingml/2006/chart" r:id="Ra0080620088841aa"/>
          </a:graphicData>
        </a:graphic>
      </p:graphicFrame>
      <p:graphicFrame>
        <p:nvGraphicFramePr>
          <p:cNvPr id="7" name="Chart">
            <a:extLst xmlns:a="http://schemas.openxmlformats.org/drawingml/2006/main">
              <a:ext uri="{FF2B5EF4-FFF2-40B4-BE49-F238E27FC236}">
                <a16:creationId xmlns:a16="http://schemas.microsoft.com/office/drawing/2014/main" id="{444F9983-B286-4E90-9A0C-8602DB5ADE53}"/>
              </a:ext>
            </a:extLst>
          </p:cNvPr>
          <p:cNvGraphicFramePr/>
          <p:nvPr/>
        </p:nvGraphicFramePr>
        <p:xfrm>
          <a:off xmlns:a="http://schemas.openxmlformats.org/drawingml/2006/main" x="619125" y="4000500"/>
          <a:ext xmlns:a="http://schemas.openxmlformats.org/drawingml/2006/main" cx="6667500" cy="2047875"/>
        </p:xfrm>
        <a:graphic xmlns:a="http://schemas.openxmlformats.org/drawingml/2006/main">
          <a:graphicData uri="http://schemas.openxmlformats.org/drawingml/2006/chart">
            <c:chart xmlns:r="http://schemas.openxmlformats.org/officeDocument/2006/relationships" xmlns:c="http://schemas.openxmlformats.org/drawingml/2006/chart" r:id="Rdc9df921de234a53"/>
          </a:graphicData>
        </a:graphic>
      </p:graphicFrame>
      <p:sp>
        <p:nvSpPr>
          <p:cNvPr id="8" name="">
            <a:extLst xmlns:a="http://schemas.openxmlformats.org/drawingml/2006/main">
              <a:ext uri="{FF2B5EF4-FFF2-40B4-BE49-F238E27FC236}">
                <a16:creationId xmlns:a16="http://schemas.microsoft.com/office/drawing/2014/main" id="{41B2D453-07C2-4598-8EE1-09FD8EE832D4}"/>
              </a:ext>
            </a:extLst>
          </p:cNvPr>
          <p:cNvSpPr>
            <a:spLocks xmlns:a="http://schemas.openxmlformats.org/drawingml/2006/main" noGrp="1"/>
          </p:cNvSpPr>
          <p:nvPr/>
        </p:nvSpPr>
        <p:spPr>
          <a:xfrm xmlns:a="http://schemas.openxmlformats.org/drawingml/2006/main">
            <a:off x="7905750" y="15240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Global red peak</a:t>
            </a:r>
          </a:p>
        </p:txBody>
      </p:sp>
      <p:sp>
        <p:nvSpPr>
          <p:cNvPr id="9" name="">
            <a:extLst xmlns:a="http://schemas.openxmlformats.org/drawingml/2006/main">
              <a:ext uri="{FF2B5EF4-FFF2-40B4-BE49-F238E27FC236}">
                <a16:creationId xmlns:a16="http://schemas.microsoft.com/office/drawing/2014/main" id="{0BD99CC7-A2DB-4815-BB28-4D9BA3ED454B}"/>
              </a:ext>
            </a:extLst>
          </p:cNvPr>
          <p:cNvSpPr>
            <a:spLocks xmlns:a="http://schemas.openxmlformats.org/drawingml/2006/main" noGrp="1"/>
          </p:cNvSpPr>
          <p:nvPr/>
        </p:nvSpPr>
        <p:spPr>
          <a:xfrm xmlns:a="http://schemas.openxmlformats.org/drawingml/2006/main">
            <a:off x="7905750" y="18764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1.159 Hz</a:t>
            </a:r>
          </a:p>
        </p:txBody>
      </p:sp>
      <p:sp>
        <p:nvSpPr>
          <p:cNvPr id="10" name="">
            <a:extLst xmlns:a="http://schemas.openxmlformats.org/drawingml/2006/main">
              <a:ext uri="{FF2B5EF4-FFF2-40B4-BE49-F238E27FC236}">
                <a16:creationId xmlns:a16="http://schemas.microsoft.com/office/drawing/2014/main" id="{6A32CAF0-196E-419F-A3DD-A3EF0036446D}"/>
              </a:ext>
            </a:extLst>
          </p:cNvPr>
          <p:cNvSpPr>
            <a:spLocks xmlns:a="http://schemas.openxmlformats.org/drawingml/2006/main" noGrp="1"/>
          </p:cNvSpPr>
          <p:nvPr/>
        </p:nvSpPr>
        <p:spPr>
          <a:xfrm xmlns:a="http://schemas.openxmlformats.org/drawingml/2006/main">
            <a:off x="7905750" y="290512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Energy near 1.2 Hz</a:t>
            </a:r>
          </a:p>
        </p:txBody>
      </p:sp>
      <p:sp>
        <p:nvSpPr>
          <p:cNvPr id="11" name="">
            <a:extLst xmlns:a="http://schemas.openxmlformats.org/drawingml/2006/main">
              <a:ext uri="{FF2B5EF4-FFF2-40B4-BE49-F238E27FC236}">
                <a16:creationId xmlns:a16="http://schemas.microsoft.com/office/drawing/2014/main" id="{1184A46A-65BB-498D-AF47-EB9A6886580C}"/>
              </a:ext>
            </a:extLst>
          </p:cNvPr>
          <p:cNvSpPr>
            <a:spLocks xmlns:a="http://schemas.openxmlformats.org/drawingml/2006/main" noGrp="1"/>
          </p:cNvSpPr>
          <p:nvPr/>
        </p:nvSpPr>
        <p:spPr>
          <a:xfrm xmlns:a="http://schemas.openxmlformats.org/drawingml/2006/main">
            <a:off x="7905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E67E22"/>
                </a:solidFill>
                <a:latin typeface="Helvetica Neue"/>
                <a:ea typeface="Helvetica Neue"/>
                <a:cs typeface="Helvetica Neue"/>
              </a:defRPr>
            </a:defPPr>
          </a:lstStyle>
          <a:p xmlns:a="http://schemas.openxmlformats.org/drawingml/2006/main">
            <a:pPr algn="l">
              <a:defRPr sz="2700" b="1">
                <a:solidFill>
                  <a:srgbClr val="E67E22"/>
                </a:solidFill>
                <a:latin typeface="Helvetica Neue"/>
                <a:ea typeface="Helvetica Neue"/>
                <a:cs typeface="Helvetica Neue"/>
              </a:defRPr>
            </a:pPr>
            <a:r>
              <a:rPr sz="2700" b="1">
                <a:solidFill>
                  <a:srgbClr val="E67E22"/>
                </a:solidFill>
                <a:latin typeface="Helvetica Neue"/>
                <a:ea typeface="Helvetica Neue"/>
                <a:cs typeface="Helvetica Neue"/>
              </a:rPr>
              <a:t>0.946</a:t>
            </a:r>
          </a:p>
        </p:txBody>
      </p:sp>
      <p:sp>
        <p:nvSpPr>
          <p:cNvPr id="12" name="">
            <a:extLst xmlns:a="http://schemas.openxmlformats.org/drawingml/2006/main">
              <a:ext uri="{FF2B5EF4-FFF2-40B4-BE49-F238E27FC236}">
                <a16:creationId xmlns:a16="http://schemas.microsoft.com/office/drawing/2014/main" id="{B221622F-6E26-4F95-8425-230F015098A2}"/>
              </a:ext>
            </a:extLst>
          </p:cNvPr>
          <p:cNvSpPr>
            <a:spLocks xmlns:a="http://schemas.openxmlformats.org/drawingml/2006/main" noGrp="1"/>
          </p:cNvSpPr>
          <p:nvPr/>
        </p:nvSpPr>
        <p:spPr>
          <a:xfrm xmlns:a="http://schemas.openxmlformats.org/drawingml/2006/main">
            <a:off x="7905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attack</a:t>
            </a:r>
          </a:p>
        </p:txBody>
      </p:sp>
      <p:sp>
        <p:nvSpPr>
          <p:cNvPr id="13" name="">
            <a:extLst xmlns:a="http://schemas.openxmlformats.org/drawingml/2006/main">
              <a:ext uri="{FF2B5EF4-FFF2-40B4-BE49-F238E27FC236}">
                <a16:creationId xmlns:a16="http://schemas.microsoft.com/office/drawing/2014/main" id="{E0A99A03-0C51-4716-AAB6-379B5C091FEF}"/>
              </a:ext>
            </a:extLst>
          </p:cNvPr>
          <p:cNvSpPr>
            <a:spLocks xmlns:a="http://schemas.openxmlformats.org/drawingml/2006/main" noGrp="1"/>
          </p:cNvSpPr>
          <p:nvPr/>
        </p:nvSpPr>
        <p:spPr>
          <a:xfrm xmlns:a="http://schemas.openxmlformats.org/drawingml/2006/main">
            <a:off x="9810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627D98"/>
                </a:solidFill>
                <a:latin typeface="Helvetica Neue"/>
                <a:ea typeface="Helvetica Neue"/>
                <a:cs typeface="Helvetica Neue"/>
              </a:defRPr>
            </a:defPPr>
          </a:lstStyle>
          <a:p xmlns:a="http://schemas.openxmlformats.org/drawingml/2006/main">
            <a:pPr algn="l">
              <a:defRPr sz="2700" b="1">
                <a:solidFill>
                  <a:srgbClr val="627D98"/>
                </a:solidFill>
                <a:latin typeface="Helvetica Neue"/>
                <a:ea typeface="Helvetica Neue"/>
                <a:cs typeface="Helvetica Neue"/>
              </a:defRPr>
            </a:pPr>
            <a:r>
              <a:rPr sz="2700" b="1">
                <a:solidFill>
                  <a:srgbClr val="627D98"/>
                </a:solidFill>
                <a:latin typeface="Helvetica Neue"/>
                <a:ea typeface="Helvetica Neue"/>
                <a:cs typeface="Helvetica Neue"/>
              </a:rPr>
              <a:t>0.204</a:t>
            </a:r>
          </a:p>
        </p:txBody>
      </p:sp>
      <p:sp>
        <p:nvSpPr>
          <p:cNvPr id="14" name="">
            <a:extLst xmlns:a="http://schemas.openxmlformats.org/drawingml/2006/main">
              <a:ext uri="{FF2B5EF4-FFF2-40B4-BE49-F238E27FC236}">
                <a16:creationId xmlns:a16="http://schemas.microsoft.com/office/drawing/2014/main" id="{AC6ACA4E-BD89-4C58-BC2B-6A19E48D3381}"/>
              </a:ext>
            </a:extLst>
          </p:cNvPr>
          <p:cNvSpPr>
            <a:spLocks xmlns:a="http://schemas.openxmlformats.org/drawingml/2006/main" noGrp="1"/>
          </p:cNvSpPr>
          <p:nvPr/>
        </p:nvSpPr>
        <p:spPr>
          <a:xfrm xmlns:a="http://schemas.openxmlformats.org/drawingml/2006/main">
            <a:off x="9810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neutral</a:t>
            </a:r>
          </a:p>
        </p:txBody>
      </p:sp>
      <p:sp>
        <p:nvSpPr>
          <p:cNvPr id="15" name="">
            <a:extLst xmlns:a="http://schemas.openxmlformats.org/drawingml/2006/main">
              <a:ext uri="{FF2B5EF4-FFF2-40B4-BE49-F238E27FC236}">
                <a16:creationId xmlns:a16="http://schemas.microsoft.com/office/drawing/2014/main" id="{4E4FB188-A16F-46B3-A513-D06F27D25637}"/>
              </a:ext>
            </a:extLst>
          </p:cNvPr>
          <p:cNvSpPr>
            <a:spLocks xmlns:a="http://schemas.openxmlformats.org/drawingml/2006/main" noGrp="1"/>
          </p:cNvSpPr>
          <p:nvPr/>
        </p:nvSpPr>
        <p:spPr>
          <a:xfrm xmlns:a="http://schemas.openxmlformats.org/drawingml/2006/main">
            <a:off x="7905750" y="47148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Red ratio</a:t>
            </a:r>
          </a:p>
        </p:txBody>
      </p:sp>
      <p:sp>
        <p:nvSpPr>
          <p:cNvPr id="16" name="">
            <a:extLst xmlns:a="http://schemas.openxmlformats.org/drawingml/2006/main">
              <a:ext uri="{FF2B5EF4-FFF2-40B4-BE49-F238E27FC236}">
                <a16:creationId xmlns:a16="http://schemas.microsoft.com/office/drawing/2014/main" id="{D938F139-FDFC-4074-A8C8-6573F64A885E}"/>
              </a:ext>
            </a:extLst>
          </p:cNvPr>
          <p:cNvSpPr>
            <a:spLocks xmlns:a="http://schemas.openxmlformats.org/drawingml/2006/main" noGrp="1"/>
          </p:cNvSpPr>
          <p:nvPr/>
        </p:nvSpPr>
        <p:spPr>
          <a:xfrm xmlns:a="http://schemas.openxmlformats.org/drawingml/2006/main">
            <a:off x="7905750" y="50482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02A43"/>
                </a:solidFill>
                <a:latin typeface="Helvetica Neue"/>
                <a:ea typeface="Helvetica Neue"/>
                <a:cs typeface="Helvetica Neue"/>
              </a:defRPr>
            </a:defPPr>
          </a:lstStyle>
          <a:p xmlns:a="http://schemas.openxmlformats.org/drawingml/2006/main">
            <a:pPr algn="l">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4.63×</a:t>
            </a:r>
          </a:p>
        </p:txBody>
      </p:sp>
      <p:sp>
        <p:nvSpPr>
          <p:cNvPr id="17" name="">
            <a:extLst xmlns:a="http://schemas.openxmlformats.org/drawingml/2006/main">
              <a:ext uri="{FF2B5EF4-FFF2-40B4-BE49-F238E27FC236}">
                <a16:creationId xmlns:a16="http://schemas.microsoft.com/office/drawing/2014/main" id="{8FFBA5E5-98DE-4A90-BE0D-267860DA897D}"/>
              </a:ext>
            </a:extLst>
          </p:cNvPr>
          <p:cNvSpPr>
            <a:spLocks xmlns:a="http://schemas.openxmlformats.org/drawingml/2006/main" noGrp="1"/>
          </p:cNvSpPr>
          <p:nvPr/>
        </p:nvSpPr>
        <p:spPr>
          <a:xfrm xmlns:a="http://schemas.openxmlformats.org/drawingml/2006/main">
            <a:off x="7905750" y="5772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D64545"/>
                </a:solidFill>
                <a:latin typeface="Helvetica Neue"/>
                <a:ea typeface="Helvetica Neue"/>
                <a:cs typeface="Helvetica Neue"/>
              </a:defRPr>
            </a:defPPr>
          </a:lstStyle>
          <a:p xmlns:a="http://schemas.openxmlformats.org/drawingml/2006/main">
            <a:pPr algn="l">
              <a:defRPr sz="1200" b="0">
                <a:solidFill>
                  <a:srgbClr val="D64545"/>
                </a:solidFill>
                <a:latin typeface="Helvetica Neue"/>
                <a:ea typeface="Helvetica Neue"/>
                <a:cs typeface="Helvetica Neue"/>
              </a:defRPr>
            </a:pPr>
            <a:r>
              <a:rPr sz="1200" b="0">
                <a:solidFill>
                  <a:srgbClr val="D64545"/>
                </a:solidFill>
                <a:latin typeface="Helvetica Neue"/>
                <a:ea typeface="Helvetica Neue"/>
                <a:cs typeface="Helvetica Neue"/>
              </a:rPr>
              <a:t>Single aligned pair</a:t>
            </a:r>
          </a:p>
        </p:txBody>
      </p:sp>
    </p:spTree>
    <p:extLst>
      <p:ext uri="{BB962C8B-B14F-4D97-AF65-F5344CB8AC3E}">
        <p14:creationId xmlns:p14="http://schemas.microsoft.com/office/powerpoint/2010/main" val="14754057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F34737E-4761-4E7C-B8B3-7C1613143AFE}"/>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trace survives three post-processing conditions</a:t>
            </a:r>
          </a:p>
        </p:txBody>
      </p:sp>
      <p:sp>
        <p:nvSpPr>
          <p:cNvPr id="2" name="">
            <a:extLst xmlns:a="http://schemas.openxmlformats.org/drawingml/2006/main">
              <a:ext uri="{FF2B5EF4-FFF2-40B4-BE49-F238E27FC236}">
                <a16:creationId xmlns:a16="http://schemas.microsoft.com/office/drawing/2014/main" id="{F356B51D-901A-4FE5-922E-F740C5A4CC84}"/>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42DA0F0D-73EA-40B3-A9CD-C612CB899577}"/>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950D0B-4E2C-4F2E-9EC4-B325E22E6B7C}"/>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BB84BCEE-0CA4-432B-8E61-AF611891AEFE}"/>
              </a:ext>
            </a:extLst>
          </p:cNvPr>
          <p:cNvSpPr>
            <a:spLocks xmlns:a="http://schemas.openxmlformats.org/drawingml/2006/main" noGrp="1"/>
          </p:cNvSpPr>
          <p:nvPr/>
        </p:nvSpPr>
        <p:spPr>
          <a:xfrm xmlns:a="http://schemas.openxmlformats.org/drawingml/2006/main">
            <a:off x="10572750" y="64960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10/11</a:t>
            </a:r>
          </a:p>
        </p:txBody>
      </p:sp>
      <p:graphicFrame>
        <p:nvGraphicFramePr>
          <p:cNvPr id="6" name="Chart">
            <a:extLst xmlns:a="http://schemas.openxmlformats.org/drawingml/2006/main">
              <a:ext uri="{FF2B5EF4-FFF2-40B4-BE49-F238E27FC236}">
                <a16:creationId xmlns:a16="http://schemas.microsoft.com/office/drawing/2014/main" id="{517E9853-7347-4D15-918A-6A64BC0643C3}"/>
              </a:ext>
            </a:extLst>
          </p:cNvPr>
          <p:cNvGraphicFramePr/>
          <p:nvPr/>
        </p:nvGraphicFramePr>
        <p:xfrm>
          <a:off xmlns:a="http://schemas.openxmlformats.org/drawingml/2006/main" x="666750" y="1428750"/>
          <a:ext xmlns:a="http://schemas.openxmlformats.org/drawingml/2006/main" cx="8096250" cy="4191000"/>
        </p:xfrm>
        <a:graphic xmlns:a="http://schemas.openxmlformats.org/drawingml/2006/main">
          <a:graphicData uri="http://schemas.openxmlformats.org/drawingml/2006/chart">
            <c:chart xmlns:r="http://schemas.openxmlformats.org/officeDocument/2006/relationships" xmlns:c="http://schemas.openxmlformats.org/drawingml/2006/chart" r:id="R26b23b28484a4688"/>
          </a:graphicData>
        </a:graphic>
      </p:graphicFrame>
      <p:sp>
        <p:nvSpPr>
          <p:cNvPr id="7" name="">
            <a:extLst xmlns:a="http://schemas.openxmlformats.org/drawingml/2006/main">
              <a:ext uri="{FF2B5EF4-FFF2-40B4-BE49-F238E27FC236}">
                <a16:creationId xmlns:a16="http://schemas.microsoft.com/office/drawing/2014/main" id="{E8DAEEBC-20C3-4F61-A3EE-D171AFEABCEF}"/>
              </a:ext>
            </a:extLst>
          </p:cNvPr>
          <p:cNvSpPr>
            <a:spLocks xmlns:a="http://schemas.openxmlformats.org/drawingml/2006/main" noGrp="1"/>
          </p:cNvSpPr>
          <p:nvPr/>
        </p:nvSpPr>
        <p:spPr>
          <a:xfrm xmlns:a="http://schemas.openxmlformats.org/drawingml/2006/main">
            <a:off x="9382125" y="1571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02A43"/>
                </a:solidFill>
                <a:latin typeface="Helvetica Neue"/>
                <a:ea typeface="Helvetica Neue"/>
                <a:cs typeface="Helvetica Neue"/>
              </a:defRPr>
            </a:defPPr>
          </a:lstStyle>
          <a:p xmlns:a="http://schemas.openxmlformats.org/drawingml/2006/main">
            <a:pPr algn="l">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Attack / neutral</a:t>
            </a:r>
          </a:p>
        </p:txBody>
      </p:sp>
      <p:sp>
        <p:nvSpPr>
          <p:cNvPr id="8" name="">
            <a:extLst xmlns:a="http://schemas.openxmlformats.org/drawingml/2006/main">
              <a:ext uri="{FF2B5EF4-FFF2-40B4-BE49-F238E27FC236}">
                <a16:creationId xmlns:a16="http://schemas.microsoft.com/office/drawing/2014/main" id="{5B24AC03-5218-4018-A63B-4A0DF163E3BE}"/>
              </a:ext>
            </a:extLst>
          </p:cNvPr>
          <p:cNvSpPr>
            <a:spLocks xmlns:a="http://schemas.openxmlformats.org/drawingml/2006/main" noGrp="1"/>
          </p:cNvSpPr>
          <p:nvPr/>
        </p:nvSpPr>
        <p:spPr>
          <a:xfrm xmlns:a="http://schemas.openxmlformats.org/drawingml/2006/main">
            <a:off x="9382125" y="2095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Original</a:t>
            </a:r>
          </a:p>
        </p:txBody>
      </p:sp>
      <p:sp>
        <p:nvSpPr>
          <p:cNvPr id="9" name="">
            <a:extLst xmlns:a="http://schemas.openxmlformats.org/drawingml/2006/main">
              <a:ext uri="{FF2B5EF4-FFF2-40B4-BE49-F238E27FC236}">
                <a16:creationId xmlns:a16="http://schemas.microsoft.com/office/drawing/2014/main" id="{879DCD84-F93F-46BD-BC1F-E28251F9FC1E}"/>
              </a:ext>
            </a:extLst>
          </p:cNvPr>
          <p:cNvSpPr>
            <a:spLocks xmlns:a="http://schemas.openxmlformats.org/drawingml/2006/main" noGrp="1"/>
          </p:cNvSpPr>
          <p:nvPr/>
        </p:nvSpPr>
        <p:spPr>
          <a:xfrm xmlns:a="http://schemas.openxmlformats.org/drawingml/2006/main">
            <a:off x="9382125" y="23622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4.63×</a:t>
            </a:r>
          </a:p>
        </p:txBody>
      </p:sp>
      <p:sp>
        <p:nvSpPr>
          <p:cNvPr id="10" name="">
            <a:extLst xmlns:a="http://schemas.openxmlformats.org/drawingml/2006/main">
              <a:ext uri="{FF2B5EF4-FFF2-40B4-BE49-F238E27FC236}">
                <a16:creationId xmlns:a16="http://schemas.microsoft.com/office/drawing/2014/main" id="{DAC4473B-D6B1-43A6-B99D-885055ED87C8}"/>
              </a:ext>
            </a:extLst>
          </p:cNvPr>
          <p:cNvSpPr>
            <a:spLocks xmlns:a="http://schemas.openxmlformats.org/drawingml/2006/main" noGrp="1"/>
          </p:cNvSpPr>
          <p:nvPr/>
        </p:nvSpPr>
        <p:spPr>
          <a:xfrm xmlns:a="http://schemas.openxmlformats.org/drawingml/2006/main">
            <a:off x="9382125" y="29718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H.264 CRF 35</a:t>
            </a:r>
          </a:p>
        </p:txBody>
      </p:sp>
      <p:sp>
        <p:nvSpPr>
          <p:cNvPr id="11" name="">
            <a:extLst xmlns:a="http://schemas.openxmlformats.org/drawingml/2006/main">
              <a:ext uri="{FF2B5EF4-FFF2-40B4-BE49-F238E27FC236}">
                <a16:creationId xmlns:a16="http://schemas.microsoft.com/office/drawing/2014/main" id="{190F00AD-BACE-4176-9F37-96490E2D895B}"/>
              </a:ext>
            </a:extLst>
          </p:cNvPr>
          <p:cNvSpPr>
            <a:spLocks xmlns:a="http://schemas.openxmlformats.org/drawingml/2006/main" noGrp="1"/>
          </p:cNvSpPr>
          <p:nvPr/>
        </p:nvSpPr>
        <p:spPr>
          <a:xfrm xmlns:a="http://schemas.openxmlformats.org/drawingml/2006/main">
            <a:off x="9382125" y="32385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8.45×</a:t>
            </a:r>
          </a:p>
        </p:txBody>
      </p:sp>
      <p:sp>
        <p:nvSpPr>
          <p:cNvPr id="12" name="">
            <a:extLst xmlns:a="http://schemas.openxmlformats.org/drawingml/2006/main">
              <a:ext uri="{FF2B5EF4-FFF2-40B4-BE49-F238E27FC236}">
                <a16:creationId xmlns:a16="http://schemas.microsoft.com/office/drawing/2014/main" id="{27F1CE76-7F2A-4464-BBD6-0BB10A36CF13}"/>
              </a:ext>
            </a:extLst>
          </p:cNvPr>
          <p:cNvSpPr>
            <a:spLocks xmlns:a="http://schemas.openxmlformats.org/drawingml/2006/main" noGrp="1"/>
          </p:cNvSpPr>
          <p:nvPr/>
        </p:nvSpPr>
        <p:spPr>
          <a:xfrm xmlns:a="http://schemas.openxmlformats.org/drawingml/2006/main">
            <a:off x="9382125" y="3848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256×224</a:t>
            </a:r>
          </a:p>
        </p:txBody>
      </p:sp>
      <p:sp>
        <p:nvSpPr>
          <p:cNvPr id="13" name="">
            <a:extLst xmlns:a="http://schemas.openxmlformats.org/drawingml/2006/main">
              <a:ext uri="{FF2B5EF4-FFF2-40B4-BE49-F238E27FC236}">
                <a16:creationId xmlns:a16="http://schemas.microsoft.com/office/drawing/2014/main" id="{00C2F124-7C6E-4724-AD8D-059194FE0558}"/>
              </a:ext>
            </a:extLst>
          </p:cNvPr>
          <p:cNvSpPr>
            <a:spLocks xmlns:a="http://schemas.openxmlformats.org/drawingml/2006/main" noGrp="1"/>
          </p:cNvSpPr>
          <p:nvPr/>
        </p:nvSpPr>
        <p:spPr>
          <a:xfrm xmlns:a="http://schemas.openxmlformats.org/drawingml/2006/main">
            <a:off x="9382125" y="41148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6.28×</a:t>
            </a:r>
          </a:p>
        </p:txBody>
      </p:sp>
      <p:sp>
        <p:nvSpPr>
          <p:cNvPr id="14" name="">
            <a:extLst xmlns:a="http://schemas.openxmlformats.org/drawingml/2006/main">
              <a:ext uri="{FF2B5EF4-FFF2-40B4-BE49-F238E27FC236}">
                <a16:creationId xmlns:a16="http://schemas.microsoft.com/office/drawing/2014/main" id="{E043D2D0-2448-4B31-A14D-FEF9F8CE5196}"/>
              </a:ext>
            </a:extLst>
          </p:cNvPr>
          <p:cNvSpPr>
            <a:spLocks xmlns:a="http://schemas.openxmlformats.org/drawingml/2006/main" noGrp="1"/>
          </p:cNvSpPr>
          <p:nvPr/>
        </p:nvSpPr>
        <p:spPr>
          <a:xfrm xmlns:a="http://schemas.openxmlformats.org/drawingml/2006/main">
            <a:off x="9382125" y="47244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15 FPS</a:t>
            </a:r>
          </a:p>
        </p:txBody>
      </p:sp>
      <p:sp>
        <p:nvSpPr>
          <p:cNvPr id="15" name="">
            <a:extLst xmlns:a="http://schemas.openxmlformats.org/drawingml/2006/main">
              <a:ext uri="{FF2B5EF4-FFF2-40B4-BE49-F238E27FC236}">
                <a16:creationId xmlns:a16="http://schemas.microsoft.com/office/drawing/2014/main" id="{35808D1D-53FC-40E5-82A5-DC35A8FD65E1}"/>
              </a:ext>
            </a:extLst>
          </p:cNvPr>
          <p:cNvSpPr>
            <a:spLocks xmlns:a="http://schemas.openxmlformats.org/drawingml/2006/main" noGrp="1"/>
          </p:cNvSpPr>
          <p:nvPr/>
        </p:nvSpPr>
        <p:spPr>
          <a:xfrm xmlns:a="http://schemas.openxmlformats.org/drawingml/2006/main">
            <a:off x="9382125" y="49911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20.86×</a:t>
            </a:r>
          </a:p>
        </p:txBody>
      </p:sp>
      <p:sp>
        <p:nvSpPr>
          <p:cNvPr id="16" name="">
            <a:extLst xmlns:a="http://schemas.openxmlformats.org/drawingml/2006/main">
              <a:ext uri="{FF2B5EF4-FFF2-40B4-BE49-F238E27FC236}">
                <a16:creationId xmlns:a16="http://schemas.microsoft.com/office/drawing/2014/main" id="{CF4CFA7B-7F5F-44C5-AA65-B309B9972BEB}"/>
              </a:ext>
            </a:extLst>
          </p:cNvPr>
          <p:cNvSpPr>
            <a:spLocks xmlns:a="http://schemas.openxmlformats.org/drawingml/2006/main" noGrp="1"/>
          </p:cNvSpPr>
          <p:nvPr/>
        </p:nvSpPr>
        <p:spPr>
          <a:xfrm xmlns:a="http://schemas.openxmlformats.org/drawingml/2006/main">
            <a:off x="666750" y="59055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stStyle>
          <a:p xmlns:a="http://schemas.openxmlformats.org/drawingml/2006/main">
            <a:pPr algn="l">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Promising forensic evidence for this pair</a:t>
            </a:r>
          </a:p>
        </p:txBody>
      </p:sp>
      <p:sp>
        <p:nvSpPr>
          <p:cNvPr id="17" name="">
            <a:extLst xmlns:a="http://schemas.openxmlformats.org/drawingml/2006/main">
              <a:ext uri="{FF2B5EF4-FFF2-40B4-BE49-F238E27FC236}">
                <a16:creationId xmlns:a16="http://schemas.microsoft.com/office/drawing/2014/main" id="{F485C86B-A8E6-4C0C-AE48-791B0F9CEC5D}"/>
              </a:ext>
            </a:extLst>
          </p:cNvPr>
          <p:cNvSpPr>
            <a:spLocks xmlns:a="http://schemas.openxmlformats.org/drawingml/2006/main" noGrp="1"/>
          </p:cNvSpPr>
          <p:nvPr/>
        </p:nvSpPr>
        <p:spPr>
          <a:xfrm xmlns:a="http://schemas.openxmlformats.org/drawingml/2006/main">
            <a:off x="6858000" y="59055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500" b="1">
                <a:solidFill>
                  <a:srgbClr val="D64545"/>
                </a:solidFill>
                <a:latin typeface="Helvetica Neue"/>
                <a:ea typeface="Helvetica Neue"/>
                <a:cs typeface="Helvetica Neue"/>
              </a:defRPr>
            </a:defPPr>
          </a:lstStyle>
          <a:p xmlns:a="http://schemas.openxmlformats.org/drawingml/2006/main">
            <a:pPr algn="r">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Not population-level detector accuracy</a:t>
            </a:r>
          </a:p>
        </p:txBody>
      </p:sp>
    </p:spTree>
    <p:extLst>
      <p:ext uri="{BB962C8B-B14F-4D97-AF65-F5344CB8AC3E}">
        <p14:creationId xmlns:p14="http://schemas.microsoft.com/office/powerpoint/2010/main" val="14988003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9E43876-F50B-4098-938A-4606513D18B3}"/>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What the evidence supports</a:t>
            </a:r>
          </a:p>
        </p:txBody>
      </p:sp>
      <p:sp>
        <p:nvSpPr>
          <p:cNvPr id="2" name="">
            <a:extLst xmlns:a="http://schemas.openxmlformats.org/drawingml/2006/main">
              <a:ext uri="{FF2B5EF4-FFF2-40B4-BE49-F238E27FC236}">
                <a16:creationId xmlns:a16="http://schemas.microsoft.com/office/drawing/2014/main" id="{38C433B8-617E-4BBD-A0C2-7FF1EDBE6BDA}"/>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5103640C-677E-4FDC-9F71-709AF30E39E2}"/>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DD3077-A1A3-4773-8539-F0165BA911D6}"/>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E61419AA-4F87-4CE9-BC26-40FCD8E17F8D}"/>
              </a:ext>
            </a:extLst>
          </p:cNvPr>
          <p:cNvSpPr>
            <a:spLocks xmlns:a="http://schemas.openxmlformats.org/drawingml/2006/main" noGrp="1"/>
          </p:cNvSpPr>
          <p:nvPr/>
        </p:nvSpPr>
        <p:spPr>
          <a:xfrm xmlns:a="http://schemas.openxmlformats.org/drawingml/2006/main">
            <a:off x="10572750" y="64960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11/11</a:t>
            </a:r>
          </a:p>
        </p:txBody>
      </p:sp>
      <p:sp>
        <p:nvSpPr>
          <p:cNvPr id="6" name="">
            <a:extLst xmlns:a="http://schemas.openxmlformats.org/drawingml/2006/main">
              <a:ext uri="{FF2B5EF4-FFF2-40B4-BE49-F238E27FC236}">
                <a16:creationId xmlns:a16="http://schemas.microsoft.com/office/drawing/2014/main" id="{8B36F841-1A99-4D99-899F-256BEB7F63E0}"/>
              </a:ext>
            </a:extLst>
          </p:cNvPr>
          <p:cNvSpPr>
            <a:spLocks xmlns:a="http://schemas.openxmlformats.org/drawingml/2006/main" noGrp="1"/>
          </p:cNvSpPr>
          <p:nvPr/>
        </p:nvSpPr>
        <p:spPr>
          <a:xfrm xmlns:a="http://schemas.openxmlformats.org/drawingml/2006/main">
            <a:off x="762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159E9C"/>
                </a:solidFill>
                <a:latin typeface="Helvetica Neue"/>
                <a:ea typeface="Helvetica Neue"/>
                <a:cs typeface="Helvetica Neue"/>
              </a:defRPr>
            </a:defPPr>
          </a:lstStyle>
          <a:p xmlns:a="http://schemas.openxmlformats.org/drawingml/2006/main">
            <a:pPr algn="l">
              <a:defRPr sz="2250" b="1">
                <a:solidFill>
                  <a:srgbClr val="159E9C"/>
                </a:solidFill>
                <a:latin typeface="Helvetica Neue"/>
                <a:ea typeface="Helvetica Neue"/>
                <a:cs typeface="Helvetica Neue"/>
              </a:defRPr>
            </a:pPr>
            <a:r>
              <a:rPr sz="2250" b="1">
                <a:solidFill>
                  <a:srgbClr val="159E9C"/>
                </a:solidFill>
                <a:latin typeface="Helvetica Neue"/>
                <a:ea typeface="Helvetica Neue"/>
                <a:cs typeface="Helvetica Neue"/>
              </a:rPr>
              <a:t>Lip channel</a:t>
            </a:r>
          </a:p>
        </p:txBody>
      </p:sp>
      <p:sp>
        <p:nvSpPr>
          <p:cNvPr id="7" name="">
            <a:extLst xmlns:a="http://schemas.openxmlformats.org/drawingml/2006/main">
              <a:ext uri="{FF2B5EF4-FFF2-40B4-BE49-F238E27FC236}">
                <a16:creationId xmlns:a16="http://schemas.microsoft.com/office/drawing/2014/main" id="{2BE4A5A7-8DC0-42CE-B1A8-5EFD6738F164}"/>
              </a:ext>
            </a:extLst>
          </p:cNvPr>
          <p:cNvSpPr>
            <a:spLocks xmlns:a="http://schemas.openxmlformats.org/drawingml/2006/main" noGrp="1"/>
          </p:cNvSpPr>
          <p:nvPr/>
        </p:nvSpPr>
        <p:spPr>
          <a:xfrm xmlns:a="http://schemas.openxmlformats.org/drawingml/2006/main">
            <a:off x="762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stStyle>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Weak context did not improve the six-clip held-out pilot</a:t>
            </a:r>
          </a:p>
        </p:txBody>
      </p:sp>
      <p:sp>
        <p:nvSpPr>
          <p:cNvPr id="8" name="">
            <a:extLst xmlns:a="http://schemas.openxmlformats.org/drawingml/2006/main">
              <a:ext uri="{FF2B5EF4-FFF2-40B4-BE49-F238E27FC236}">
                <a16:creationId xmlns:a16="http://schemas.microsoft.com/office/drawing/2014/main" id="{D4753005-CAFD-4DAD-BE27-8998ADF73E60}"/>
              </a:ext>
            </a:extLst>
          </p:cNvPr>
          <p:cNvSpPr>
            <a:spLocks xmlns:a="http://schemas.openxmlformats.org/drawingml/2006/main" noGrp="1"/>
          </p:cNvSpPr>
          <p:nvPr/>
        </p:nvSpPr>
        <p:spPr>
          <a:xfrm xmlns:a="http://schemas.openxmlformats.org/drawingml/2006/main">
            <a:off x="762000" y="3095625"/>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fallback: keep the context-free baseline.</a:t>
            </a:r>
          </a:p>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Research next step: forced alignment and matched sources.</a:t>
            </a:r>
          </a:p>
        </p:txBody>
      </p:sp>
      <p:sp>
        <p:nvSpPr>
          <p:cNvPr id="9" name="">
            <a:extLst xmlns:a="http://schemas.openxmlformats.org/drawingml/2006/main">
              <a:ext uri="{FF2B5EF4-FFF2-40B4-BE49-F238E27FC236}">
                <a16:creationId xmlns:a16="http://schemas.microsoft.com/office/drawing/2014/main" id="{EB2464C3-46D7-4817-A850-462D4BA8EE09}"/>
              </a:ext>
            </a:extLst>
          </p:cNvPr>
          <p:cNvSpPr>
            <a:spLocks xmlns:a="http://schemas.openxmlformats.org/drawingml/2006/main" noGrp="1"/>
          </p:cNvSpPr>
          <p:nvPr/>
        </p:nvSpPr>
        <p:spPr>
          <a:xfrm xmlns:a="http://schemas.openxmlformats.org/drawingml/2006/main">
            <a:off x="6096000" y="1428750"/>
            <a:ext cx="0" cy="333375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10" name="">
            <a:extLst xmlns:a="http://schemas.openxmlformats.org/drawingml/2006/main">
              <a:ext uri="{FF2B5EF4-FFF2-40B4-BE49-F238E27FC236}">
                <a16:creationId xmlns:a16="http://schemas.microsoft.com/office/drawing/2014/main" id="{B10392B1-9486-4FE2-9EDA-48F163D62EB9}"/>
              </a:ext>
            </a:extLst>
          </p:cNvPr>
          <p:cNvSpPr>
            <a:spLocks xmlns:a="http://schemas.openxmlformats.org/drawingml/2006/main" noGrp="1"/>
          </p:cNvSpPr>
          <p:nvPr/>
        </p:nvSpPr>
        <p:spPr>
          <a:xfrm xmlns:a="http://schemas.openxmlformats.org/drawingml/2006/main">
            <a:off x="6858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D64545"/>
                </a:solidFill>
                <a:latin typeface="Helvetica Neue"/>
                <a:ea typeface="Helvetica Neue"/>
                <a:cs typeface="Helvetica Neue"/>
              </a:defRPr>
            </a:defPPr>
          </a:lstStyle>
          <a:p xmlns:a="http://schemas.openxmlformats.org/drawingml/2006/main">
            <a:pPr algn="l">
              <a:defRPr sz="2250" b="1">
                <a:solidFill>
                  <a:srgbClr val="D64545"/>
                </a:solidFill>
                <a:latin typeface="Helvetica Neue"/>
                <a:ea typeface="Helvetica Neue"/>
                <a:cs typeface="Helvetica Neue"/>
              </a:defRPr>
            </a:pPr>
            <a:r>
              <a:rPr sz="2250" b="1">
                <a:solidFill>
                  <a:srgbClr val="D64545"/>
                </a:solidFill>
                <a:latin typeface="Helvetica Neue"/>
                <a:ea typeface="Helvetica Neue"/>
                <a:cs typeface="Helvetica Neue"/>
              </a:rPr>
              <a:t>Chromatic channel</a:t>
            </a:r>
          </a:p>
        </p:txBody>
      </p:sp>
      <p:sp>
        <p:nvSpPr>
          <p:cNvPr id="11" name="">
            <a:extLst xmlns:a="http://schemas.openxmlformats.org/drawingml/2006/main">
              <a:ext uri="{FF2B5EF4-FFF2-40B4-BE49-F238E27FC236}">
                <a16:creationId xmlns:a16="http://schemas.microsoft.com/office/drawing/2014/main" id="{59BA5E92-676A-4772-9557-9E0827249DE7}"/>
              </a:ext>
            </a:extLst>
          </p:cNvPr>
          <p:cNvSpPr>
            <a:spLocks xmlns:a="http://schemas.openxmlformats.org/drawingml/2006/main" noGrp="1"/>
          </p:cNvSpPr>
          <p:nvPr/>
        </p:nvSpPr>
        <p:spPr>
          <a:xfrm xmlns:a="http://schemas.openxmlformats.org/drawingml/2006/main">
            <a:off x="6858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stStyle>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A strong 1.2 Hz trace survives three transformations in one pair</a:t>
            </a:r>
          </a:p>
        </p:txBody>
      </p:sp>
      <p:sp>
        <p:nvSpPr>
          <p:cNvPr id="12" name="">
            <a:extLst xmlns:a="http://schemas.openxmlformats.org/drawingml/2006/main">
              <a:ext uri="{FF2B5EF4-FFF2-40B4-BE49-F238E27FC236}">
                <a16:creationId xmlns:a16="http://schemas.microsoft.com/office/drawing/2014/main" id="{45D26565-FE59-42B6-BF0F-DDF925DC938D}"/>
              </a:ext>
            </a:extLst>
          </p:cNvPr>
          <p:cNvSpPr>
            <a:spLocks xmlns:a="http://schemas.openxmlformats.org/drawingml/2006/main" noGrp="1"/>
          </p:cNvSpPr>
          <p:nvPr/>
        </p:nvSpPr>
        <p:spPr>
          <a:xfrm xmlns:a="http://schemas.openxmlformats.org/drawingml/2006/main">
            <a:off x="6858000" y="3095625"/>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a controlled paired forensic audit.</a:t>
            </a:r>
          </a:p>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Research next step: unpaired features and false-positive tests.</a:t>
            </a:r>
          </a:p>
        </p:txBody>
      </p:sp>
      <p:sp>
        <p:nvSpPr>
          <p:cNvPr id="13" name="">
            <a:extLst xmlns:a="http://schemas.openxmlformats.org/drawingml/2006/main">
              <a:ext uri="{FF2B5EF4-FFF2-40B4-BE49-F238E27FC236}">
                <a16:creationId xmlns:a16="http://schemas.microsoft.com/office/drawing/2014/main" id="{414EDB78-601C-4A91-982B-B3C6B84E3DF8}"/>
              </a:ext>
            </a:extLst>
          </p:cNvPr>
          <p:cNvSpPr>
            <a:spLocks xmlns:a="http://schemas.openxmlformats.org/drawingml/2006/main" noGrp="1"/>
          </p:cNvSpPr>
          <p:nvPr/>
        </p:nvSpPr>
        <p:spPr>
          <a:xfrm xmlns:a="http://schemas.openxmlformats.org/drawingml/2006/main">
            <a:off x="762000" y="5095875"/>
            <a:ext cx="10668000" cy="8572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DB0D69A-B1F5-4096-B109-A680164A2FB8}"/>
              </a:ext>
            </a:extLst>
          </p:cNvPr>
          <p:cNvSpPr>
            <a:spLocks xmlns:a="http://schemas.openxmlformats.org/drawingml/2006/main" noGrp="1"/>
          </p:cNvSpPr>
          <p:nvPr/>
        </p:nvSpPr>
        <p:spPr>
          <a:xfrm xmlns:a="http://schemas.openxmlformats.org/drawingml/2006/main">
            <a:off x="1047750" y="52197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stStyle>
          <a:p xmlns:a="http://schemas.openxmlformats.org/drawingml/2006/main">
            <a:pPr algn="l">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Integrated Light response</a:t>
            </a:r>
          </a:p>
        </p:txBody>
      </p:sp>
      <p:sp>
        <p:nvSpPr>
          <p:cNvPr id="15" name="">
            <a:extLst xmlns:a="http://schemas.openxmlformats.org/drawingml/2006/main">
              <a:ext uri="{FF2B5EF4-FFF2-40B4-BE49-F238E27FC236}">
                <a16:creationId xmlns:a16="http://schemas.microsoft.com/office/drawing/2014/main" id="{065693AC-7EF5-4578-BD51-11A12E5622E5}"/>
              </a:ext>
            </a:extLst>
          </p:cNvPr>
          <p:cNvSpPr>
            <a:spLocks xmlns:a="http://schemas.openxmlformats.org/drawingml/2006/main" noGrp="1"/>
          </p:cNvSpPr>
          <p:nvPr/>
        </p:nvSpPr>
        <p:spPr>
          <a:xfrm xmlns:a="http://schemas.openxmlformats.org/drawingml/2006/main">
            <a:off x="3905250" y="5191125"/>
            <a:ext cx="709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725" b="1">
                <a:solidFill>
                  <a:srgbClr val="FFFFFF"/>
                </a:solidFill>
                <a:latin typeface="Helvetica Neue"/>
                <a:ea typeface="Helvetica Neue"/>
                <a:cs typeface="Helvetica Neue"/>
              </a:defRPr>
            </a:defPPr>
          </a:lstStyle>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Generation artefacts and evasion artefacts are measured separately, with explicit claim boundaries</a:t>
            </a:r>
          </a:p>
        </p:txBody>
      </p:sp>
      <p:sp>
        <p:nvSpPr>
          <p:cNvPr id="16" name="">
            <a:extLst xmlns:a="http://schemas.openxmlformats.org/drawingml/2006/main">
              <a:ext uri="{FF2B5EF4-FFF2-40B4-BE49-F238E27FC236}">
                <a16:creationId xmlns:a16="http://schemas.microsoft.com/office/drawing/2014/main" id="{361761E1-DB86-47CC-988D-4FC19B1A5083}"/>
              </a:ext>
            </a:extLst>
          </p:cNvPr>
          <p:cNvSpPr>
            <a:spLocks xmlns:a="http://schemas.openxmlformats.org/drawingml/2006/main" noGrp="1"/>
          </p:cNvSpPr>
          <p:nvPr/>
        </p:nvSpPr>
        <p:spPr>
          <a:xfrm xmlns:a="http://schemas.openxmlformats.org/drawingml/2006/main">
            <a:off x="2381250" y="60579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2F6BFF"/>
                </a:solidFill>
                <a:latin typeface="Helvetica Neue"/>
                <a:ea typeface="Helvetica Neue"/>
                <a:cs typeface="Helvetica Neue"/>
              </a:defRPr>
            </a:defPPr>
          </a:lstStyle>
          <a:p xmlns:a="http://schemas.openxmlformats.org/drawingml/2006/main">
            <a:pPr algn="ctr">
              <a:defRPr sz="1425" b="1">
                <a:solidFill>
                  <a:srgbClr val="2F6BFF"/>
                </a:solidFill>
                <a:latin typeface="Helvetica Neue"/>
                <a:ea typeface="Helvetica Neue"/>
                <a:cs typeface="Helvetica Neue"/>
              </a:defRPr>
            </a:pPr>
            <a:r>
              <a:rPr sz="1425" b="1">
                <a:solidFill>
                  <a:srgbClr val="2F6BFF"/>
                </a:solidFill>
                <a:latin typeface="Helvetica Neue"/>
                <a:ea typeface="Helvetica Neue"/>
                <a:cs typeface="Helvetica Neue"/>
              </a:rPr>
              <a:t>Complete course evidence now. Larger matched study before any paper claim.</a:t>
            </a:r>
          </a:p>
        </p:txBody>
      </p:sp>
    </p:spTree>
    <p:extLst>
      <p:ext uri="{BB962C8B-B14F-4D97-AF65-F5344CB8AC3E}">
        <p14:creationId xmlns:p14="http://schemas.microsoft.com/office/powerpoint/2010/main" val="8539349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2026-10-07T07:52:42.1170000Z</dcterms:created>
  <dcterms:modified xsi:type="dcterms:W3CDTF">2026-10-07T07:52:42.1170000Z</dcterms:modified>
</coreProperties>
</file>