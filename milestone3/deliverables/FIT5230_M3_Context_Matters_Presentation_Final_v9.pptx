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edcab509e44e04" /><Relationship Type="http://schemas.openxmlformats.org/officeDocument/2006/relationships/extended-properties" Target="/docProps/app.xml" Id="R6dbbdca434ae47c6" /><Relationship Type="http://schemas.openxmlformats.org/officeDocument/2006/relationships/officeDocument" Target="/ppt/presentation.xml" Id="Rd1ecfb3e1c2d434c" /></Relationships>
</file>

<file path=ppt/presentation.xml><?xml version="1.0" encoding="utf-8"?>
<p:presentation xmlns:p="http://schemas.openxmlformats.org/presentationml/2006/main">
  <p:sldMasterIdLst>
    <p:sldMasterId xmlns:r="http://schemas.openxmlformats.org/officeDocument/2006/relationships" id="2147483648" r:id="Ra8bc62c147854f3a"/>
  </p:sldMasterIdLst>
  <p:notesMasterIdLst>
    <p:notesMasterId xmlns:r="http://schemas.openxmlformats.org/officeDocument/2006/relationships" r:id="Rdb3027e006b24e73"/>
  </p:notesMasterIdLst>
  <p:sldIdLst>
    <p:sldId xmlns:r="http://schemas.openxmlformats.org/officeDocument/2006/relationships" id="256" r:id="Rd8e7b5559a5041bb"/>
    <p:sldId xmlns:r="http://schemas.openxmlformats.org/officeDocument/2006/relationships" id="257" r:id="R3ac65f3dfe144ba3"/>
    <p:sldId xmlns:r="http://schemas.openxmlformats.org/officeDocument/2006/relationships" id="258" r:id="Reb844da7ba5b4467"/>
    <p:sldId xmlns:r="http://schemas.openxmlformats.org/officeDocument/2006/relationships" id="259" r:id="R7523aab177414229"/>
    <p:sldId xmlns:r="http://schemas.openxmlformats.org/officeDocument/2006/relationships" id="260" r:id="R5be8ffc9ba134983"/>
    <p:sldId xmlns:r="http://schemas.openxmlformats.org/officeDocument/2006/relationships" id="261" r:id="Raa96474c1a2a4c1b"/>
    <p:sldId xmlns:r="http://schemas.openxmlformats.org/officeDocument/2006/relationships" id="262" r:id="Re66754ace93c42ac"/>
    <p:sldId xmlns:r="http://schemas.openxmlformats.org/officeDocument/2006/relationships" id="263" r:id="R66380f4128dc49b0"/>
    <p:sldId xmlns:r="http://schemas.openxmlformats.org/officeDocument/2006/relationships" id="264" r:id="Rd753b2a632474d15"/>
    <p:sldId xmlns:r="http://schemas.openxmlformats.org/officeDocument/2006/relationships" id="265" r:id="Re8e7329fe28841e3"/>
    <p:sldId xmlns:r="http://schemas.openxmlformats.org/officeDocument/2006/relationships" id="266" r:id="R63a12a87eb1646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1ac4d1034d44ff" /><Relationship Type="http://schemas.openxmlformats.org/officeDocument/2006/relationships/slideMaster" Target="/ppt/slideMasters/slideMaster1.xml" Id="Ra8bc62c147854f3a" /><Relationship Type="http://schemas.openxmlformats.org/officeDocument/2006/relationships/notesMaster" Target="/ppt/notesMasters/notesMaster1.xml" Id="Rdb3027e006b24e73" /><Relationship Type="http://schemas.openxmlformats.org/officeDocument/2006/relationships/presProps" Target="/ppt/presProps.xml" Id="Rd22dfeaaa00b4107" /><Relationship Type="http://schemas.openxmlformats.org/officeDocument/2006/relationships/tableStyles" Target="/ppt/tableStyles.xml" Id="Rec6ecdc475a64c5a" /><Relationship Type="http://schemas.openxmlformats.org/officeDocument/2006/relationships/slide" Target="/ppt/slides/slide1.xml" Id="Rd8e7b5559a5041bb" /><Relationship Type="http://schemas.openxmlformats.org/officeDocument/2006/relationships/slide" Target="/ppt/slides/slide2.xml" Id="R3ac65f3dfe144ba3" /><Relationship Type="http://schemas.openxmlformats.org/officeDocument/2006/relationships/slide" Target="/ppt/slides/slide3.xml" Id="Reb844da7ba5b4467" /><Relationship Type="http://schemas.openxmlformats.org/officeDocument/2006/relationships/slide" Target="/ppt/slides/slide4.xml" Id="R7523aab177414229" /><Relationship Type="http://schemas.openxmlformats.org/officeDocument/2006/relationships/slide" Target="/ppt/slides/slide5.xml" Id="R5be8ffc9ba134983" /><Relationship Type="http://schemas.openxmlformats.org/officeDocument/2006/relationships/slide" Target="/ppt/slides/slide6.xml" Id="Raa96474c1a2a4c1b" /><Relationship Type="http://schemas.openxmlformats.org/officeDocument/2006/relationships/slide" Target="/ppt/slides/slide7.xml" Id="Re66754ace93c42ac" /><Relationship Type="http://schemas.openxmlformats.org/officeDocument/2006/relationships/slide" Target="/ppt/slides/slide8.xml" Id="R66380f4128dc49b0" /><Relationship Type="http://schemas.openxmlformats.org/officeDocument/2006/relationships/slide" Target="/ppt/slides/slide9.xml" Id="Rd753b2a632474d15" /><Relationship Type="http://schemas.openxmlformats.org/officeDocument/2006/relationships/slide" Target="/ppt/slides/slide10.xml" Id="Re8e7329fe28841e3" /><Relationship Type="http://schemas.openxmlformats.org/officeDocument/2006/relationships/slide" Target="/ppt/slides/slide11.xml" Id="R63a12a87eb1646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c65c9b87b84a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aa2c492b284fa3" /><Relationship Type="http://schemas.openxmlformats.org/officeDocument/2006/relationships/notesMaster" Target="/ppt/notesMasters/notesMaster1.xml" Id="Rfa2200f7985b4b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d7447771304aaf" /><Relationship Type="http://schemas.openxmlformats.org/officeDocument/2006/relationships/notesMaster" Target="/ppt/notesMasters/notesMaster1.xml" Id="Rb44be90c327f48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2f60bfa52848b7" /><Relationship Type="http://schemas.openxmlformats.org/officeDocument/2006/relationships/notesMaster" Target="/ppt/notesMasters/notesMaster1.xml" Id="Ref54d9b1fdbf4f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8b53c61641424f" /><Relationship Type="http://schemas.openxmlformats.org/officeDocument/2006/relationships/notesMaster" Target="/ppt/notesMasters/notesMaster1.xml" Id="R36d1be8c4c104a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d20bdb499546bc" /><Relationship Type="http://schemas.openxmlformats.org/officeDocument/2006/relationships/notesMaster" Target="/ppt/notesMasters/notesMaster1.xml" Id="R3338de8bf20d45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53b0fadf2444ea" /><Relationship Type="http://schemas.openxmlformats.org/officeDocument/2006/relationships/notesMaster" Target="/ppt/notesMasters/notesMaster1.xml" Id="R57998af3d21d4c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8d0c84687e49a8" /><Relationship Type="http://schemas.openxmlformats.org/officeDocument/2006/relationships/notesMaster" Target="/ppt/notesMasters/notesMaster1.xml" Id="R17bf2f0077c14c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0e495eb17d4cbc" /><Relationship Type="http://schemas.openxmlformats.org/officeDocument/2006/relationships/notesMaster" Target="/ppt/notesMasters/notesMaster1.xml" Id="R94d534cdb7ba48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eded04f502407d" /><Relationship Type="http://schemas.openxmlformats.org/officeDocument/2006/relationships/notesMaster" Target="/ppt/notesMasters/notesMaster1.xml" Id="R6add9676e9f749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d3a15ea07146fa" /><Relationship Type="http://schemas.openxmlformats.org/officeDocument/2006/relationships/notesMaster" Target="/ppt/notesMasters/notesMaster1.xml" Id="R0ce68135083441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bb930938a2465b" /><Relationship Type="http://schemas.openxmlformats.org/officeDocument/2006/relationships/notesMaster" Target="/ppt/notesMasters/notesMaster1.xml" Id="Rfbaec6556cf448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are Light.Ningyizhuo.No.1. Our question is whether a speech-to-face fake that passes a physiological detector still leaves evidence in mouth motion or in the manipulation used to repair physiological signals. We test those two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The submitted M2 notebook used 32 synthetic trajectory fixtures with 16 artificial identity IDs. Its two public videos checked preprocessing only; M2 reported no real-video detection accuracy. M3 adds a 24-clip public pilot, held-out evaluation and the Dark.Mimic paired audit. The updated notebook runs 38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first 30 seconds: the public branch extracts lip geometry and compares context-free with weak context. He, next 45 seconds: the peer branch compares aligned RGB signals from the Dark.Mimic control and modified video. Together: we report branches separately because one peer pair cannot calibrate a valid fusion model. This balances speaking time; it does not establish personal implementation credit.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My strategy tests context-conditioned lip dynamics. The context-free model summarizes aperture, width and their time derivatives over a clip. The context version adds before, during and after statistics around one central vowel, conditioned on neighbouring phonetic classes. Both models use the same clips and fixed threshold. Whisper word timestamps plus CMUdict give a weak proxy. I do not call it forced alignment. Public sources: Wikitongues English videos and TalkingHeadBench Hallo/LivePortrait.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On six held-out clips, the saved local reference run gave macro-F1 0.486 for both models and AUROC 0.667 versus 0.556. A fresh Colab CPU rerun on 15 October gave the same macro-F1 and AUROC 0.556 versus 0.222, so the absolute ranking changed but the negative conclusion did not. Five thousand paired stratified bootstrap resamples on the local run give wide intervals because the test set contains only three real and three fake clips. Sources: artifacts/m3_results/test_metrics_with_bootstrap.csv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A controlled no-phone ablation uses the same 547 local vowel events, window features, ridge penalty, logistic classifier and splits. Only phonetic categories are removed. On the known six-clip test, context versus no-phone gives Macro-F1 0.829 versus 0.625 and AUROC 0.778 versus 0.667. Across 20 repeated four-fold runs, context gives F1 0.645 versus 0.632 but AUROC 0.689 versus 0.694. This is mixed, post-hoc evidence. The earlier Colab run did not reproduce the multi-event improvement. The revised ablation needs a fresh Colab rerun and independent matched data. Sources: artifacts/m3_improvement/matched_context_ablation_fixed.csv and matched_context_ablation_summary.csv.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 attack-to-neutral ratio remains above one after all three transformations: 8.45 under H.264 CRF 35, 6.28 after resizing to 256 by 224, and 20.86 at 15 FPS. A 16 October hash-checked rerun matched these rounded values. A newly documented neutral recipe also gave ratios above one, though their magnitude changed. In twelve public real-speaker codec-only controls, the red target-band fraction median was 0.074. A synthetic 1.2 Hz global brightness oscillation raised it to median 0.981 in 12/12 real speakers. Thus the frequency metric is not attack-specific. Natural lighting/motion and multiple attacked identities remain untested. Sources: robustness_summary.csv, benign_chromatic_controls.csv, periodic_light_controls.csv and robustness_reproduced_neutral.csv.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includes a negative first result and a matched but post-hoc ablation with mixed repeated-fold evidence. The colour branch finds a strong trace in one attacked peer pair; twelve public benign codec controls and a regenerated neutral improve auditability, while synthetic periodic light triggers the metric on all twelve real speakers. It is not attack-specific. Yan: Our course pilot is executable and its limits are explicit. A paper needs fresh matched data, forced alignment, multiple attacked identities and natural lighting/motion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18582e7bee4f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bee17db14649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74f69abcd848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1f713e680c4d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8b0c8bbce043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39693506f445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A835A-95EC-4B7E-A261-DDF5DFB16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7FC759-7CBD-4331-867B-E1118A65CE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FC69FE-F991-4A5D-A157-F2DAB0317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881C6-0411-4EBF-A657-8C13C9FE9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903742-2C98-428F-9CFF-68C5E1094E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C85A5-0F1B-4EF2-8508-1432C500D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DDBE4-370E-48AE-99DC-814485AA4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C579A9-7198-40E2-AE26-1EDACE616F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2D999-5147-4504-9CE6-D6B81F9C8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0EBA9-4160-4B23-B658-528818A46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57690c92164e3a" /><Relationship Type="http://schemas.openxmlformats.org/officeDocument/2006/relationships/slideLayout" Target="/ppt/slideLayouts/slideLayout1.xml" Id="R0a0197abc5fe4c19" /><Relationship Type="http://schemas.openxmlformats.org/officeDocument/2006/relationships/slideLayout" Target="/ppt/slideLayouts/slideLayout2.xml" Id="R10a9755d3af14dab" /><Relationship Type="http://schemas.openxmlformats.org/officeDocument/2006/relationships/slideLayout" Target="/ppt/slideLayouts/slideLayout3.xml" Id="Rfedb47c4da6f45fc" /><Relationship Type="http://schemas.openxmlformats.org/officeDocument/2006/relationships/slideLayout" Target="/ppt/slideLayouts/slideLayout4.xml" Id="R6fbb5edbed5645a3" /><Relationship Type="http://schemas.openxmlformats.org/officeDocument/2006/relationships/slideLayout" Target="/ppt/slideLayouts/slideLayout5.xml" Id="Rf3872ffaed714cf0" /><Relationship Type="http://schemas.openxmlformats.org/officeDocument/2006/relationships/slideLayout" Target="/ppt/slideLayouts/slideLayout6.xml" Id="R7376396513b948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0197abc5fe4c19"/>
    <p:sldLayoutId xmlns:r="http://schemas.openxmlformats.org/officeDocument/2006/relationships" id="2147483650" r:id="R10a9755d3af14dab"/>
    <p:sldLayoutId xmlns:r="http://schemas.openxmlformats.org/officeDocument/2006/relationships" id="2147483651" r:id="Rfedb47c4da6f45fc"/>
    <p:sldLayoutId xmlns:r="http://schemas.openxmlformats.org/officeDocument/2006/relationships" id="2147483652" r:id="R6fbb5edbed5645a3"/>
    <p:sldLayoutId xmlns:r="http://schemas.openxmlformats.org/officeDocument/2006/relationships" id="2147483653" r:id="Rf3872ffaed714cf0"/>
    <p:sldLayoutId xmlns:r="http://schemas.openxmlformats.org/officeDocument/2006/relationships" id="2147483654" r:id="R7376396513b948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fdefe4e09748ff" /><Relationship Type="http://schemas.openxmlformats.org/officeDocument/2006/relationships/notesSlide" Target="/ppt/notesSlides/notesSlide1.xml" Id="Rd44fefaa7e734d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306f53d2a1f48a4" /><Relationship Type="http://schemas.openxmlformats.org/officeDocument/2006/relationships/notesSlide" Target="/ppt/notesSlides/notesSlide2.xml" Id="Rd378b2bf89b746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bfd37a0b444fb0" /><Relationship Type="http://schemas.openxmlformats.org/officeDocument/2006/relationships/notesSlide" Target="/ppt/notesSlides/notesSlide3.xml" Id="Rcfdff14acee445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4ca8cc79dc43b7" /><Relationship Type="http://schemas.openxmlformats.org/officeDocument/2006/relationships/notesSlide" Target="/ppt/notesSlides/notesSlide4.xml" Id="R66a66af2654342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a7fed1061d43e0" /><Relationship Type="http://schemas.openxmlformats.org/officeDocument/2006/relationships/notesSlide" Target="/ppt/notesSlides/notesSlide5.xml" Id="R8f80ef563f414b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d61c412dc143ab" /><Relationship Type="http://schemas.openxmlformats.org/officeDocument/2006/relationships/chart" Target="/ppt/slides/charts/chart1.xml" Id="R61fbbb524f5c4081" /><Relationship Type="http://schemas.openxmlformats.org/officeDocument/2006/relationships/notesSlide" Target="/ppt/notesSlides/notesSlide6.xml" Id="R74de4c5d103a4d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d12d3bf73c4aea" /><Relationship Type="http://schemas.openxmlformats.org/officeDocument/2006/relationships/chart" Target="/ppt/slides/charts/chart2.xml" Id="Rf429dadc048e4be5" /><Relationship Type="http://schemas.openxmlformats.org/officeDocument/2006/relationships/chart" Target="/ppt/slides/charts/chart3.xml" Id="R6ab3a1e476f147da" /><Relationship Type="http://schemas.openxmlformats.org/officeDocument/2006/relationships/notesSlide" Target="/ppt/notesSlides/notesSlide7.xml" Id="R7f708a324e50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91a15f7e994efd" /><Relationship Type="http://schemas.openxmlformats.org/officeDocument/2006/relationships/notesSlide" Target="/ppt/notesSlides/notesSlide8.xml" Id="R2aeca33e2b2e46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b9135a90bc4640" /><Relationship Type="http://schemas.openxmlformats.org/officeDocument/2006/relationships/chart" Target="/ppt/slides/charts/chart4.xml" Id="R1738b668b6db479a" /><Relationship Type="http://schemas.openxmlformats.org/officeDocument/2006/relationships/chart" Target="/ppt/slides/charts/chart5.xml" Id="R4ee2719d34ff4ec7" /><Relationship Type="http://schemas.openxmlformats.org/officeDocument/2006/relationships/notesSlide" Target="/ppt/notesSlides/notesSlide9.xml" Id="R47c849d7ea4043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7bbbc354c243ba" /><Relationship Type="http://schemas.openxmlformats.org/officeDocument/2006/relationships/chart" Target="/ppt/slides/charts/chart6.xml" Id="R4d088862af8a4958" /><Relationship Type="http://schemas.openxmlformats.org/officeDocument/2006/relationships/notesSlide" Target="/ppt/notesSlides/notesSlide10.xml" Id="R6f4c992cb4194c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dfc16e27a74363" /><Relationship Type="http://schemas.openxmlformats.org/officeDocument/2006/relationships/notesSlide" Target="/ppt/notesSlides/notesSlide11.xml" Id="Rc9fbf04ba4054c6a"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No-phone multi-event</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0.625</c:v>
              </c:pt>
              <c:pt idx="1">
                <c:v>0.666667</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0.828571</c:v>
              </c:pt>
              <c:pt idx="1">
                <c:v>0.777778</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No-phone multi-event</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0.632068</c:v>
              </c:pt>
              <c:pt idx="1">
                <c:v>0.694444</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0.645193</c:v>
              </c:pt>
              <c:pt idx="1">
                <c:v>0.688889</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E0341-1400-4D3A-8C2E-5A124F743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9685A-9978-4C55-A869-ACCE6BDD6B5E}"/>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stStyle>
          <a:p xmlns:a="http://schemas.openxmlformats.org/drawingml/2006/main">
            <a:pPr algn="l">
              <a:buNone/>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E3D137E4-3161-4FDD-88F4-5B76F77AF022}"/>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stStyle>
          <a:p xmlns:a="http://schemas.openxmlformats.org/drawingml/2006/main">
            <a:pPr algn="l">
              <a:buNone/>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73FC4BC6-5E57-4DFB-9316-D694BF4F0419}"/>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8D68B2-2AE5-4DD0-8D01-1C3039EA94F8}"/>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Lip dynamics in phonetic context</a:t>
            </a:r>
          </a:p>
        </p:txBody>
      </p:sp>
      <p:sp>
        <p:nvSpPr>
          <p:cNvPr id="6" name="">
            <a:extLst xmlns:a="http://schemas.openxmlformats.org/drawingml/2006/main">
              <a:ext uri="{FF2B5EF4-FFF2-40B4-BE49-F238E27FC236}">
                <a16:creationId xmlns:a16="http://schemas.microsoft.com/office/drawing/2014/main" id="{21A989EA-4ECD-43C2-BEAA-DFB9E1CD4A38}"/>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EFA709CD-6351-4B3F-B664-81CD581DED74}"/>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63E2EAA7-7B2E-4FDF-A2F7-43837AB0800A}"/>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stStyle>
          <a:p xmlns:a="http://schemas.openxmlformats.org/drawingml/2006/main">
            <a:pPr algn="l">
              <a:buNone/>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E8A142B1-AE49-4237-A23A-AB802A416D6A}"/>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stStyle>
          <a:p xmlns:a="http://schemas.openxmlformats.org/drawingml/2006/main">
            <a:pPr algn="r">
              <a:buNone/>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677576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2D480E-F130-426A-A07A-C73228B0FC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9936774B-F542-40AD-96C4-2CA6637115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B5498D-3A27-4BA5-B6DC-6426E4D9BA5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CCABB-19AA-4352-A5C8-D2CF0E73DCC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019207-D027-47EB-8C21-67684DBCE0F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A9ADA1B2-8512-4858-9B1B-FB884F4D46A8}"/>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stStyle>
          <a:p xmlns:a="http://schemas.openxmlformats.org/drawingml/2006/main">
            <a:pPr algn="l">
              <a:buNone/>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BBB03599-873A-4515-9D03-5315BE89F908}"/>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stStyle>
          <a:p xmlns:a="http://schemas.openxmlformats.org/drawingml/2006/main">
            <a:pPr algn="l">
              <a:buNone/>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CE5B3C5C-7A80-4E23-8739-96C07C17C959}"/>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20001812-CB98-40D5-9614-677CE35026E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F3688A38-23F8-4E42-85FA-5B5FEBD556B0}"/>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stStyle>
          <a:p xmlns:a="http://schemas.openxmlformats.org/drawingml/2006/main">
            <a:pPr algn="l">
              <a:buNone/>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58CFC537-0B3E-4EF7-8F55-49F50ED648FF}"/>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landmark coverage</a:t>
            </a:r>
          </a:p>
        </p:txBody>
      </p:sp>
      <p:sp>
        <p:nvSpPr>
          <p:cNvPr id="12" name="">
            <a:extLst xmlns:a="http://schemas.openxmlformats.org/drawingml/2006/main">
              <a:ext uri="{FF2B5EF4-FFF2-40B4-BE49-F238E27FC236}">
                <a16:creationId xmlns:a16="http://schemas.microsoft.com/office/drawing/2014/main" id="{2222E6C1-29CA-461F-9603-8AA86E14322D}"/>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stStyle>
          <a:p xmlns:a="http://schemas.openxmlformats.org/drawingml/2006/main">
            <a:pPr algn="l">
              <a:buNone/>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A86A7D01-B4BE-4926-B55F-5CDFEEA5F327}"/>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E7E3FE49-FFB3-4D0B-8964-C1F0D8E0713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stStyle>
          <a:p xmlns:a="http://schemas.openxmlformats.org/drawingml/2006/main">
            <a:pPr algn="l">
              <a:buNone/>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38</a:t>
            </a:r>
          </a:p>
        </p:txBody>
      </p:sp>
      <p:sp>
        <p:nvSpPr>
          <p:cNvPr id="15" name="">
            <a:extLst xmlns:a="http://schemas.openxmlformats.org/drawingml/2006/main">
              <a:ext uri="{FF2B5EF4-FFF2-40B4-BE49-F238E27FC236}">
                <a16:creationId xmlns:a16="http://schemas.microsoft.com/office/drawing/2014/main" id="{7EAC1DF3-62B1-44FD-8BF1-CFADAA349B4C}"/>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F82315E7-4137-4C19-B0E5-FDF9E2FB205C}"/>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336DEE6-F0A9-4FEE-88AB-EF18EABEFAE5}"/>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buNone/>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F734FFFE-E13B-43F1-BC3C-C2970BD4DCFD}"/>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buNone/>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Real pilot evidence plus a peer-pair forensic audit</a:t>
            </a:r>
          </a:p>
        </p:txBody>
      </p:sp>
    </p:spTree>
    <p:extLst>
      <p:ext uri="{BB962C8B-B14F-4D97-AF65-F5344CB8AC3E}">
        <p14:creationId xmlns:p14="http://schemas.microsoft.com/office/powerpoint/2010/main" val="823107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C768A3-FE1F-458F-9F04-112F4FC705A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E5169B62-681B-4C8D-9A6B-A5BB346FE47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9FE2C9-3517-4C54-9D71-86B5CB35310F}"/>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A052-EA3D-4A4F-8FE8-A81412DB928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33230CA-C89C-4081-9914-A0501B012D4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459F0564-5C82-4F34-8602-4BCFAE0702B8}"/>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D08F3C0-9B88-4350-AC2E-5F38E3CED232}"/>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Public pilot</a:t>
            </a:r>
          </a:p>
        </p:txBody>
      </p:sp>
      <p:sp>
        <p:nvSpPr>
          <p:cNvPr id="8" name="">
            <a:extLst xmlns:a="http://schemas.openxmlformats.org/drawingml/2006/main">
              <a:ext uri="{FF2B5EF4-FFF2-40B4-BE49-F238E27FC236}">
                <a16:creationId xmlns:a16="http://schemas.microsoft.com/office/drawing/2014/main" id="{18A70829-E14A-47A7-966C-45BFCA7BD0CD}"/>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fake</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speaker/source splits</a:t>
            </a:r>
          </a:p>
        </p:txBody>
      </p:sp>
      <p:sp>
        <p:nvSpPr>
          <p:cNvPr id="9" name="">
            <a:extLst xmlns:a="http://schemas.openxmlformats.org/drawingml/2006/main">
              <a:ext uri="{FF2B5EF4-FFF2-40B4-BE49-F238E27FC236}">
                <a16:creationId xmlns:a16="http://schemas.microsoft.com/office/drawing/2014/main" id="{DDAF9E41-183C-4B3C-929A-FBD40213AEA2}"/>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62AE872-C947-4979-959B-DEDA987497AA}"/>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7B7481B8-DC61-4927-B06A-719FC67CBCE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F5612057-4875-4CE8-8243-0F6379381342}"/>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70DF086-9C36-4670-8921-8126973B546B}"/>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76B94430-288F-4692-BB56-0910C627EA92}"/>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MediaPipe geometry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 vs weak context</a:t>
            </a:r>
          </a:p>
        </p:txBody>
      </p:sp>
      <p:sp>
        <p:nvSpPr>
          <p:cNvPr id="15" name="">
            <a:extLst xmlns:a="http://schemas.openxmlformats.org/drawingml/2006/main">
              <a:ext uri="{FF2B5EF4-FFF2-40B4-BE49-F238E27FC236}">
                <a16:creationId xmlns:a16="http://schemas.microsoft.com/office/drawing/2014/main" id="{1FE98A58-D0C0-441C-9C4B-E228D83A18A2}"/>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DF842149-7405-467B-8928-B76C050F3C46}"/>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B13E9D32-359C-43F5-ACDE-C3199C690081}"/>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D01FEDE2-09D5-4FFB-9642-30BD4DA9BD53}"/>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AC950D05-3A46-410A-A31B-2EA4FF27420E}"/>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metrics</a:t>
            </a:r>
          </a:p>
        </p:txBody>
      </p:sp>
      <p:sp>
        <p:nvSpPr>
          <p:cNvPr id="20" name="">
            <a:extLst xmlns:a="http://schemas.openxmlformats.org/drawingml/2006/main">
              <a:ext uri="{FF2B5EF4-FFF2-40B4-BE49-F238E27FC236}">
                <a16:creationId xmlns:a16="http://schemas.microsoft.com/office/drawing/2014/main" id="{9DBF2EF0-54D2-45CD-84A0-BAE571F5B78D}"/>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Macro-F1, AUROC</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Failures and bootstrap intervals</a:t>
            </a:r>
          </a:p>
        </p:txBody>
      </p:sp>
      <p:sp>
        <p:nvSpPr>
          <p:cNvPr id="21" name="">
            <a:extLst xmlns:a="http://schemas.openxmlformats.org/drawingml/2006/main">
              <a:ext uri="{FF2B5EF4-FFF2-40B4-BE49-F238E27FC236}">
                <a16:creationId xmlns:a16="http://schemas.microsoft.com/office/drawing/2014/main" id="{933CC561-38B7-40D0-8F44-BD66EBAB8825}"/>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E4F3403-A51B-4518-A1C4-7BBCD6EB6040}"/>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E365D9C-84EB-456B-B2D4-D4A92260BC0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20E064-308A-45FF-A7BF-F9066DCDDBD6}"/>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395697C5-DCC0-4EE5-B0CE-1A279C4290AC}"/>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CFBA5E3B-D7D8-4ABF-872E-6DCEEFDEB00A}"/>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398F294B-51B8-4D14-B6F3-D6780B1E6CA3}"/>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985D4457-DF83-4695-A989-A9AB8A673138}"/>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stStyle>
          <a:p xmlns:a="http://schemas.openxmlformats.org/drawingml/2006/main">
            <a:pPr algn="ctr">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2114861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7F8738-46AF-450B-9D3C-084F52A3E6E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BB110AB5-5224-4BD6-A2BC-93F0F46E070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A99B9EA-942E-4B5D-8F8C-B62BD08C0FC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DD449B-06DA-4432-90AE-D42067C3F94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D41436-FAC4-4F73-A54E-865EB33A252A}"/>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EBEE56A8-EEF0-477F-BEB7-7D038BBB4DFA}"/>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6D9C97A2-A4C9-4EA8-93C6-B55156401CA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5B6BB8F9-E564-44FA-84A9-2817EC9EBEBF}"/>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74BEE6E-A2AA-4D7A-9F89-D1006022054F}"/>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DB30E31-5697-4E1D-8C13-D7BA59B63879}"/>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825E65C-0960-42DF-B73A-4983E30BA05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5B2F8E6D-BA6C-4C06-95B9-34F78890415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85AA3ED-0709-4D58-A065-81DA978888C0}"/>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413D833A-814F-4DBD-9C9E-94DDA8A5785D}"/>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6656B1F7-20A5-462E-ABE8-C45DD6E43C54}"/>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0459F190-B562-4949-B1E2-3DB1BEBB9606}"/>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F599C5AD-BD42-4AC8-BF8B-A906E76B07AA}"/>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85F99-4DE8-4885-96D5-A0C8DCEBB424}"/>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stStyle>
          <a:p xmlns:a="http://schemas.openxmlformats.org/drawingml/2006/main">
            <a:pPr algn="l">
              <a:buNone/>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207F9BCE-2636-4631-AE3A-F6DECBE12A76}"/>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stStyle>
          <a:p xmlns:a="http://schemas.openxmlformats.org/drawingml/2006/main">
            <a:pPr algn="ctr">
              <a:buNone/>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951FE2E8-4263-4AD5-BFB1-E1881800989B}"/>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stStyle>
          <a:p xmlns:a="http://schemas.openxmlformats.org/drawingml/2006/main">
            <a:pPr algn="ctr">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CDA84F-BC4A-4490-8187-4028CEBEDE73}"/>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buNone/>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1799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B14E81-211C-4033-96B9-990A03A6193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lip dynamics in phonetic context</a:t>
            </a:r>
          </a:p>
        </p:txBody>
      </p:sp>
      <p:sp>
        <p:nvSpPr>
          <p:cNvPr id="2" name="">
            <a:extLst xmlns:a="http://schemas.openxmlformats.org/drawingml/2006/main">
              <a:ext uri="{FF2B5EF4-FFF2-40B4-BE49-F238E27FC236}">
                <a16:creationId xmlns:a16="http://schemas.microsoft.com/office/drawing/2014/main" id="{9F94E856-0357-4F7A-81F2-AED6CC98382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99378F1-4159-4C38-8B77-DF956C13A41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88CD5-FCC8-4EED-9D94-F08FEF4F42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8C31B16-9753-4093-9CE4-9D20842DC19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5295E7B2-1908-4F02-B920-11CAC0CBE55C}"/>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7D664A12-BCDF-4DE2-B337-1222735AD02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24 clips</a:t>
            </a:r>
          </a:p>
        </p:txBody>
      </p:sp>
      <p:sp>
        <p:nvSpPr>
          <p:cNvPr id="8" name="">
            <a:extLst xmlns:a="http://schemas.openxmlformats.org/drawingml/2006/main">
              <a:ext uri="{FF2B5EF4-FFF2-40B4-BE49-F238E27FC236}">
                <a16:creationId xmlns:a16="http://schemas.microsoft.com/office/drawing/2014/main" id="{2DE1939D-8A2D-4A59-8F3D-8E165DDFCE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12 fake</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25 FPS, 512 canvas</a:t>
            </a:r>
          </a:p>
        </p:txBody>
      </p:sp>
      <p:sp>
        <p:nvSpPr>
          <p:cNvPr id="9" name="">
            <a:extLst xmlns:a="http://schemas.openxmlformats.org/drawingml/2006/main">
              <a:ext uri="{FF2B5EF4-FFF2-40B4-BE49-F238E27FC236}">
                <a16:creationId xmlns:a16="http://schemas.microsoft.com/office/drawing/2014/main" id="{4DED0F70-4932-4DB2-AD18-92C3823EE222}"/>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1E7014B4-2C2E-4B50-83D0-08FC3381B009}"/>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3A65E21-1179-4C91-B956-87DC18D32042}"/>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buNone/>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C586054E-0EC4-430C-9135-279C1DEA6A6B}"/>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938529C6-A28D-435C-9CCE-0BC0921197B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8E056B4E-6367-47E7-93BE-CE9B0407671B}"/>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94632F1E-F2BB-47CE-9FC2-11327FC8ACCC}"/>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DB493FC-71D4-4C19-B6AB-BEC376D0A87B}"/>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0F41FDF3-1A8B-4E49-AD06-6604E45DEB88}"/>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033D673A-0AA2-4E5A-8E67-BD83E6648BDC}"/>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35550626-57A5-4B0C-BA0C-D517EA37FA77}"/>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Two models</a:t>
            </a:r>
          </a:p>
        </p:txBody>
      </p:sp>
      <p:sp>
        <p:nvSpPr>
          <p:cNvPr id="20" name="">
            <a:extLst xmlns:a="http://schemas.openxmlformats.org/drawingml/2006/main">
              <a:ext uri="{FF2B5EF4-FFF2-40B4-BE49-F238E27FC236}">
                <a16:creationId xmlns:a16="http://schemas.microsoft.com/office/drawing/2014/main" id="{FC029DD4-D786-4F5C-9072-C1964E7CF841}"/>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Weak context</a:t>
            </a:r>
          </a:p>
        </p:txBody>
      </p:sp>
      <p:sp>
        <p:nvSpPr>
          <p:cNvPr id="21" name="">
            <a:extLst xmlns:a="http://schemas.openxmlformats.org/drawingml/2006/main">
              <a:ext uri="{FF2B5EF4-FFF2-40B4-BE49-F238E27FC236}">
                <a16:creationId xmlns:a16="http://schemas.microsoft.com/office/drawing/2014/main" id="{FFE4F62B-ACE0-4AD4-86E3-3146C39E31DF}"/>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E87A96A7-2E02-493C-B9BC-3DA84AAE3260}"/>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CA7A1127-4DA7-44B9-984D-C9551B420DA5}"/>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test</a:t>
            </a:r>
          </a:p>
        </p:txBody>
      </p:sp>
      <p:sp>
        <p:nvSpPr>
          <p:cNvPr id="24" name="">
            <a:extLst xmlns:a="http://schemas.openxmlformats.org/drawingml/2006/main">
              <a:ext uri="{FF2B5EF4-FFF2-40B4-BE49-F238E27FC236}">
                <a16:creationId xmlns:a16="http://schemas.microsoft.com/office/drawing/2014/main" id="{3FB07202-11DD-4F88-AE11-3A5E7BD708CB}"/>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n=6</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81C7E0CF-54C7-493C-AFDA-E91A7AE96F1A}"/>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Same clips and split for both models</a:t>
            </a:r>
          </a:p>
        </p:txBody>
      </p:sp>
      <p:sp>
        <p:nvSpPr>
          <p:cNvPr id="26" name="">
            <a:extLst xmlns:a="http://schemas.openxmlformats.org/drawingml/2006/main">
              <a:ext uri="{FF2B5EF4-FFF2-40B4-BE49-F238E27FC236}">
                <a16:creationId xmlns:a16="http://schemas.microsoft.com/office/drawing/2014/main" id="{1FD51F84-C900-41DD-8F89-2D77482B9A9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central vowel proxy per clip</a:t>
            </a:r>
          </a:p>
        </p:txBody>
      </p:sp>
      <p:sp>
        <p:nvSpPr>
          <p:cNvPr id="27" name="">
            <a:extLst xmlns:a="http://schemas.openxmlformats.org/drawingml/2006/main">
              <a:ext uri="{FF2B5EF4-FFF2-40B4-BE49-F238E27FC236}">
                <a16:creationId xmlns:a16="http://schemas.microsoft.com/office/drawing/2014/main" id="{A118A13D-405A-4DE0-B8E1-AB2270E21A39}"/>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Not forced alignment</a:t>
            </a:r>
          </a:p>
        </p:txBody>
      </p:sp>
      <p:sp>
        <p:nvSpPr>
          <p:cNvPr id="28" name="">
            <a:extLst xmlns:a="http://schemas.openxmlformats.org/drawingml/2006/main">
              <a:ext uri="{FF2B5EF4-FFF2-40B4-BE49-F238E27FC236}">
                <a16:creationId xmlns:a16="http://schemas.microsoft.com/office/drawing/2014/main" id="{A5689BA2-2B21-462D-AF27-5D774DF54DA0}"/>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Feasibility pilot, not generalisation evidence</a:t>
            </a:r>
          </a:p>
        </p:txBody>
      </p:sp>
      <p:sp>
        <p:nvSpPr>
          <p:cNvPr id="29" name="">
            <a:extLst xmlns:a="http://schemas.openxmlformats.org/drawingml/2006/main">
              <a:ext uri="{FF2B5EF4-FFF2-40B4-BE49-F238E27FC236}">
                <a16:creationId xmlns:a16="http://schemas.microsoft.com/office/drawing/2014/main" id="{81DF0EF6-6395-404B-BF4B-097FA806F50E}"/>
              </a:ext>
            </a:extLst>
          </p:cNvPr>
          <p:cNvSpPr>
            <a:spLocks xmlns:a="http://schemas.openxmlformats.org/drawingml/2006/main" noGrp="1"/>
          </p:cNvSpPr>
          <p:nvPr/>
        </p:nvSpPr>
        <p:spPr>
          <a:xfrm xmlns:a="http://schemas.openxmlformats.org/drawingml/2006/main">
            <a:off x="666750" y="57816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stStyle>
          <a:p xmlns:a="http://schemas.openxmlformats.org/drawingml/2006/main">
            <a:pPr algn="l">
              <a:buNone/>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presents: pilot design, lip features, ablation and failures</a:t>
            </a:r>
          </a:p>
        </p:txBody>
      </p:sp>
    </p:spTree>
    <p:extLst>
      <p:ext uri="{BB962C8B-B14F-4D97-AF65-F5344CB8AC3E}">
        <p14:creationId xmlns:p14="http://schemas.microsoft.com/office/powerpoint/2010/main" val="2071589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93BA1E-37FD-42CF-B90F-D5CB25EC54C8}"/>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Weak context did not improve the held-out pilot</a:t>
            </a:r>
          </a:p>
        </p:txBody>
      </p:sp>
      <p:sp>
        <p:nvSpPr>
          <p:cNvPr id="2" name="">
            <a:extLst xmlns:a="http://schemas.openxmlformats.org/drawingml/2006/main">
              <a:ext uri="{FF2B5EF4-FFF2-40B4-BE49-F238E27FC236}">
                <a16:creationId xmlns:a16="http://schemas.microsoft.com/office/drawing/2014/main" id="{F9005097-B3DD-4BC4-BACC-519DBE22D9D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703D243-75C5-49AF-A814-E0CC53DB806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B2BB5-3095-4890-B289-5166C32F4B9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56A54D7-3EFE-4DFA-84E9-56170E5DE39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3F720001-15DF-407E-B033-D6035AEC08FE}"/>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61fbbb524f5c4081"/>
          </a:graphicData>
        </a:graphic>
      </p:graphicFrame>
      <p:sp>
        <p:nvSpPr>
          <p:cNvPr id="7" name="">
            <a:extLst xmlns:a="http://schemas.openxmlformats.org/drawingml/2006/main">
              <a:ext uri="{FF2B5EF4-FFF2-40B4-BE49-F238E27FC236}">
                <a16:creationId xmlns:a16="http://schemas.microsoft.com/office/drawing/2014/main" id="{A450D928-4E36-447D-BA6F-A214517DE80E}"/>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stStyle>
          <a:p xmlns:a="http://schemas.openxmlformats.org/drawingml/2006/main">
            <a:pPr algn="l">
              <a:buNone/>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01988031-2C76-4595-8243-5D4B3523DACF}"/>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stStyle>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buNone/>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A9E6F3A5-0D6A-48B4-B612-6EAE3DF63E35}"/>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6ECAB98D-2572-43C3-B87B-3EF36DE28174}"/>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4B5E8D5C-F085-4218-901F-86D394F31126}"/>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stStyle>
          <a:p xmlns:a="http://schemas.openxmlformats.org/drawingml/2006/main">
            <a:pPr algn="l">
              <a:buNone/>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21D2A519-8F90-4969-ABCD-2D95AE71FA76}"/>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05A08FD9-5C4D-4BEC-9104-C3B680899BE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stStyle>
          <a:p xmlns:a="http://schemas.openxmlformats.org/drawingml/2006/main">
            <a:pPr algn="ctr">
              <a:buNone/>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Saved local run shown. Fresh Colab (15 Oct): AUROC 0.556 vs 0.222; the weak proxy still degrades.</a:t>
            </a:r>
          </a:p>
        </p:txBody>
      </p:sp>
    </p:spTree>
    <p:extLst>
      <p:ext uri="{BB962C8B-B14F-4D97-AF65-F5344CB8AC3E}">
        <p14:creationId xmlns:p14="http://schemas.microsoft.com/office/powerpoint/2010/main" val="74440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35FE3D-71BD-4B39-917D-7404FFDF870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Matched phonetic ablation: mixed evidence</a:t>
            </a:r>
          </a:p>
        </p:txBody>
      </p:sp>
      <p:sp>
        <p:nvSpPr>
          <p:cNvPr id="2" name="">
            <a:extLst xmlns:a="http://schemas.openxmlformats.org/drawingml/2006/main">
              <a:ext uri="{FF2B5EF4-FFF2-40B4-BE49-F238E27FC236}">
                <a16:creationId xmlns:a16="http://schemas.microsoft.com/office/drawing/2014/main" id="{EAA23F46-7816-4D3E-B0A1-611CE6D52D6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1426A6E-E000-4258-9E18-908FB1819A4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52B957-5BA9-40FC-993C-B132AEE1B5F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04B081F-ACC3-47FA-9ED2-12F2D270A96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FA6F3403-5EF0-4560-945C-A02B3BFA579B}"/>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f429dadc048e4be5"/>
          </a:graphicData>
        </a:graphic>
      </p:graphicFrame>
      <p:sp>
        <p:nvSpPr>
          <p:cNvPr id="7" name="">
            <a:extLst xmlns:a="http://schemas.openxmlformats.org/drawingml/2006/main">
              <a:ext uri="{FF2B5EF4-FFF2-40B4-BE49-F238E27FC236}">
                <a16:creationId xmlns:a16="http://schemas.microsoft.com/office/drawing/2014/main" id="{840DFCA1-8067-46C1-9751-0C6D6145F006}"/>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Known local test split, n = 6</a:t>
            </a:r>
          </a:p>
        </p:txBody>
      </p:sp>
      <p:graphicFrame>
        <p:nvGraphicFramePr>
          <p:cNvPr id="8" name="Chart">
            <a:extLst xmlns:a="http://schemas.openxmlformats.org/drawingml/2006/main">
              <a:ext uri="{FF2B5EF4-FFF2-40B4-BE49-F238E27FC236}">
                <a16:creationId xmlns:a16="http://schemas.microsoft.com/office/drawing/2014/main" id="{858A909F-F7A8-4C01-BB00-086FB542E675}"/>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6ab3a1e476f147da"/>
          </a:graphicData>
        </a:graphic>
      </p:graphicFrame>
      <p:sp>
        <p:nvSpPr>
          <p:cNvPr id="9" name="">
            <a:extLst xmlns:a="http://schemas.openxmlformats.org/drawingml/2006/main">
              <a:ext uri="{FF2B5EF4-FFF2-40B4-BE49-F238E27FC236}">
                <a16:creationId xmlns:a16="http://schemas.microsoft.com/office/drawing/2014/main" id="{2AB3EBF0-B6DD-43D9-AA7C-FBC8614D8BB2}"/>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buNone/>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Local: 20 repeated four-fold runs</a:t>
            </a:r>
          </a:p>
        </p:txBody>
      </p:sp>
      <p:sp>
        <p:nvSpPr>
          <p:cNvPr id="10" name="">
            <a:extLst xmlns:a="http://schemas.openxmlformats.org/drawingml/2006/main">
              <a:ext uri="{FF2B5EF4-FFF2-40B4-BE49-F238E27FC236}">
                <a16:creationId xmlns:a16="http://schemas.microsoft.com/office/drawing/2014/main" id="{D2BBAA9E-7483-46E7-905C-066CBF6E488C}"/>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stStyle>
          <a:p xmlns:a="http://schemas.openxmlformats.org/drawingml/2006/main">
            <a:pPr algn="l">
              <a:buNone/>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Same 547 events, model and splits</a:t>
            </a:r>
          </a:p>
        </p:txBody>
      </p:sp>
      <p:sp>
        <p:nvSpPr>
          <p:cNvPr id="11" name="">
            <a:extLst xmlns:a="http://schemas.openxmlformats.org/drawingml/2006/main">
              <a:ext uri="{FF2B5EF4-FFF2-40B4-BE49-F238E27FC236}">
                <a16:creationId xmlns:a16="http://schemas.microsoft.com/office/drawing/2014/main" id="{996624E2-498C-4551-A198-7E9A8F7B5E54}"/>
              </a:ext>
            </a:extLst>
          </p:cNvPr>
          <p:cNvSpPr>
            <a:spLocks xmlns:a="http://schemas.openxmlformats.org/drawingml/2006/main" noGrp="1"/>
          </p:cNvSpPr>
          <p:nvPr/>
        </p:nvSpPr>
        <p:spPr>
          <a:xfrm xmlns:a="http://schemas.openxmlformats.org/drawingml/2006/main">
            <a:off x="6191250" y="54292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stStyle>
          <a:p xmlns:a="http://schemas.openxmlformats.org/drawingml/2006/main">
            <a:pPr algn="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Context effect: +0.013 F1, -0.006 AUROC</a:t>
            </a:r>
          </a:p>
        </p:txBody>
      </p:sp>
      <p:sp>
        <p:nvSpPr>
          <p:cNvPr id="12" name="">
            <a:extLst xmlns:a="http://schemas.openxmlformats.org/drawingml/2006/main">
              <a:ext uri="{FF2B5EF4-FFF2-40B4-BE49-F238E27FC236}">
                <a16:creationId xmlns:a16="http://schemas.microsoft.com/office/drawing/2014/main" id="{28005188-C730-4019-9F0C-BD6F44CD3A54}"/>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A37C85-AA79-41AA-B111-AFB281BF4197}"/>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stStyle>
          <a:p xmlns:a="http://schemas.openxmlformats.org/drawingml/2006/main">
            <a:pPr algn="ctr">
              <a:buNone/>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Fresh Colab: context = no-phone at F1/AUC 0.486/0.444; repeated means slightly favor no-phone.</a:t>
            </a:r>
          </a:p>
        </p:txBody>
      </p:sp>
    </p:spTree>
    <p:extLst>
      <p:ext uri="{BB962C8B-B14F-4D97-AF65-F5344CB8AC3E}">
        <p14:creationId xmlns:p14="http://schemas.microsoft.com/office/powerpoint/2010/main" val="1993889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E59E22A-B702-4293-BB78-43B75ECE493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F6F8196E-1187-4CAA-9B02-571DBBF1F45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008ECCF-F5A6-494C-BA60-868F63F4F6B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2142C7-18F7-4692-B033-CCE627D56DC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1EC37ED-2896-4B2B-90E9-6615BF3B5E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C3227109-4DC7-4FAC-B8BF-C0C70F1FB9E4}"/>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E2AF0633-62D4-4D5D-96B7-BD155CCA7CD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buNone/>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EEA08EA1-19EF-456B-8912-87EBFBF5525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56827ACB-DB64-4707-ACCE-6666FFCF2F42}"/>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E84A808B-DCB9-4A83-A751-07D60213963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buNone/>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6711BEBD-9250-4640-8A77-B3A7685AECF8}"/>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6593D81E-6700-464E-946C-84DA4B5E9433}"/>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D8BF018F-F9CD-4454-A7C6-08B1ED565317}"/>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buNone/>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F524106E-A96E-4F88-9A9E-4A35D6A0E84E}"/>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73EAE57A-5282-490D-9BE0-4CEC00131B54}"/>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6155C2FB-B4D3-4B7A-9DBB-05D221A76991}"/>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buNone/>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8684CDE-DAE5-4DC9-8282-3D7EF168A2E5}"/>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buNone/>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3CF3D3F-05DB-4482-9A69-A697585AA06E}"/>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B6DBA84-DD25-4164-B32D-D7A187926302}"/>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3F23C042-7064-46E6-BB3C-277CBC9CA79A}"/>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D029C292-38E0-475D-B886-37D2EB22EF1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C658CD10-C8C2-4280-9E57-DDB36805505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stStyle>
          <a:p xmlns:a="http://schemas.openxmlformats.org/drawingml/2006/main">
            <a:pPr algn="l">
              <a:buNone/>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2F7C395F-A210-4E23-814E-9DDD9EAFAD42}"/>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58180C95-E366-45A9-B342-C9929B93AD3B}"/>
              </a:ext>
            </a:extLst>
          </p:cNvPr>
          <p:cNvSpPr>
            <a:spLocks xmlns:a="http://schemas.openxmlformats.org/drawingml/2006/main" noGrp="1"/>
          </p:cNvSpPr>
          <p:nvPr/>
        </p:nvSpPr>
        <p:spPr>
          <a:xfrm xmlns:a="http://schemas.openxmlformats.org/drawingml/2006/main">
            <a:off x="11430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D64545"/>
                </a:solidFill>
                <a:latin typeface="Helvetica Neue"/>
                <a:ea typeface="Helvetica Neue"/>
                <a:cs typeface="Helvetica Neue"/>
              </a:defRPr>
            </a:defPPr>
          </a:lstStyle>
          <a:p xmlns:a="http://schemas.openxmlformats.org/drawingml/2006/main">
            <a:pPr algn="ctr">
              <a:buNone/>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He presents: hash checks, neutral control, spectral and robustness audit</a:t>
            </a:r>
          </a:p>
        </p:txBody>
      </p:sp>
    </p:spTree>
    <p:extLst>
      <p:ext uri="{BB962C8B-B14F-4D97-AF65-F5344CB8AC3E}">
        <p14:creationId xmlns:p14="http://schemas.microsoft.com/office/powerpoint/2010/main" val="1230907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5EFD32-BF49-4446-9F24-A5B33EFC1E9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6AE5D401-0378-4BB1-B200-7329CBB998AB}"/>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839EE95-A61B-4CEC-B581-DF15B2B8EC0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CF6A0-62D7-4014-BD10-74D18F8CC1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2C68C27-E022-4FB9-9742-1F238206B58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DD5C94A9-0ED7-4BF2-973B-3D6C6ED18D49}"/>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1738b668b6db479a"/>
          </a:graphicData>
        </a:graphic>
      </p:graphicFrame>
      <p:graphicFrame>
        <p:nvGraphicFramePr>
          <p:cNvPr id="7" name="Chart">
            <a:extLst xmlns:a="http://schemas.openxmlformats.org/drawingml/2006/main">
              <a:ext uri="{FF2B5EF4-FFF2-40B4-BE49-F238E27FC236}">
                <a16:creationId xmlns:a16="http://schemas.microsoft.com/office/drawing/2014/main" id="{58326912-0DFD-4431-A842-39F726F9223E}"/>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4ee2719d34ff4ec7"/>
          </a:graphicData>
        </a:graphic>
      </p:graphicFrame>
      <p:sp>
        <p:nvSpPr>
          <p:cNvPr id="8" name="">
            <a:extLst xmlns:a="http://schemas.openxmlformats.org/drawingml/2006/main">
              <a:ext uri="{FF2B5EF4-FFF2-40B4-BE49-F238E27FC236}">
                <a16:creationId xmlns:a16="http://schemas.microsoft.com/office/drawing/2014/main" id="{8F6A5923-A83D-45F5-8DAD-2A0A4941EEB9}"/>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970ED8F3-54B7-4155-B711-41DC3AE0D203}"/>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buNone/>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C2663806-DD9E-41DE-BEFE-FCE830F863A2}"/>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050490B1-A714-4665-B745-70207F809E4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stStyle>
          <a:p xmlns:a="http://schemas.openxmlformats.org/drawingml/2006/main">
            <a:pPr algn="l">
              <a:buNone/>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DB1C0E27-BFD3-4CC1-88AC-E620C4AB9FFF}"/>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287A4DEF-062C-408E-B06D-8F56518CD367}"/>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stStyle>
          <a:p xmlns:a="http://schemas.openxmlformats.org/drawingml/2006/main">
            <a:pPr algn="l">
              <a:buNone/>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F28E45B-D295-4365-B4CF-C7214EEBB0AF}"/>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E72A488A-9B35-4CC0-8CFB-C012AA4B188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buNone/>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6085E173-DF0A-4B27-822E-5387AFFAAA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stStyle>
          <a:p xmlns:a="http://schemas.openxmlformats.org/drawingml/2006/main">
            <a:pPr algn="l">
              <a:buNone/>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26A6F7AA-02C5-4E71-A571-8E4ED41A44C6}"/>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stStyle>
          <a:p xmlns:a="http://schemas.openxmlformats.org/drawingml/2006/main">
            <a:pPr algn="l">
              <a:buNone/>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911854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C90715-DAB1-42B1-8DEE-F4BF4C645A9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286F9596-1311-4CFA-9312-448F4177484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0DD5B4C-C16C-43B7-BA5B-D7986D42511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355C4-37A8-4BE7-B759-A4800965D13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745E0B0-5FFA-4D0B-B039-7EE7AC7590C0}"/>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576A867D-E1E2-4C59-8629-E5CCE52A0B76}"/>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4d088862af8a4958"/>
          </a:graphicData>
        </a:graphic>
      </p:graphicFrame>
      <p:sp>
        <p:nvSpPr>
          <p:cNvPr id="7" name="">
            <a:extLst xmlns:a="http://schemas.openxmlformats.org/drawingml/2006/main">
              <a:ext uri="{FF2B5EF4-FFF2-40B4-BE49-F238E27FC236}">
                <a16:creationId xmlns:a16="http://schemas.microsoft.com/office/drawing/2014/main" id="{180945C8-1790-47D8-85D7-56EB30DC4DE2}"/>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stStyle>
          <a:p xmlns:a="http://schemas.openxmlformats.org/drawingml/2006/main">
            <a:pPr algn="l">
              <a:buNone/>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18469AA7-0BEC-4518-B48B-6C3ECA4EB892}"/>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2CE20088-D732-41D1-8D60-1F0106F8A760}"/>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E81CB5DC-E928-4E59-B44D-296E861B4DED}"/>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EE5E1891-1221-49BF-8EE6-82D83BB13235}"/>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A162EB8B-CCE2-4D55-8B11-CC5973B45958}"/>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D9AB9D6D-CAA1-4099-989B-9886AC578266}"/>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D4E61723-5611-4B24-8A7A-1A134E45963E}"/>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buNone/>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B8863984-5DB8-492D-943C-425115C2D3D7}"/>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buNone/>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130414E3-B5E4-472F-BD69-8E438383CBA1}"/>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Rerun matched the original one-pair result</a:t>
            </a:r>
          </a:p>
        </p:txBody>
      </p:sp>
      <p:sp>
        <p:nvSpPr>
          <p:cNvPr id="17" name="">
            <a:extLst xmlns:a="http://schemas.openxmlformats.org/drawingml/2006/main">
              <a:ext uri="{FF2B5EF4-FFF2-40B4-BE49-F238E27FC236}">
                <a16:creationId xmlns:a16="http://schemas.microsoft.com/office/drawing/2014/main" id="{61A4DC35-3DFD-4BC2-9091-60E7F71D99DB}"/>
              </a:ext>
            </a:extLst>
          </p:cNvPr>
          <p:cNvSpPr>
            <a:spLocks xmlns:a="http://schemas.openxmlformats.org/drawingml/2006/main" noGrp="1"/>
          </p:cNvSpPr>
          <p:nvPr/>
        </p:nvSpPr>
        <p:spPr>
          <a:xfrm xmlns:a="http://schemas.openxmlformats.org/drawingml/2006/main">
            <a:off x="5905500" y="59055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D64545"/>
                </a:solidFill>
                <a:latin typeface="Helvetica Neue"/>
                <a:ea typeface="Helvetica Neue"/>
                <a:cs typeface="Helvetica Neue"/>
              </a:defRPr>
            </a:defPPr>
          </a:lstStyle>
          <a:p xmlns:a="http://schemas.openxmlformats.org/drawingml/2006/main">
            <a:pPr algn="r">
              <a:buNone/>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Synthetic periodic light also triggers the metric</a:t>
            </a:r>
          </a:p>
        </p:txBody>
      </p:sp>
    </p:spTree>
    <p:extLst>
      <p:ext uri="{BB962C8B-B14F-4D97-AF65-F5344CB8AC3E}">
        <p14:creationId xmlns:p14="http://schemas.microsoft.com/office/powerpoint/2010/main" val="1875796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EEFD45-FCC7-416B-B565-C7AE7A6CCE1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buNone/>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ABDC06AC-140B-4968-B69E-B55C0D8FADD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buNone/>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12A5CFA-CDBA-443A-9235-BDF1210F583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101F42-44C0-45F2-BB7A-91C1A0079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75FC3AB1-3A4B-477F-8CFE-386162D5DF49}"/>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buNone/>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277625D2-FC49-4623-A007-6813909FAF5F}"/>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stStyle>
          <a:p xmlns:a="http://schemas.openxmlformats.org/drawingml/2006/main">
            <a:pPr algn="l">
              <a:buNone/>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741CECAF-ED99-43CF-8F8F-C297289371DF}"/>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Weak context failed; matched ablation remains mixed across folds</a:t>
            </a:r>
          </a:p>
        </p:txBody>
      </p:sp>
      <p:sp>
        <p:nvSpPr>
          <p:cNvPr id="8" name="">
            <a:extLst xmlns:a="http://schemas.openxmlformats.org/drawingml/2006/main">
              <a:ext uri="{FF2B5EF4-FFF2-40B4-BE49-F238E27FC236}">
                <a16:creationId xmlns:a16="http://schemas.microsoft.com/office/drawing/2014/main" id="{A4FA709D-9A70-4DC9-8B83-AD4FF8F666A2}"/>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reproducible negative result plus a transparent follow-up.</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forced alignment and a fresh matched hold-out set.</a:t>
            </a:r>
          </a:p>
        </p:txBody>
      </p:sp>
      <p:sp>
        <p:nvSpPr>
          <p:cNvPr id="9" name="">
            <a:extLst xmlns:a="http://schemas.openxmlformats.org/drawingml/2006/main">
              <a:ext uri="{FF2B5EF4-FFF2-40B4-BE49-F238E27FC236}">
                <a16:creationId xmlns:a16="http://schemas.microsoft.com/office/drawing/2014/main" id="{E1562DB7-0B12-4EC8-BAA3-878FE9B0E952}"/>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7989412C-60F9-4E5A-8E0B-437338246131}"/>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stStyle>
          <a:p xmlns:a="http://schemas.openxmlformats.org/drawingml/2006/main">
            <a:pPr algn="l">
              <a:buNone/>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F528A858-F86B-4C8B-B636-502B2FF41490}"/>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buNone/>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3961EB1C-EE1C-4240-93F9-6C6F7C48E7BB}"/>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p>
          <a:p xmlns:a="http://schemas.openxmlformats.org/drawingml/2006/main">
            <a:pPr algn="l">
              <a:buNone/>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attack-specific features and natural controls.</a:t>
            </a:r>
          </a:p>
        </p:txBody>
      </p:sp>
      <p:sp>
        <p:nvSpPr>
          <p:cNvPr id="13" name="">
            <a:extLst xmlns:a="http://schemas.openxmlformats.org/drawingml/2006/main">
              <a:ext uri="{FF2B5EF4-FFF2-40B4-BE49-F238E27FC236}">
                <a16:creationId xmlns:a16="http://schemas.microsoft.com/office/drawing/2014/main" id="{45E636B6-E7DC-4181-B5A7-49ADD30D05B6}"/>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D937A0-722C-4268-A58A-63D84AB745A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buNone/>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B5CFE316-3E54-4F23-B7B0-0B61FD72BBDC}"/>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stStyle>
          <a:p xmlns:a="http://schemas.openxmlformats.org/drawingml/2006/main">
            <a:pPr algn="ct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047B39B0-308E-47E2-8780-19E93B887F7F}"/>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stStyle>
          <a:p xmlns:a="http://schemas.openxmlformats.org/drawingml/2006/main">
            <a:pPr algn="ctr">
              <a:buNone/>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Course pilot complete; independent confirmation remains future work.</a:t>
            </a:r>
          </a:p>
        </p:txBody>
      </p:sp>
    </p:spTree>
    <p:extLst>
      <p:ext uri="{BB962C8B-B14F-4D97-AF65-F5344CB8AC3E}">
        <p14:creationId xmlns:p14="http://schemas.microsoft.com/office/powerpoint/2010/main" val="81295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2026-10-16T05:37:05.4300000Z</dcterms:created>
  <dcterms:modified xsi:type="dcterms:W3CDTF">2026-10-16T05:37:05.4310000Z</dcterms:modified>
</coreProperties>
</file>