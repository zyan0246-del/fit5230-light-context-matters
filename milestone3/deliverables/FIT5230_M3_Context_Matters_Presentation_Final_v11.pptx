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6.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340cd5c3c084788" /><Relationship Type="http://schemas.openxmlformats.org/officeDocument/2006/relationships/extended-properties" Target="/docProps/app.xml" Id="R54d64e5da26a4866" /><Relationship Type="http://schemas.openxmlformats.org/officeDocument/2006/relationships/officeDocument" Target="/ppt/presentation.xml" Id="R95b10afb6a9c48d0" /></Relationships>
</file>

<file path=ppt/presentation.xml><?xml version="1.0" encoding="utf-8"?>
<p:presentation xmlns:p="http://schemas.openxmlformats.org/presentationml/2006/main">
  <p:sldMasterIdLst>
    <p:sldMasterId xmlns:r="http://schemas.openxmlformats.org/officeDocument/2006/relationships" id="2147483648" r:id="Red03690c5ef84ccb"/>
  </p:sldMasterIdLst>
  <p:notesMasterIdLst>
    <p:notesMasterId xmlns:r="http://schemas.openxmlformats.org/officeDocument/2006/relationships" r:id="Re12b493b03104e1a"/>
  </p:notesMasterIdLst>
  <p:sldIdLst>
    <p:sldId xmlns:r="http://schemas.openxmlformats.org/officeDocument/2006/relationships" id="256" r:id="R1f386509ee5c4c9f"/>
    <p:sldId xmlns:r="http://schemas.openxmlformats.org/officeDocument/2006/relationships" id="257" r:id="R2442db26d5bc4c1a"/>
    <p:sldId xmlns:r="http://schemas.openxmlformats.org/officeDocument/2006/relationships" id="258" r:id="Rb611523f639f4933"/>
    <p:sldId xmlns:r="http://schemas.openxmlformats.org/officeDocument/2006/relationships" id="259" r:id="Rb1e1dc885c8d4a61"/>
    <p:sldId xmlns:r="http://schemas.openxmlformats.org/officeDocument/2006/relationships" id="260" r:id="R82e3b5fc23b04afc"/>
    <p:sldId xmlns:r="http://schemas.openxmlformats.org/officeDocument/2006/relationships" id="261" r:id="R5b3426fb785d4015"/>
    <p:sldId xmlns:r="http://schemas.openxmlformats.org/officeDocument/2006/relationships" id="262" r:id="R340efff538d94b5b"/>
    <p:sldId xmlns:r="http://schemas.openxmlformats.org/officeDocument/2006/relationships" id="263" r:id="R8620248b73fb4960"/>
    <p:sldId xmlns:r="http://schemas.openxmlformats.org/officeDocument/2006/relationships" id="264" r:id="Reb5f0289b84d4eaf"/>
    <p:sldId xmlns:r="http://schemas.openxmlformats.org/officeDocument/2006/relationships" id="265" r:id="R6665555ad6ba431c"/>
    <p:sldId xmlns:r="http://schemas.openxmlformats.org/officeDocument/2006/relationships" id="266" r:id="Rb27035263925484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3b21be524da4b77" /><Relationship Type="http://schemas.openxmlformats.org/officeDocument/2006/relationships/slideMaster" Target="/ppt/slideMasters/slideMaster1.xml" Id="Red03690c5ef84ccb" /><Relationship Type="http://schemas.openxmlformats.org/officeDocument/2006/relationships/notesMaster" Target="/ppt/notesMasters/notesMaster1.xml" Id="Re12b493b03104e1a" /><Relationship Type="http://schemas.openxmlformats.org/officeDocument/2006/relationships/presProps" Target="/ppt/presProps.xml" Id="R05c61124e0de44ab" /><Relationship Type="http://schemas.openxmlformats.org/officeDocument/2006/relationships/tableStyles" Target="/ppt/tableStyles.xml" Id="R05e4c1f1a8524df2" /><Relationship Type="http://schemas.openxmlformats.org/officeDocument/2006/relationships/slide" Target="/ppt/slides/slide1.xml" Id="R1f386509ee5c4c9f" /><Relationship Type="http://schemas.openxmlformats.org/officeDocument/2006/relationships/slide" Target="/ppt/slides/slide2.xml" Id="R2442db26d5bc4c1a" /><Relationship Type="http://schemas.openxmlformats.org/officeDocument/2006/relationships/slide" Target="/ppt/slides/slide3.xml" Id="Rb611523f639f4933" /><Relationship Type="http://schemas.openxmlformats.org/officeDocument/2006/relationships/slide" Target="/ppt/slides/slide4.xml" Id="Rb1e1dc885c8d4a61" /><Relationship Type="http://schemas.openxmlformats.org/officeDocument/2006/relationships/slide" Target="/ppt/slides/slide5.xml" Id="R82e3b5fc23b04afc" /><Relationship Type="http://schemas.openxmlformats.org/officeDocument/2006/relationships/slide" Target="/ppt/slides/slide6.xml" Id="R5b3426fb785d4015" /><Relationship Type="http://schemas.openxmlformats.org/officeDocument/2006/relationships/slide" Target="/ppt/slides/slide7.xml" Id="R340efff538d94b5b" /><Relationship Type="http://schemas.openxmlformats.org/officeDocument/2006/relationships/slide" Target="/ppt/slides/slide8.xml" Id="R8620248b73fb4960" /><Relationship Type="http://schemas.openxmlformats.org/officeDocument/2006/relationships/slide" Target="/ppt/slides/slide9.xml" Id="Reb5f0289b84d4eaf" /><Relationship Type="http://schemas.openxmlformats.org/officeDocument/2006/relationships/slide" Target="/ppt/slides/slide10.xml" Id="R6665555ad6ba431c" /><Relationship Type="http://schemas.openxmlformats.org/officeDocument/2006/relationships/slide" Target="/ppt/slides/slide11.xml" Id="Rb27035263925484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8475b9b758340e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084651f99f64c2f" /><Relationship Type="http://schemas.openxmlformats.org/officeDocument/2006/relationships/notesMaster" Target="/ppt/notesMasters/notesMaster1.xml" Id="R08a56b33e438423a" /></Relationships>
</file>

<file path=ppt/notesSlides/_rels/notesSlide2.xml.rels>&#65279;<?xml version="1.0" encoding="utf-8"?><Relationships xmlns="http://schemas.openxmlformats.org/package/2006/relationships"><Relationship Type="http://schemas.openxmlformats.org/officeDocument/2006/relationships/slide" Target="/ppt/slides/slide2.xml" Id="R3ed7289209984283" /><Relationship Type="http://schemas.openxmlformats.org/officeDocument/2006/relationships/notesMaster" Target="/ppt/notesMasters/notesMaster1.xml" Id="R9482afad14a84a32" /></Relationships>
</file>

<file path=ppt/notesSlides/_rels/notesSlide3.xml.rels>&#65279;<?xml version="1.0" encoding="utf-8"?><Relationships xmlns="http://schemas.openxmlformats.org/package/2006/relationships"><Relationship Type="http://schemas.openxmlformats.org/officeDocument/2006/relationships/slide" Target="/ppt/slides/slide3.xml" Id="R4769ba1e65f446e3" /><Relationship Type="http://schemas.openxmlformats.org/officeDocument/2006/relationships/notesMaster" Target="/ppt/notesMasters/notesMaster1.xml" Id="Rc5f567da86644659" /></Relationships>
</file>

<file path=ppt/notesSlides/_rels/notesSlide4.xml.rels>&#65279;<?xml version="1.0" encoding="utf-8"?><Relationships xmlns="http://schemas.openxmlformats.org/package/2006/relationships"><Relationship Type="http://schemas.openxmlformats.org/officeDocument/2006/relationships/slide" Target="/ppt/slides/slide4.xml" Id="R9e07a67c3c8e47cb" /><Relationship Type="http://schemas.openxmlformats.org/officeDocument/2006/relationships/notesMaster" Target="/ppt/notesMasters/notesMaster1.xml" Id="R0adbf6af871247d5" /></Relationships>
</file>

<file path=ppt/notesSlides/_rels/notesSlide5.xml.rels>&#65279;<?xml version="1.0" encoding="utf-8"?><Relationships xmlns="http://schemas.openxmlformats.org/package/2006/relationships"><Relationship Type="http://schemas.openxmlformats.org/officeDocument/2006/relationships/slide" Target="/ppt/slides/slide5.xml" Id="R5297e81d791546cb" /><Relationship Type="http://schemas.openxmlformats.org/officeDocument/2006/relationships/notesMaster" Target="/ppt/notesMasters/notesMaster1.xml" Id="Re7e79a8541984ac3" /></Relationships>
</file>

<file path=ppt/notesSlides/_rels/notesSlide6.xml.rels>&#65279;<?xml version="1.0" encoding="utf-8"?><Relationships xmlns="http://schemas.openxmlformats.org/package/2006/relationships"><Relationship Type="http://schemas.openxmlformats.org/officeDocument/2006/relationships/slide" Target="/ppt/slides/slide6.xml" Id="R81b0d195ddb04440" /><Relationship Type="http://schemas.openxmlformats.org/officeDocument/2006/relationships/notesMaster" Target="/ppt/notesMasters/notesMaster1.xml" Id="Rc2f887ab258b4943" /></Relationships>
</file>

<file path=ppt/notesSlides/_rels/notesSlide7.xml.rels>&#65279;<?xml version="1.0" encoding="utf-8"?><Relationships xmlns="http://schemas.openxmlformats.org/package/2006/relationships"><Relationship Type="http://schemas.openxmlformats.org/officeDocument/2006/relationships/slide" Target="/ppt/slides/slide7.xml" Id="Rc05c2e181679474f" /><Relationship Type="http://schemas.openxmlformats.org/officeDocument/2006/relationships/notesMaster" Target="/ppt/notesMasters/notesMaster1.xml" Id="Rc5c0ea3d90ff4605" /></Relationships>
</file>

<file path=ppt/notesSlides/_rels/notesSlide8.xml.rels>&#65279;<?xml version="1.0" encoding="utf-8"?><Relationships xmlns="http://schemas.openxmlformats.org/package/2006/relationships"><Relationship Type="http://schemas.openxmlformats.org/officeDocument/2006/relationships/slide" Target="/ppt/slides/slide8.xml" Id="R74e9875adc1e47d4" /><Relationship Type="http://schemas.openxmlformats.org/officeDocument/2006/relationships/notesMaster" Target="/ppt/notesMasters/notesMaster1.xml" Id="Rebc01181079c4ebd" /></Relationships>
</file>

<file path=ppt/notesSlides/_rels/notesSlide9.xml.rels>&#65279;<?xml version="1.0" encoding="utf-8"?><Relationships xmlns="http://schemas.openxmlformats.org/package/2006/relationships"><Relationship Type="http://schemas.openxmlformats.org/officeDocument/2006/relationships/slide" Target="/ppt/slides/slide9.xml" Id="Ra8098b60f7bf4532" /><Relationship Type="http://schemas.openxmlformats.org/officeDocument/2006/relationships/notesMaster" Target="/ppt/notesMasters/notesMaster1.xml" Id="R54ee8cf5dc30443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d519569d18f479b" /><Relationship Type="http://schemas.openxmlformats.org/officeDocument/2006/relationships/notesMaster" Target="/ppt/notesMasters/notesMaster1.xml" Id="Raf74765ca2c84c8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38bf9deb3b1422c" /><Relationship Type="http://schemas.openxmlformats.org/officeDocument/2006/relationships/notesMaster" Target="/ppt/notesMasters/notesMaster1.xml" Id="R34b4c0c9203b4f8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Yan, 30 seconds. We test two Light-side defenses for speech-to-face deepfakes. Strategy A uses a controlled real/SadTalker pilot to compare global lip dynamics, local temporal windows and weak phone context. Strategy B audits the periodic colour trace introduced by Dark.Mimic's rPPG evasion. We report the two evidence channels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Yan, 60 seconds. M2 used synthetic trajectories and two videos for preprocessing only. M3 first added a 24-clip public pilot. We then repaired its largest confound by generating 12 matched SadTalker clips from the same public speakers and audio as 12 real clips. Every matched clip passed landmark extraction, and the repository now passes 40 regression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Yan, first 40 seconds. The matched branch uses the same identity, audio, duration and final codec within each real/fake pair. We compare four lip representations with the same classifier settings and group every fold by pair. He, next 35 seconds: the peer branch compares aligned RGB signals from the Dark.Mimic control and modified video. We do not tune a fusion model from one peer pair.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 two minutes. Dark.Mimic aims to inject a more realistic periodic physiological signal into a generated talking face so that an rPPG detector is less likely to reject it. They gave us an aligned control and A=1 modified video. Our earlier paired analysis found identical audio and almost unchanged mouth geometry. That motivates a new forensic question: does the injected signal create an unusually periodic colour trace? The raw peer files remain private. Source: peer exchange package and reports/peer_dark_mimic.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Yan, 90 seconds. Each fake uses the corresponding real speaker's portrait and audio. Both members of a pair are standardised to 12 seconds, 512 by 512, 25 FPS and the same H.264/AAC settings. We compare whole-clip dynamics, local before/during/after windows, weak phone interactions and shuffled phone labels. All use logistic regression with C equal to one, balanced classes and threshold 0.5. Whisper and CMUdict supply a weak proxy, not forced alignment.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Yan, 60 seconds. The original cross-collection held-out set had only six clips. Weak context did not improve Macro-F1 and reduced AUROC in both the saved local run and the fresh Colab run. The uncertainty intervals were wide. We therefore did not tune this split further. Instead, we built the matched experiment shown next.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Yan, 105 seconds. This slide reports out-of-fold scores across 20 repeated four-fold splits grouped by matched pair. The context-free model averages Macro-F1 0.707 and AUROC 0.773. Adding local windows without phone labels raises them to 0.748 and 0.806. It performs better in 15 of 20 repeats for F1 and 14 of 20 for AUROC. Weak phone context averages 0.522 and 0.518 and is worse than the no-phone window version in all 20 repeats. It also fails to beat shuffled phone labels consistently. The likely causes are approximate timing, sparse categories and 726 to 960 interaction features from only 18 training clips per fold. Source: artifacts/matched_sadtalker.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 90 seconds. My strategy subtracts control RGB values from the modified video, then measures spectral energy near the peer-reported 1.2 Hz. I use the full frame, forehead and cheek regions. A neutral re-encode of the control estimates how much periodic energy an ordinary codec change creates. This is a paired forensic audit. It does not estimate a pulse waveform and it does not decide whether an arbitrary video is real or fake.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 75 seconds. In the original pair, the global red-channel peak is 1.159 Hz. Energy near 1.2 Hz is 0.946 for A=1 and 0.204 for neutral re-encoding, a ratio of 4.63. The green-channel ratio is 8.48. The time-domain trace shows a clear periodic pattern. This evidence applies to one aligned pair only. Source: outputs/m3_work/dark_mimic_attack and artifacts/m3_results/attack_vs_neutral.csv.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 75 seconds. The red attack-to-neutral ratio remains above one after all three transformations: 8.45 under H.264 CRF 35, 6.28 after resizing to 256 by 224, and 20.86 at 15 FPS. A 16 October hash-checked rerun matched these rounded values. A newly documented neutral recipe also gave ratios above one, though their magnitude changed. In twelve public real-speaker codec-only controls, the red target-band fraction median was 0.074. A synthetic 1.2 Hz global brightness oscillation raised it to median 0.981 in 12/12 real speakers. Thus the frequency metric is not attack-specific. Natural lighting/motion and multiple attacked identities remain untested. Sources: robustness_summary.csv, benign_chromatic_controls.csv, periodic_light_controls.csv and robustness_reproduced_neutral.csv.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 45 seconds, then Yan closes for 15 seconds. The lip branch now has a controlled positive course result for local temporal windows and a clear negative result for weak phone labels. The colour branch finds a strong trace in one attacked pair, while synthetic periodic light shows that the metric is not attack-specific. Yan: both strategies are executable, their controls are explicit and our claims stay within the tested course pilots.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654c15fc14049a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3f91faebbbb49f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0ea0fb4903d42a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a10efd6447d4ec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e3d39c74290432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7fbf4d55ccc46b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5AA835A-95EC-4B7E-A261-DDF5DFB16DD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67FC759-7CBD-4331-867B-E1118A65CE1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FFC69FE-F991-4A5D-A157-F2DAB031742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11881C6-0411-4EBF-A657-8C13C9FE9CC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E903742-2C98-428F-9CFF-68C5E1094EC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28C85A5-0F1B-4EF2-8508-1432C500D6F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A2DDBE4-370E-48AE-99DC-814485AA467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4C579A9-7198-40E2-AE26-1EDACE616F8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E52D999-5147-4504-9CE6-D6B81F9C8FD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D90EBA9-4160-4B23-B658-528818A46D6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94c3c411ec04eb6" /><Relationship Type="http://schemas.openxmlformats.org/officeDocument/2006/relationships/slideLayout" Target="/ppt/slideLayouts/slideLayout1.xml" Id="Ree443f9f916642bf" /><Relationship Type="http://schemas.openxmlformats.org/officeDocument/2006/relationships/slideLayout" Target="/ppt/slideLayouts/slideLayout2.xml" Id="Re144577bbec949ed" /><Relationship Type="http://schemas.openxmlformats.org/officeDocument/2006/relationships/slideLayout" Target="/ppt/slideLayouts/slideLayout3.xml" Id="R259bef0019894989" /><Relationship Type="http://schemas.openxmlformats.org/officeDocument/2006/relationships/slideLayout" Target="/ppt/slideLayouts/slideLayout4.xml" Id="Red6cd8e3b1a44d6b" /><Relationship Type="http://schemas.openxmlformats.org/officeDocument/2006/relationships/slideLayout" Target="/ppt/slideLayouts/slideLayout5.xml" Id="Rf31525f6b74241b1" /><Relationship Type="http://schemas.openxmlformats.org/officeDocument/2006/relationships/slideLayout" Target="/ppt/slideLayouts/slideLayout6.xml" Id="R7ad2660e587a4fe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e443f9f916642bf"/>
    <p:sldLayoutId xmlns:r="http://schemas.openxmlformats.org/officeDocument/2006/relationships" id="2147483650" r:id="Re144577bbec949ed"/>
    <p:sldLayoutId xmlns:r="http://schemas.openxmlformats.org/officeDocument/2006/relationships" id="2147483651" r:id="R259bef0019894989"/>
    <p:sldLayoutId xmlns:r="http://schemas.openxmlformats.org/officeDocument/2006/relationships" id="2147483652" r:id="Red6cd8e3b1a44d6b"/>
    <p:sldLayoutId xmlns:r="http://schemas.openxmlformats.org/officeDocument/2006/relationships" id="2147483653" r:id="Rf31525f6b74241b1"/>
    <p:sldLayoutId xmlns:r="http://schemas.openxmlformats.org/officeDocument/2006/relationships" id="2147483654" r:id="R7ad2660e587a4fe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9569df1de1241d2" /><Relationship Type="http://schemas.openxmlformats.org/officeDocument/2006/relationships/notesSlide" Target="/ppt/notesSlides/notesSlide1.xml" Id="R2fcc6fcd5ed446c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8b11ff287704c3a" /><Relationship Type="http://schemas.openxmlformats.org/officeDocument/2006/relationships/notesSlide" Target="/ppt/notesSlides/notesSlide2.xml" Id="Rf55649ee720449d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bb42b3cd9f94aa8" /><Relationship Type="http://schemas.openxmlformats.org/officeDocument/2006/relationships/notesSlide" Target="/ppt/notesSlides/notesSlide3.xml" Id="Rb08129cdf14d44e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7d24e5365f94005" /><Relationship Type="http://schemas.openxmlformats.org/officeDocument/2006/relationships/notesSlide" Target="/ppt/notesSlides/notesSlide4.xml" Id="R8f3b93780c42401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0409f10df864ff3" /><Relationship Type="http://schemas.openxmlformats.org/officeDocument/2006/relationships/notesSlide" Target="/ppt/notesSlides/notesSlide5.xml" Id="Rb55f88ff885d43c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ccbba63a9b54c7c" /><Relationship Type="http://schemas.openxmlformats.org/officeDocument/2006/relationships/chart" Target="/ppt/slides/charts/chart1.xml" Id="Rf30e671280444138" /><Relationship Type="http://schemas.openxmlformats.org/officeDocument/2006/relationships/notesSlide" Target="/ppt/notesSlides/notesSlide6.xml" Id="Rf5694b6e65de4ba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4d65b6ee6704496" /><Relationship Type="http://schemas.openxmlformats.org/officeDocument/2006/relationships/chart" Target="/ppt/slides/charts/chart2.xml" Id="R8f0effa845e34520" /><Relationship Type="http://schemas.openxmlformats.org/officeDocument/2006/relationships/chart" Target="/ppt/slides/charts/chart3.xml" Id="Rd97a198b3aed4090" /><Relationship Type="http://schemas.openxmlformats.org/officeDocument/2006/relationships/notesSlide" Target="/ppt/notesSlides/notesSlide7.xml" Id="R6f4acf6c3b9e43b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c2bd07ba11f45a5" /><Relationship Type="http://schemas.openxmlformats.org/officeDocument/2006/relationships/notesSlide" Target="/ppt/notesSlides/notesSlide8.xml" Id="R97c9cc03fff445f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528a8d4276e4d3c" /><Relationship Type="http://schemas.openxmlformats.org/officeDocument/2006/relationships/chart" Target="/ppt/slides/charts/chart4.xml" Id="R7b7b710c2ccc4b3e" /><Relationship Type="http://schemas.openxmlformats.org/officeDocument/2006/relationships/chart" Target="/ppt/slides/charts/chart5.xml" Id="R6e1b3d85523e41ac" /><Relationship Type="http://schemas.openxmlformats.org/officeDocument/2006/relationships/notesSlide" Target="/ppt/notesSlides/notesSlide9.xml" Id="R0b7d81ba8dd3411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db1b1a52a5d44e9" /><Relationship Type="http://schemas.openxmlformats.org/officeDocument/2006/relationships/chart" Target="/ppt/slides/charts/chart6.xml" Id="R91371eb167294788" /><Relationship Type="http://schemas.openxmlformats.org/officeDocument/2006/relationships/notesSlide" Target="/ppt/notesSlides/notesSlide10.xml" Id="Re9a20622478145d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722ae389f0043d0" /><Relationship Type="http://schemas.openxmlformats.org/officeDocument/2006/relationships/notesSlide" Target="/ppt/notesSlides/notesSlide11.xml" Id="Rb6645a2a9fa54f85" /></Relationships>
</file>

<file path=ppt/slides/charts/chart1.xml><?xml version="1.0" encoding="utf-8"?>
<c:chartSpace xmlns:c="http://schemas.openxmlformats.org/drawingml/2006/chart">
  <c:lang val="en-US"/>
  <c:chart>
    <c:plotArea>
      <c:barChart>
        <c:barDir val="col"/>
        <c:grouping val="clustered"/>
        <c:varyColors val="0"/>
        <c:ser>
          <c:idx val="0"/>
          <c:order val="0"/>
          <c:tx>
            <c:v>Context-free</c:v>
          </c:tx>
          <c:spPr>
            <a:solidFill xmlns:a="http://schemas.openxmlformats.org/drawingml/2006/main">
              <a:srgbClr val="2F6BFF"/>
            </a:solidFill>
          </c:spPr>
          <c:invertIfNegative val="0"/>
          <c:cat>
            <c:strLit>
              <c:ptCount val="2"/>
              <c:pt idx="0">
                <c:v>Macro-F1</c:v>
              </c:pt>
              <c:pt idx="1">
                <c:v>AUROC</c:v>
              </c:pt>
            </c:strLit>
          </c:cat>
          <c:val>
            <c:numLit>
              <c:formatCode>0.0</c:formatCode>
              <c:ptCount val="2"/>
              <c:pt idx="0">
                <c:v>0.485714</c:v>
              </c:pt>
              <c:pt idx="1">
                <c:v>0.666667</c:v>
              </c:pt>
            </c:numLit>
          </c:val>
        </c:ser>
        <c:ser>
          <c:idx val="1"/>
          <c:order val="1"/>
          <c:tx>
            <c:v>Weak context</c:v>
          </c:tx>
          <c:spPr>
            <a:solidFill xmlns:a="http://schemas.openxmlformats.org/drawingml/2006/main">
              <a:srgbClr val="D64545"/>
            </a:solidFill>
          </c:spPr>
          <c:invertIfNegative val="0"/>
          <c:cat>
            <c:strLit>
              <c:ptCount val="2"/>
              <c:pt idx="0">
                <c:v>Macro-F1</c:v>
              </c:pt>
              <c:pt idx="1">
                <c:v>AUROC</c:v>
              </c:pt>
            </c:strLit>
          </c:cat>
          <c:val>
            <c:numLit>
              <c:formatCode>0.0</c:formatCode>
              <c:ptCount val="2"/>
              <c:pt idx="0">
                <c:v>0.485714</c:v>
              </c:pt>
              <c:pt idx="1">
                <c:v>0.555556</c:v>
              </c:pt>
            </c:numLit>
          </c:val>
        </c:ser>
        <c:dLbls>
          <c:txPr>
            <a:bodyPr xmlns:a="http://schemas.openxmlformats.org/drawingml/2006/main" anchorCtr="1"/>
            <a:lstStyle xmlns:a="http://schemas.openxmlformats.org/drawingml/2006/main"/>
            <a:p xmlns:a="http://schemas.openxmlformats.org/drawingml/2006/main">
              <a:pPr>
                <a:defRPr sz="1050" b="1">
                  <a:solidFill>
                    <a:srgbClr val="243B53"/>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D9E2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2.xml><?xml version="1.0" encoding="utf-8"?>
<c:chartSpace xmlns:c="http://schemas.openxmlformats.org/drawingml/2006/chart">
  <c:lang val="en-US"/>
  <c:chart>
    <c:plotArea>
      <c:barChart>
        <c:barDir val="col"/>
        <c:grouping val="clustered"/>
        <c:varyColors val="0"/>
        <c:ser>
          <c:idx val="0"/>
          <c:order val="0"/>
          <c:tx>
            <c:v>Context-free</c:v>
          </c:tx>
          <c:spPr>
            <a:solidFill xmlns:a="http://schemas.openxmlformats.org/drawingml/2006/main">
              <a:srgbClr val="2F6BFF"/>
            </a:solidFill>
          </c:spPr>
          <c:invertIfNegative val="0"/>
          <c:cat>
            <c:strLit>
              <c:ptCount val="2"/>
              <c:pt idx="0">
                <c:v>Macro-F1</c:v>
              </c:pt>
              <c:pt idx="1">
                <c:v>AUROC</c:v>
              </c:pt>
            </c:strLit>
          </c:cat>
          <c:val>
            <c:numLit>
              <c:formatCode>0.0</c:formatCode>
              <c:ptCount val="2"/>
              <c:pt idx="0">
                <c:v>0.707093</c:v>
              </c:pt>
              <c:pt idx="1">
                <c:v>0.772917</c:v>
              </c:pt>
            </c:numLit>
          </c:val>
        </c:ser>
        <c:ser>
          <c:idx val="1"/>
          <c:order val="1"/>
          <c:tx>
            <c:v>Window, no phone</c:v>
          </c:tx>
          <c:spPr>
            <a:solidFill xmlns:a="http://schemas.openxmlformats.org/drawingml/2006/main">
              <a:srgbClr val="159E9C"/>
            </a:solidFill>
          </c:spPr>
          <c:invertIfNegative val="0"/>
          <c:cat>
            <c:strLit>
              <c:ptCount val="2"/>
              <c:pt idx="0">
                <c:v>Macro-F1</c:v>
              </c:pt>
              <c:pt idx="1">
                <c:v>AUROC</c:v>
              </c:pt>
            </c:strLit>
          </c:cat>
          <c:val>
            <c:numLit>
              <c:formatCode>0.0</c:formatCode>
              <c:ptCount val="2"/>
              <c:pt idx="0">
                <c:v>0.748128</c:v>
              </c:pt>
              <c:pt idx="1">
                <c:v>0.805903</c:v>
              </c:pt>
            </c:numLit>
          </c:val>
        </c:ser>
        <c:dLbls>
          <c:txPr>
            <a:bodyPr xmlns:a="http://schemas.openxmlformats.org/drawingml/2006/main" anchorCtr="1"/>
            <a:lstStyle xmlns:a="http://schemas.openxmlformats.org/drawingml/2006/main"/>
            <a:p xmlns:a="http://schemas.openxmlformats.org/drawingml/2006/main">
              <a:pPr>
                <a:defRPr sz="975" b="1">
                  <a:solidFill>
                    <a:srgbClr val="243B53"/>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D9E2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3.xml><?xml version="1.0" encoding="utf-8"?>
<c:chartSpace xmlns:c="http://schemas.openxmlformats.org/drawingml/2006/chart">
  <c:lang val="en-US"/>
  <c:chart>
    <c:plotArea>
      <c:barChart>
        <c:barDir val="col"/>
        <c:grouping val="clustered"/>
        <c:varyColors val="0"/>
        <c:ser>
          <c:idx val="0"/>
          <c:order val="0"/>
          <c:tx>
            <c:v>Shuffled phone</c:v>
          </c:tx>
          <c:spPr>
            <a:solidFill xmlns:a="http://schemas.openxmlformats.org/drawingml/2006/main">
              <a:srgbClr val="2F6BFF"/>
            </a:solidFill>
          </c:spPr>
          <c:invertIfNegative val="0"/>
          <c:cat>
            <c:strLit>
              <c:ptCount val="2"/>
              <c:pt idx="0">
                <c:v>Macro-F1</c:v>
              </c:pt>
              <c:pt idx="1">
                <c:v>AUROC</c:v>
              </c:pt>
            </c:strLit>
          </c:cat>
          <c:val>
            <c:numLit>
              <c:formatCode>0.0</c:formatCode>
              <c:ptCount val="2"/>
              <c:pt idx="0">
                <c:v>0.551089</c:v>
              </c:pt>
              <c:pt idx="1">
                <c:v>0.586458</c:v>
              </c:pt>
            </c:numLit>
          </c:val>
        </c:ser>
        <c:ser>
          <c:idx val="1"/>
          <c:order val="1"/>
          <c:tx>
            <c:v>Phone context</c:v>
          </c:tx>
          <c:spPr>
            <a:solidFill xmlns:a="http://schemas.openxmlformats.org/drawingml/2006/main">
              <a:srgbClr val="159E9C"/>
            </a:solidFill>
          </c:spPr>
          <c:invertIfNegative val="0"/>
          <c:cat>
            <c:strLit>
              <c:ptCount val="2"/>
              <c:pt idx="0">
                <c:v>Macro-F1</c:v>
              </c:pt>
              <c:pt idx="1">
                <c:v>AUROC</c:v>
              </c:pt>
            </c:strLit>
          </c:cat>
          <c:val>
            <c:numLit>
              <c:formatCode>0.0</c:formatCode>
              <c:ptCount val="2"/>
              <c:pt idx="0">
                <c:v>0.52161</c:v>
              </c:pt>
              <c:pt idx="1">
                <c:v>0.518056</c:v>
              </c:pt>
            </c:numLit>
          </c:val>
        </c:ser>
        <c:dLbls>
          <c:txPr>
            <a:bodyPr xmlns:a="http://schemas.openxmlformats.org/drawingml/2006/main" anchorCtr="1"/>
            <a:lstStyle xmlns:a="http://schemas.openxmlformats.org/drawingml/2006/main"/>
            <a:p xmlns:a="http://schemas.openxmlformats.org/drawingml/2006/main">
              <a:pPr>
                <a:defRPr sz="975" b="1">
                  <a:solidFill>
                    <a:srgbClr val="243B53"/>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D9E2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4.xml><?xml version="1.0" encoding="utf-8"?>
<c:chartSpace xmlns:c="http://schemas.openxmlformats.org/drawingml/2006/chart">
  <c:lang val="en-US"/>
  <c:chart>
    <c:plotArea>
      <c:lineChart>
        <c:grouping val="standard"/>
        <c:varyColors val="0"/>
        <c:ser>
          <c:idx val="0"/>
          <c:order val="0"/>
          <c:tx>
            <c:v>Red delta</c:v>
          </c:tx>
          <c:spPr>
            <a:ln xmlns:a="http://schemas.openxmlformats.org/drawingml/2006/main" w="19050">
              <a:solidFill>
                <a:srgbClr val="D64545"/>
              </a:solidFill>
              <a:prstDash val="solid"/>
            </a:ln>
          </c:spPr>
          <c:marker>
            <c:symbol val="none"/>
          </c:marker>
          <c:cat>
            <c:numLit>
              <c:formatCode>General</c:formatCode>
              <c:ptCount val="61"/>
              <c:pt idx="0">
                <c:v>0.0</c:v>
              </c:pt>
              <c:pt idx="1">
                <c:v>0.2</c:v>
              </c:pt>
              <c:pt idx="2">
                <c:v>0.4</c:v>
              </c:pt>
              <c:pt idx="3">
                <c:v>0.6</c:v>
              </c:pt>
              <c:pt idx="4">
                <c:v>0.8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numLit>
          </c:cat>
          <c:val>
            <c:numLit>
              <c:formatCode>General</c:formatCode>
              <c:ptCount val="61"/>
              <c:pt idx="0">
                <c:v>0</c:v>
              </c:pt>
              <c:pt idx="1">
                <c:v>0</c:v>
              </c:pt>
              <c:pt idx="2">
                <c:v>0</c:v>
              </c:pt>
              <c:pt idx="3">
                <c:v>-0.4143633161272078</c:v>
              </c:pt>
              <c:pt idx="4">
                <c:v>-0.412567138671875</c:v>
              </c:pt>
              <c:pt idx="5">
                <c:v>0</c:v>
              </c:pt>
              <c:pt idx="6">
                <c:v>0</c:v>
              </c:pt>
              <c:pt idx="7">
                <c:v>-0.4096810477120698</c:v>
              </c:pt>
              <c:pt idx="8">
                <c:v>-0.4296308244977638</c:v>
              </c:pt>
              <c:pt idx="9">
                <c:v>0.031607491629472406</c:v>
              </c:pt>
              <c:pt idx="10">
                <c:v>0</c:v>
              </c:pt>
              <c:pt idx="11">
                <c:v>-0.399627685546875</c:v>
              </c:pt>
              <c:pt idx="12">
                <c:v>-0.4138619559151948</c:v>
              </c:pt>
              <c:pt idx="13">
                <c:v>-0.013916015625</c:v>
              </c:pt>
              <c:pt idx="14">
                <c:v>-0.026576450892861203</c:v>
              </c:pt>
              <c:pt idx="15">
                <c:v>-0.4036865234375</c:v>
              </c:pt>
              <c:pt idx="16">
                <c:v>-0.4244515555245414</c:v>
              </c:pt>
              <c:pt idx="17">
                <c:v>0</c:v>
              </c:pt>
              <c:pt idx="18">
                <c:v>0</c:v>
              </c:pt>
              <c:pt idx="19">
                <c:v>-0.3768441336495414</c:v>
              </c:pt>
              <c:pt idx="20">
                <c:v>-0.4018423897879302</c:v>
              </c:pt>
              <c:pt idx="21">
                <c:v>-0.03975132533483361</c:v>
              </c:pt>
              <c:pt idx="22">
                <c:v>0</c:v>
              </c:pt>
              <c:pt idx="23">
                <c:v>-0.3576834542410552</c:v>
              </c:pt>
              <c:pt idx="24">
                <c:v>-0.4163774762834862</c:v>
              </c:pt>
              <c:pt idx="25">
                <c:v>-0.014556884765625</c:v>
              </c:pt>
              <c:pt idx="26">
                <c:v>0.012451171875</c:v>
              </c:pt>
              <c:pt idx="27">
                <c:v>0</c:v>
              </c:pt>
              <c:pt idx="28">
                <c:v>-0.4475010463169724</c:v>
              </c:pt>
              <c:pt idx="29">
                <c:v>-0.4424700055803612</c:v>
              </c:pt>
              <c:pt idx="30">
                <c:v>0.04420253208704139</c:v>
              </c:pt>
              <c:pt idx="31">
                <c:v>0.06489780970983361</c:v>
              </c:pt>
              <c:pt idx="32">
                <c:v>-0.4214739118303612</c:v>
              </c:pt>
              <c:pt idx="33">
                <c:v>-0.41204833984375</c:v>
              </c:pt>
              <c:pt idx="34">
                <c:v>0</c:v>
              </c:pt>
              <c:pt idx="35">
                <c:v>0</c:v>
              </c:pt>
              <c:pt idx="36">
                <c:v>-0.4158891950334862</c:v>
              </c:pt>
              <c:pt idx="37">
                <c:v>-0.4367762974330276</c:v>
              </c:pt>
              <c:pt idx="38">
                <c:v>0.032479422433056016</c:v>
              </c:pt>
              <c:pt idx="39">
                <c:v>0</c:v>
              </c:pt>
              <c:pt idx="40">
                <c:v>-0.4085824148995414</c:v>
              </c:pt>
              <c:pt idx="41">
                <c:v>-0.41741943359375</c:v>
              </c:pt>
              <c:pt idx="42">
                <c:v>0.00837489536829139</c:v>
              </c:pt>
              <c:pt idx="43">
                <c:v>0.043587820870527594</c:v>
              </c:pt>
              <c:pt idx="44">
                <c:v>-0.4385419573102638</c:v>
              </c:pt>
              <c:pt idx="45">
                <c:v>-0.466949462890625</c:v>
              </c:pt>
              <c:pt idx="46">
                <c:v>0.02656773158483361</c:v>
              </c:pt>
              <c:pt idx="47">
                <c:v>0.022059849330361203</c:v>
              </c:pt>
              <c:pt idx="48">
                <c:v>-0.383767264229931</c:v>
              </c:pt>
              <c:pt idx="49">
                <c:v>-0.3860081263950974</c:v>
              </c:pt>
              <c:pt idx="50">
                <c:v>0.016998291015625</c:v>
              </c:pt>
              <c:pt idx="51">
                <c:v>0</c:v>
              </c:pt>
              <c:pt idx="52">
                <c:v>0</c:v>
              </c:pt>
              <c:pt idx="53">
                <c:v>-0.4302542550223336</c:v>
              </c:pt>
              <c:pt idx="54">
                <c:v>-0.4677603585379586</c:v>
              </c:pt>
              <c:pt idx="55">
                <c:v>0.003169468470986203</c:v>
              </c:pt>
              <c:pt idx="56">
                <c:v>0</c:v>
              </c:pt>
              <c:pt idx="57">
                <c:v>-0.3912833077566802</c:v>
              </c:pt>
              <c:pt idx="58">
                <c:v>-0.39068603515625</c:v>
              </c:pt>
              <c:pt idx="59">
                <c:v>0.02470179966516639</c:v>
              </c:pt>
              <c:pt idx="60">
                <c:v>0</c:v>
              </c:pt>
            </c:numLit>
          </c:val>
        </c:ser>
        <c:ser>
          <c:idx val="1"/>
          <c:order val="1"/>
          <c:tx>
            <c:v>Green delta</c:v>
          </c:tx>
          <c:spPr>
            <a:ln xmlns:a="http://schemas.openxmlformats.org/drawingml/2006/main" w="19050">
              <a:solidFill>
                <a:srgbClr val="2B8A3E"/>
              </a:solidFill>
              <a:prstDash val="solid"/>
            </a:ln>
          </c:spPr>
          <c:marker>
            <c:symbol val="none"/>
          </c:marker>
          <c:cat>
            <c:numLit>
              <c:formatCode>General</c:formatCode>
              <c:ptCount val="61"/>
              <c:pt idx="0">
                <c:v>0.0</c:v>
              </c:pt>
              <c:pt idx="1">
                <c:v>0.2</c:v>
              </c:pt>
              <c:pt idx="2">
                <c:v>0.4</c:v>
              </c:pt>
              <c:pt idx="3">
                <c:v>0.6</c:v>
              </c:pt>
              <c:pt idx="4">
                <c:v>0.8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numLit>
          </c:cat>
          <c:val>
            <c:numLit>
              <c:formatCode>General</c:formatCode>
              <c:ptCount val="61"/>
              <c:pt idx="0">
                <c:v>0</c:v>
              </c:pt>
              <c:pt idx="1">
                <c:v>0</c:v>
              </c:pt>
              <c:pt idx="2">
                <c:v>0</c:v>
              </c:pt>
              <c:pt idx="3">
                <c:v>-0.7834385463169582</c:v>
              </c:pt>
              <c:pt idx="4">
                <c:v>-0.7651454380580418</c:v>
              </c:pt>
              <c:pt idx="5">
                <c:v>0</c:v>
              </c:pt>
              <c:pt idx="6">
                <c:v>0</c:v>
              </c:pt>
              <c:pt idx="7">
                <c:v>-0.7222769601004444</c:v>
              </c:pt>
              <c:pt idx="8">
                <c:v>-0.7588457380022362</c:v>
              </c:pt>
              <c:pt idx="9">
                <c:v>-0.1352146693638332</c:v>
              </c:pt>
              <c:pt idx="10">
                <c:v>0</c:v>
              </c:pt>
              <c:pt idx="11">
                <c:v>-0.6310817173549168</c:v>
              </c:pt>
              <c:pt idx="12">
                <c:v>-0.7615182059151806</c:v>
              </c:pt>
              <c:pt idx="13">
                <c:v>-0.1375340053013332</c:v>
              </c:pt>
              <c:pt idx="14">
                <c:v>-0.056435721261166805</c:v>
              </c:pt>
              <c:pt idx="15">
                <c:v>-0.6294032505580418</c:v>
              </c:pt>
              <c:pt idx="16">
                <c:v>-0.7135358537946388</c:v>
              </c:pt>
              <c:pt idx="17">
                <c:v>0</c:v>
              </c:pt>
              <c:pt idx="18">
                <c:v>0</c:v>
              </c:pt>
              <c:pt idx="19">
                <c:v>-0.6155831473214164</c:v>
              </c:pt>
              <c:pt idx="20">
                <c:v>-0.7376970563616112</c:v>
              </c:pt>
              <c:pt idx="21">
                <c:v>-0.2380022321428612</c:v>
              </c:pt>
              <c:pt idx="22">
                <c:v>0</c:v>
              </c:pt>
              <c:pt idx="23">
                <c:v>-0.4849897112165138</c:v>
              </c:pt>
              <c:pt idx="24">
                <c:v>-0.7569754464285694</c:v>
              </c:pt>
              <c:pt idx="25">
                <c:v>-0.2654811314174168</c:v>
              </c:pt>
              <c:pt idx="26">
                <c:v>-0.07031685965402801</c:v>
              </c:pt>
              <c:pt idx="27">
                <c:v>0</c:v>
              </c:pt>
              <c:pt idx="28">
                <c:v>-0.6883980887276806</c:v>
              </c:pt>
              <c:pt idx="29">
                <c:v>-0.7244480678013332</c:v>
              </c:pt>
              <c:pt idx="30">
                <c:v>-0.04806082589284699</c:v>
              </c:pt>
              <c:pt idx="31">
                <c:v>-0.0322701590401806</c:v>
              </c:pt>
              <c:pt idx="32">
                <c:v>-0.7096470424107082</c:v>
              </c:pt>
              <c:pt idx="33">
                <c:v>-0.7142987932477638</c:v>
              </c:pt>
              <c:pt idx="34">
                <c:v>0</c:v>
              </c:pt>
              <c:pt idx="35">
                <c:v>0</c:v>
              </c:pt>
              <c:pt idx="36">
                <c:v>-0.7640773228236668</c:v>
              </c:pt>
              <c:pt idx="37">
                <c:v>-0.7662484305245414</c:v>
              </c:pt>
              <c:pt idx="38">
                <c:v>-0.187774658203125</c:v>
              </c:pt>
              <c:pt idx="39">
                <c:v>0</c:v>
              </c:pt>
              <c:pt idx="40">
                <c:v>-0.627349853515625</c:v>
              </c:pt>
              <c:pt idx="41">
                <c:v>-0.7471051897321388</c:v>
              </c:pt>
              <c:pt idx="42">
                <c:v>-0.1837942940848194</c:v>
              </c:pt>
              <c:pt idx="43">
                <c:v>-0.06387765066965301</c:v>
              </c:pt>
              <c:pt idx="44">
                <c:v>-0.538508823939722</c:v>
              </c:pt>
              <c:pt idx="45">
                <c:v>-0.67822265625</c:v>
              </c:pt>
              <c:pt idx="46">
                <c:v>-0.232121058872778</c:v>
              </c:pt>
              <c:pt idx="47">
                <c:v>-0.124053955078125</c:v>
              </c:pt>
              <c:pt idx="48">
                <c:v>-0.7782941545758888</c:v>
              </c:pt>
              <c:pt idx="49">
                <c:v>-0.7961556570870556</c:v>
              </c:pt>
              <c:pt idx="50">
                <c:v>-0.153228759765625</c:v>
              </c:pt>
              <c:pt idx="51">
                <c:v>0</c:v>
              </c:pt>
              <c:pt idx="52">
                <c:v>0</c:v>
              </c:pt>
              <c:pt idx="53">
                <c:v>-0.7846897670200974</c:v>
              </c:pt>
              <c:pt idx="54">
                <c:v>-0.784580775669653</c:v>
              </c:pt>
              <c:pt idx="55">
                <c:v>-0.087921142578125</c:v>
              </c:pt>
              <c:pt idx="56">
                <c:v>0</c:v>
              </c:pt>
              <c:pt idx="57">
                <c:v>-0.6194370814732082</c:v>
              </c:pt>
              <c:pt idx="58">
                <c:v>-0.7602364676339306</c:v>
              </c:pt>
              <c:pt idx="59">
                <c:v>-0.0968584333147362</c:v>
              </c:pt>
              <c:pt idx="60">
                <c:v>0</c:v>
              </c:pt>
            </c:numLit>
          </c:val>
        </c:ser>
        <c:ser>
          <c:idx val="2"/>
          <c:order val="2"/>
          <c:tx>
            <c:v>Blue delta</c:v>
          </c:tx>
          <c:spPr>
            <a:ln xmlns:a="http://schemas.openxmlformats.org/drawingml/2006/main" w="19050">
              <a:solidFill>
                <a:srgbClr val="2F6BFF"/>
              </a:solidFill>
              <a:prstDash val="solid"/>
            </a:ln>
          </c:spPr>
          <c:marker>
            <c:symbol val="none"/>
          </c:marker>
          <c:cat>
            <c:numLit>
              <c:formatCode>General</c:formatCode>
              <c:ptCount val="61"/>
              <c:pt idx="0">
                <c:v>0.0</c:v>
              </c:pt>
              <c:pt idx="1">
                <c:v>0.2</c:v>
              </c:pt>
              <c:pt idx="2">
                <c:v>0.4</c:v>
              </c:pt>
              <c:pt idx="3">
                <c:v>0.6</c:v>
              </c:pt>
              <c:pt idx="4">
                <c:v>0.8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numLit>
          </c:cat>
          <c:val>
            <c:numLit>
              <c:formatCode>General</c:formatCode>
              <c:ptCount val="61"/>
              <c:pt idx="0">
                <c:v>0</c:v>
              </c:pt>
              <c:pt idx="1">
                <c:v>0</c:v>
              </c:pt>
              <c:pt idx="2">
                <c:v>0</c:v>
              </c:pt>
              <c:pt idx="3">
                <c:v>0.4245256696428612</c:v>
              </c:pt>
              <c:pt idx="4">
                <c:v>0.374424525669653</c:v>
              </c:pt>
              <c:pt idx="5">
                <c:v>0</c:v>
              </c:pt>
              <c:pt idx="6">
                <c:v>0</c:v>
              </c:pt>
              <c:pt idx="7">
                <c:v>0.1763741629464306</c:v>
              </c:pt>
              <c:pt idx="8">
                <c:v>0.4195469447544582</c:v>
              </c:pt>
              <c:pt idx="9">
                <c:v>0.3387058803013332</c:v>
              </c:pt>
              <c:pt idx="10">
                <c:v>0</c:v>
              </c:pt>
              <c:pt idx="11">
                <c:v>0.2032209123883888</c:v>
              </c:pt>
              <c:pt idx="12">
                <c:v>0.449676513671875</c:v>
              </c:pt>
              <c:pt idx="13">
                <c:v>0.3600812639508888</c:v>
              </c:pt>
              <c:pt idx="14">
                <c:v>0.2743704659598194</c:v>
              </c:pt>
              <c:pt idx="15">
                <c:v>0.2025844029017918</c:v>
              </c:pt>
              <c:pt idx="16">
                <c:v>0.338134765625</c:v>
              </c:pt>
              <c:pt idx="17">
                <c:v>0</c:v>
              </c:pt>
              <c:pt idx="18">
                <c:v>0</c:v>
              </c:pt>
              <c:pt idx="19">
                <c:v>0.0983668736049026</c:v>
              </c:pt>
              <c:pt idx="20">
                <c:v>0.4485604422433056</c:v>
              </c:pt>
              <c:pt idx="21">
                <c:v>0.4308253696986668</c:v>
              </c:pt>
              <c:pt idx="22">
                <c:v>0</c:v>
              </c:pt>
              <c:pt idx="23">
                <c:v>0.1352103097098194</c:v>
              </c:pt>
              <c:pt idx="24">
                <c:v>0.4003470284598194</c:v>
              </c:pt>
              <c:pt idx="25">
                <c:v>0.4747270856584862</c:v>
              </c:pt>
              <c:pt idx="26">
                <c:v>0.329616001674097</c:v>
              </c:pt>
              <c:pt idx="27">
                <c:v>0</c:v>
              </c:pt>
              <c:pt idx="28">
                <c:v>0.2153363909040138</c:v>
              </c:pt>
              <c:pt idx="29">
                <c:v>0.4968479701450974</c:v>
              </c:pt>
              <c:pt idx="30">
                <c:v>0.2441493443080418</c:v>
              </c:pt>
              <c:pt idx="31">
                <c:v>0.1488255092075974</c:v>
              </c:pt>
              <c:pt idx="32">
                <c:v>0.210784912109375</c:v>
              </c:pt>
              <c:pt idx="33">
                <c:v>0.324650355747778</c:v>
              </c:pt>
              <c:pt idx="34">
                <c:v>0</c:v>
              </c:pt>
              <c:pt idx="35">
                <c:v>0</c:v>
              </c:pt>
              <c:pt idx="36">
                <c:v>0.4257420131138474</c:v>
              </c:pt>
              <c:pt idx="37">
                <c:v>0.4450160435267776</c:v>
              </c:pt>
              <c:pt idx="38">
                <c:v>0.4252493722098194</c:v>
              </c:pt>
              <c:pt idx="39">
                <c:v>0</c:v>
              </c:pt>
              <c:pt idx="40">
                <c:v>0.11968994140625</c:v>
              </c:pt>
              <c:pt idx="41">
                <c:v>0.3784266880580418</c:v>
              </c:pt>
              <c:pt idx="42">
                <c:v>0.4236493791852638</c:v>
              </c:pt>
              <c:pt idx="43">
                <c:v>0.2369820731026806</c:v>
              </c:pt>
              <c:pt idx="44">
                <c:v>0.0337088448660694</c:v>
              </c:pt>
              <c:pt idx="45">
                <c:v>0.174774169921875</c:v>
              </c:pt>
              <c:pt idx="46">
                <c:v>0.4495195661272362</c:v>
              </c:pt>
              <c:pt idx="47">
                <c:v>0.1924307686941944</c:v>
              </c:pt>
              <c:pt idx="48">
                <c:v>0.3893040248325974</c:v>
              </c:pt>
              <c:pt idx="49">
                <c:v>0.4510018484933056</c:v>
              </c:pt>
              <c:pt idx="50">
                <c:v>0.2525547572544724</c:v>
              </c:pt>
              <c:pt idx="51">
                <c:v>0</c:v>
              </c:pt>
              <c:pt idx="52">
                <c:v>0</c:v>
              </c:pt>
              <c:pt idx="53">
                <c:v>0.4493756975446388</c:v>
              </c:pt>
              <c:pt idx="54">
                <c:v>0.3855024065290138</c:v>
              </c:pt>
              <c:pt idx="55">
                <c:v>0.2458060128348194</c:v>
              </c:pt>
              <c:pt idx="56">
                <c:v>0</c:v>
              </c:pt>
              <c:pt idx="57">
                <c:v>0.2301810128348194</c:v>
              </c:pt>
              <c:pt idx="58">
                <c:v>0.3696681431361668</c:v>
              </c:pt>
              <c:pt idx="59">
                <c:v>0.259159633091528</c:v>
              </c:pt>
              <c:pt idx="60">
                <c:v>0</c:v>
              </c:pt>
            </c:numLit>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0 to 12 seconds</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majorGridlines>
          <c:spPr>
            <a:ln xmlns:a="http://schemas.openxmlformats.org/drawingml/2006/main" w="9525">
              <a:solidFill>
                <a:srgbClr val="D9E2EC"/>
              </a:solidFill>
              <a:prstDash val="solid"/>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Modified minus control</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5.xml><?xml version="1.0" encoding="utf-8"?>
<c:chartSpace xmlns:c="http://schemas.openxmlformats.org/drawingml/2006/chart">
  <c:lang val="en-US"/>
  <c:chart>
    <c:plotArea>
      <c:barChart>
        <c:barDir val="col"/>
        <c:grouping val="clustered"/>
        <c:varyColors val="0"/>
        <c:ser>
          <c:idx val="0"/>
          <c:order val="0"/>
          <c:tx>
            <c:v>A=1 attack</c:v>
          </c:tx>
          <c:spPr>
            <a:solidFill xmlns:a="http://schemas.openxmlformats.org/drawingml/2006/main">
              <a:srgbClr val="E67E22"/>
            </a:solidFill>
          </c:spPr>
          <c:invertIfNegative val="0"/>
          <c:cat>
            <c:strLit>
              <c:ptCount val="3"/>
              <c:pt idx="0">
                <c:v>Red</c:v>
              </c:pt>
              <c:pt idx="1">
                <c:v>Green</c:v>
              </c:pt>
              <c:pt idx="2">
                <c:v>Blue</c:v>
              </c:pt>
            </c:strLit>
          </c:cat>
          <c:val>
            <c:numLit>
              <c:formatCode>0.0</c:formatCode>
              <c:ptCount val="3"/>
              <c:pt idx="0">
                <c:v>0.9456918104760784</c:v>
              </c:pt>
              <c:pt idx="1">
                <c:v>0.9388008421856344</c:v>
              </c:pt>
              <c:pt idx="2">
                <c:v>0.6602763128284589</c:v>
              </c:pt>
            </c:numLit>
          </c:val>
        </c:ser>
        <c:ser>
          <c:idx val="1"/>
          <c:order val="1"/>
          <c:tx>
            <c:v>Neutral re-encode</c:v>
          </c:tx>
          <c:spPr>
            <a:solidFill xmlns:a="http://schemas.openxmlformats.org/drawingml/2006/main">
              <a:srgbClr val="627D98"/>
            </a:solidFill>
          </c:spPr>
          <c:invertIfNegative val="0"/>
          <c:cat>
            <c:strLit>
              <c:ptCount val="3"/>
              <c:pt idx="0">
                <c:v>Red</c:v>
              </c:pt>
              <c:pt idx="1">
                <c:v>Green</c:v>
              </c:pt>
              <c:pt idx="2">
                <c:v>Blue</c:v>
              </c:pt>
            </c:strLit>
          </c:cat>
          <c:val>
            <c:numLit>
              <c:formatCode>0.0</c:formatCode>
              <c:ptCount val="3"/>
              <c:pt idx="0">
                <c:v>0.2043617083266858</c:v>
              </c:pt>
              <c:pt idx="1">
                <c:v>0.1107587540702676</c:v>
              </c:pt>
              <c:pt idx="2">
                <c:v>0.0039781535791344</c:v>
              </c:pt>
            </c:numLit>
          </c:val>
        </c:ser>
        <c:dLbls>
          <c:txPr>
            <a:bodyPr xmlns:a="http://schemas.openxmlformats.org/drawingml/2006/main" anchorCtr="1"/>
            <a:lstStyle xmlns:a="http://schemas.openxmlformats.org/drawingml/2006/main"/>
            <a:p xmlns:a="http://schemas.openxmlformats.org/drawingml/2006/main">
              <a:pPr>
                <a:defRPr sz="900">
                  <a:solidFill>
                    <a:srgbClr val="243B53"/>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D9E2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6.xml><?xml version="1.0" encoding="utf-8"?>
<c:chartSpace xmlns:c="http://schemas.openxmlformats.org/drawingml/2006/chart">
  <c:lang val="en-US"/>
  <c:chart>
    <c:plotArea>
      <c:barChart>
        <c:barDir val="col"/>
        <c:grouping val="clustered"/>
        <c:varyColors val="0"/>
        <c:ser>
          <c:idx val="0"/>
          <c:order val="0"/>
          <c:tx>
            <c:v>A=1 attack</c:v>
          </c:tx>
          <c:spPr>
            <a:solidFill xmlns:a="http://schemas.openxmlformats.org/drawingml/2006/main">
              <a:srgbClr val="E67E22"/>
            </a:solidFill>
          </c:spPr>
          <c:invertIfNegative val="0"/>
          <c:cat>
            <c:strLit>
              <c:ptCount val="4"/>
              <c:pt idx="0">
                <c:v>Original</c:v>
              </c:pt>
              <c:pt idx="1">
                <c:v>H.264 CRF 35</c:v>
              </c:pt>
              <c:pt idx="2">
                <c:v>256×224</c:v>
              </c:pt>
              <c:pt idx="3">
                <c:v>15 FPS</c:v>
              </c:pt>
            </c:strLit>
          </c:cat>
          <c:val>
            <c:numLit>
              <c:formatCode>0.0</c:formatCode>
              <c:ptCount val="4"/>
              <c:pt idx="0">
                <c:v>0.9456918104760784</c:v>
              </c:pt>
              <c:pt idx="1">
                <c:v>0.3672345169718491</c:v>
              </c:pt>
              <c:pt idx="2">
                <c:v>0.7997830616915408</c:v>
              </c:pt>
              <c:pt idx="3">
                <c:v>0.8732771056326861</c:v>
              </c:pt>
            </c:numLit>
          </c:val>
        </c:ser>
        <c:ser>
          <c:idx val="1"/>
          <c:order val="1"/>
          <c:tx>
            <c:v>Neutral re-encode</c:v>
          </c:tx>
          <c:spPr>
            <a:solidFill xmlns:a="http://schemas.openxmlformats.org/drawingml/2006/main">
              <a:srgbClr val="627D98"/>
            </a:solidFill>
          </c:spPr>
          <c:invertIfNegative val="0"/>
          <c:cat>
            <c:strLit>
              <c:ptCount val="4"/>
              <c:pt idx="0">
                <c:v>Original</c:v>
              </c:pt>
              <c:pt idx="1">
                <c:v>H.264 CRF 35</c:v>
              </c:pt>
              <c:pt idx="2">
                <c:v>256×224</c:v>
              </c:pt>
              <c:pt idx="3">
                <c:v>15 FPS</c:v>
              </c:pt>
            </c:strLit>
          </c:cat>
          <c:val>
            <c:numLit>
              <c:formatCode>0.0</c:formatCode>
              <c:ptCount val="4"/>
              <c:pt idx="0">
                <c:v>0.2043617083266858</c:v>
              </c:pt>
              <c:pt idx="1">
                <c:v>0.0434662282960078</c:v>
              </c:pt>
              <c:pt idx="2">
                <c:v>0.1272925039622935</c:v>
              </c:pt>
              <c:pt idx="3">
                <c:v>0.0418589577497892</c:v>
              </c:pt>
            </c:numLit>
          </c:val>
        </c:ser>
        <c:dLbls>
          <c:txPr>
            <a:bodyPr xmlns:a="http://schemas.openxmlformats.org/drawingml/2006/main" anchorCtr="1"/>
            <a:lstStyle xmlns:a="http://schemas.openxmlformats.org/drawingml/2006/main"/>
            <a:p xmlns:a="http://schemas.openxmlformats.org/drawingml/2006/main">
              <a:pPr>
                <a:defRPr sz="975" b="1">
                  <a:solidFill>
                    <a:srgbClr val="243B53"/>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5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D9E2EC"/>
              </a:solidFill>
              <a:prstDash val="solid"/>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Red energy fraction near 1.2 Hz</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79E0341-1400-4D3A-8C2E-5A124F743BC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159E9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7B9685A-9978-4C55-A869-ACCE6BDD6B5E}"/>
              </a:ext>
            </a:extLst>
          </p:cNvPr>
          <p:cNvSpPr>
            <a:spLocks xmlns:a="http://schemas.openxmlformats.org/drawingml/2006/main" noGrp="1"/>
          </p:cNvSpPr>
          <p:nvPr/>
        </p:nvSpPr>
        <p:spPr>
          <a:xfrm xmlns:a="http://schemas.openxmlformats.org/drawingml/2006/main">
            <a:off x="781050" y="1285875"/>
            <a:ext cx="1028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4050" b="1">
                <a:solidFill>
                  <a:srgbClr val="FFFFFF"/>
                </a:solidFill>
                <a:latin typeface="Helvetica Neue"/>
                <a:ea typeface="Helvetica Neue"/>
                <a:cs typeface="Helvetica Neue"/>
              </a:defRPr>
            </a:defPPr>
          </a:lstStyle>
          <a:p xmlns:a="http://schemas.openxmlformats.org/drawingml/2006/main">
            <a:pPr algn="l">
              <a:buNone/>
              <a:defRPr sz="4050" b="1">
                <a:solidFill>
                  <a:srgbClr val="FFFFFF"/>
                </a:solidFill>
                <a:latin typeface="Helvetica Neue"/>
                <a:ea typeface="Helvetica Neue"/>
                <a:cs typeface="Helvetica Neue"/>
              </a:defRPr>
            </a:pPr>
            <a:r>
              <a:rPr sz="4050" b="1">
                <a:solidFill>
                  <a:srgbClr val="FFFFFF"/>
                </a:solidFill>
                <a:latin typeface="Helvetica Neue"/>
                <a:ea typeface="Helvetica Neue"/>
                <a:cs typeface="Helvetica Neue"/>
              </a:rPr>
              <a:t>Context Matters</a:t>
            </a:r>
          </a:p>
        </p:txBody>
      </p:sp>
      <p:sp>
        <p:nvSpPr>
          <p:cNvPr id="3" name="">
            <a:extLst xmlns:a="http://schemas.openxmlformats.org/drawingml/2006/main">
              <a:ext uri="{FF2B5EF4-FFF2-40B4-BE49-F238E27FC236}">
                <a16:creationId xmlns:a16="http://schemas.microsoft.com/office/drawing/2014/main" id="{E3D137E4-3161-4FDD-88F4-5B76F77AF022}"/>
              </a:ext>
            </a:extLst>
          </p:cNvPr>
          <p:cNvSpPr>
            <a:spLocks xmlns:a="http://schemas.openxmlformats.org/drawingml/2006/main" noGrp="1"/>
          </p:cNvSpPr>
          <p:nvPr/>
        </p:nvSpPr>
        <p:spPr>
          <a:xfrm xmlns:a="http://schemas.openxmlformats.org/drawingml/2006/main">
            <a:off x="800100" y="2066925"/>
            <a:ext cx="971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250" b="0">
                <a:solidFill>
                  <a:srgbClr val="D9E8F5"/>
                </a:solidFill>
                <a:latin typeface="Helvetica Neue"/>
                <a:ea typeface="Helvetica Neue"/>
                <a:cs typeface="Helvetica Neue"/>
              </a:defRPr>
            </a:defPPr>
          </a:lstStyle>
          <a:p xmlns:a="http://schemas.openxmlformats.org/drawingml/2006/main">
            <a:pPr algn="l">
              <a:buNone/>
              <a:defRPr sz="2250" b="0">
                <a:solidFill>
                  <a:srgbClr val="D9E8F5"/>
                </a:solidFill>
                <a:latin typeface="Helvetica Neue"/>
                <a:ea typeface="Helvetica Neue"/>
                <a:cs typeface="Helvetica Neue"/>
              </a:defRPr>
            </a:pPr>
            <a:r>
              <a:rPr sz="2250" b="0">
                <a:solidFill>
                  <a:srgbClr val="D9E8F5"/>
                </a:solidFill>
                <a:latin typeface="Helvetica Neue"/>
                <a:ea typeface="Helvetica Neue"/>
                <a:cs typeface="Helvetica Neue"/>
              </a:rPr>
              <a:t>Two defensive signals for speech-to-face deepfakes</a:t>
            </a:r>
          </a:p>
        </p:txBody>
      </p:sp>
      <p:sp>
        <p:nvSpPr>
          <p:cNvPr id="4" name="">
            <a:extLst xmlns:a="http://schemas.openxmlformats.org/drawingml/2006/main">
              <a:ext uri="{FF2B5EF4-FFF2-40B4-BE49-F238E27FC236}">
                <a16:creationId xmlns:a16="http://schemas.microsoft.com/office/drawing/2014/main" id="{73FC4BC6-5E57-4DFB-9316-D694BF4F0419}"/>
              </a:ext>
            </a:extLst>
          </p:cNvPr>
          <p:cNvSpPr>
            <a:spLocks xmlns:a="http://schemas.openxmlformats.org/drawingml/2006/main" noGrp="1"/>
          </p:cNvSpPr>
          <p:nvPr/>
        </p:nvSpPr>
        <p:spPr>
          <a:xfrm xmlns:a="http://schemas.openxmlformats.org/drawingml/2006/main">
            <a:off x="800100" y="2962275"/>
            <a:ext cx="7810500" cy="28575"/>
          </a:xfrm>
          <a:prstGeom xmlns:a="http://schemas.openxmlformats.org/drawingml/2006/main" prst="rect">
            <a:avLst/>
          </a:prstGeom>
          <a:solidFill xmlns:a="http://schemas.openxmlformats.org/drawingml/2006/main">
            <a:srgbClr val="159E9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C8D68B2-2AE5-4DD0-8D01-1C3039EA94F8}"/>
              </a:ext>
            </a:extLst>
          </p:cNvPr>
          <p:cNvSpPr>
            <a:spLocks xmlns:a="http://schemas.openxmlformats.org/drawingml/2006/main" noGrp="1"/>
          </p:cNvSpPr>
          <p:nvPr/>
        </p:nvSpPr>
        <p:spPr>
          <a:xfrm xmlns:a="http://schemas.openxmlformats.org/drawingml/2006/main">
            <a:off x="800100" y="3286125"/>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725" b="1">
                <a:solidFill>
                  <a:srgbClr val="FFFFFF"/>
                </a:solidFill>
                <a:latin typeface="Helvetica Neue"/>
                <a:ea typeface="Helvetica Neue"/>
                <a:cs typeface="Helvetica Neue"/>
              </a:defRPr>
            </a:defPPr>
          </a:lstStyle>
          <a:p xmlns:a="http://schemas.openxmlformats.org/drawingml/2006/main">
            <a:pPr algn="l">
              <a:buNone/>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Matched lip dynamics with phone ablation</a:t>
            </a:r>
          </a:p>
        </p:txBody>
      </p:sp>
      <p:sp>
        <p:nvSpPr>
          <p:cNvPr id="6" name="">
            <a:extLst xmlns:a="http://schemas.openxmlformats.org/drawingml/2006/main">
              <a:ext uri="{FF2B5EF4-FFF2-40B4-BE49-F238E27FC236}">
                <a16:creationId xmlns:a16="http://schemas.microsoft.com/office/drawing/2014/main" id="{21A989EA-4ECD-43C2-BEAA-DFB9E1CD4A38}"/>
              </a:ext>
            </a:extLst>
          </p:cNvPr>
          <p:cNvSpPr>
            <a:spLocks xmlns:a="http://schemas.openxmlformats.org/drawingml/2006/main" noGrp="1"/>
          </p:cNvSpPr>
          <p:nvPr/>
        </p:nvSpPr>
        <p:spPr>
          <a:xfrm xmlns:a="http://schemas.openxmlformats.org/drawingml/2006/main">
            <a:off x="800100" y="3781425"/>
            <a:ext cx="628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725" b="1">
                <a:solidFill>
                  <a:srgbClr val="FFFFFF"/>
                </a:solidFill>
                <a:latin typeface="Helvetica Neue"/>
                <a:ea typeface="Helvetica Neue"/>
                <a:cs typeface="Helvetica Neue"/>
              </a:defRPr>
            </a:defPPr>
          </a:lstStyle>
          <a:p xmlns:a="http://schemas.openxmlformats.org/drawingml/2006/main">
            <a:pPr algn="l">
              <a:buNone/>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Periodic chromatic traces from rPPG evasion</a:t>
            </a:r>
          </a:p>
        </p:txBody>
      </p:sp>
      <p:sp>
        <p:nvSpPr>
          <p:cNvPr id="7" name="">
            <a:extLst xmlns:a="http://schemas.openxmlformats.org/drawingml/2006/main">
              <a:ext uri="{FF2B5EF4-FFF2-40B4-BE49-F238E27FC236}">
                <a16:creationId xmlns:a16="http://schemas.microsoft.com/office/drawing/2014/main" id="{EFA709CD-6351-4B3F-B664-81CD581DED74}"/>
              </a:ext>
            </a:extLst>
          </p:cNvPr>
          <p:cNvSpPr>
            <a:spLocks xmlns:a="http://schemas.openxmlformats.org/drawingml/2006/main" noGrp="1"/>
          </p:cNvSpPr>
          <p:nvPr/>
        </p:nvSpPr>
        <p:spPr>
          <a:xfrm xmlns:a="http://schemas.openxmlformats.org/drawingml/2006/main">
            <a:off x="800100" y="514350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59E9C"/>
                </a:solidFill>
                <a:latin typeface="Helvetica Neue"/>
                <a:ea typeface="Helvetica Neue"/>
                <a:cs typeface="Helvetica Neue"/>
              </a:defRPr>
            </a:defPPr>
          </a:lstStyle>
          <a:p xmlns:a="http://schemas.openxmlformats.org/drawingml/2006/main">
            <a:pPr algn="l">
              <a:buNone/>
              <a:defRPr sz="1650" b="1">
                <a:solidFill>
                  <a:srgbClr val="159E9C"/>
                </a:solidFill>
                <a:latin typeface="Helvetica Neue"/>
                <a:ea typeface="Helvetica Neue"/>
                <a:cs typeface="Helvetica Neue"/>
              </a:defRPr>
            </a:pPr>
            <a:r>
              <a:rPr sz="1650" b="1">
                <a:solidFill>
                  <a:srgbClr val="159E9C"/>
                </a:solidFill>
                <a:latin typeface="Helvetica Neue"/>
                <a:ea typeface="Helvetica Neue"/>
                <a:cs typeface="Helvetica Neue"/>
              </a:rPr>
              <a:t>Light.Ningyizhuo_No.1</a:t>
            </a:r>
          </a:p>
        </p:txBody>
      </p:sp>
      <p:sp>
        <p:nvSpPr>
          <p:cNvPr id="8" name="">
            <a:extLst xmlns:a="http://schemas.openxmlformats.org/drawingml/2006/main">
              <a:ext uri="{FF2B5EF4-FFF2-40B4-BE49-F238E27FC236}">
                <a16:creationId xmlns:a16="http://schemas.microsoft.com/office/drawing/2014/main" id="{63E2EAA7-7B2E-4FDF-A2F7-43837AB0800A}"/>
              </a:ext>
            </a:extLst>
          </p:cNvPr>
          <p:cNvSpPr>
            <a:spLocks xmlns:a="http://schemas.openxmlformats.org/drawingml/2006/main" noGrp="1"/>
          </p:cNvSpPr>
          <p:nvPr/>
        </p:nvSpPr>
        <p:spPr>
          <a:xfrm xmlns:a="http://schemas.openxmlformats.org/drawingml/2006/main">
            <a:off x="800100" y="5524500"/>
            <a:ext cx="533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0">
                <a:solidFill>
                  <a:srgbClr val="FFFFFF"/>
                </a:solidFill>
                <a:latin typeface="Helvetica Neue"/>
                <a:ea typeface="Helvetica Neue"/>
                <a:cs typeface="Helvetica Neue"/>
              </a:defRPr>
            </a:defPPr>
          </a:lstStyle>
          <a:p xmlns:a="http://schemas.openxmlformats.org/drawingml/2006/main">
            <a:pPr algn="l">
              <a:buNone/>
              <a:defRPr sz="1500" b="0">
                <a:solidFill>
                  <a:srgbClr val="FFFFFF"/>
                </a:solidFill>
                <a:latin typeface="Helvetica Neue"/>
                <a:ea typeface="Helvetica Neue"/>
                <a:cs typeface="Helvetica Neue"/>
              </a:defRPr>
            </a:pPr>
            <a:r>
              <a:rPr sz="1500" b="0">
                <a:solidFill>
                  <a:srgbClr val="FFFFFF"/>
                </a:solidFill>
                <a:latin typeface="Helvetica Neue"/>
                <a:ea typeface="Helvetica Neue"/>
                <a:cs typeface="Helvetica Neue"/>
              </a:rPr>
              <a:t>Yan Zhiheng  |  He Hongjie</a:t>
            </a:r>
          </a:p>
        </p:txBody>
      </p:sp>
      <p:sp>
        <p:nvSpPr>
          <p:cNvPr id="9" name="">
            <a:extLst xmlns:a="http://schemas.openxmlformats.org/drawingml/2006/main">
              <a:ext uri="{FF2B5EF4-FFF2-40B4-BE49-F238E27FC236}">
                <a16:creationId xmlns:a16="http://schemas.microsoft.com/office/drawing/2014/main" id="{E8A142B1-AE49-4237-A23A-AB802A416D6A}"/>
              </a:ext>
            </a:extLst>
          </p:cNvPr>
          <p:cNvSpPr>
            <a:spLocks xmlns:a="http://schemas.openxmlformats.org/drawingml/2006/main" noGrp="1"/>
          </p:cNvSpPr>
          <p:nvPr/>
        </p:nvSpPr>
        <p:spPr>
          <a:xfrm xmlns:a="http://schemas.openxmlformats.org/drawingml/2006/main">
            <a:off x="9048750" y="6096000"/>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125" b="0">
                <a:solidFill>
                  <a:srgbClr val="B7C9D9"/>
                </a:solidFill>
                <a:latin typeface="Helvetica Neue"/>
                <a:ea typeface="Helvetica Neue"/>
                <a:cs typeface="Helvetica Neue"/>
              </a:defRPr>
            </a:defPPr>
          </a:lstStyle>
          <a:p xmlns:a="http://schemas.openxmlformats.org/drawingml/2006/main">
            <a:pPr algn="r">
              <a:buNone/>
              <a:defRPr sz="1125" b="0">
                <a:solidFill>
                  <a:srgbClr val="B7C9D9"/>
                </a:solidFill>
                <a:latin typeface="Helvetica Neue"/>
                <a:ea typeface="Helvetica Neue"/>
                <a:cs typeface="Helvetica Neue"/>
              </a:defRPr>
            </a:pPr>
            <a:r>
              <a:rPr sz="1125" b="0">
                <a:solidFill>
                  <a:srgbClr val="B7C9D9"/>
                </a:solidFill>
                <a:latin typeface="Helvetica Neue"/>
                <a:ea typeface="Helvetica Neue"/>
                <a:cs typeface="Helvetica Neue"/>
              </a:rPr>
              <a:t>FIT5230 Milestone 3</a:t>
            </a:r>
          </a:p>
        </p:txBody>
      </p:sp>
    </p:spTree>
    <p:extLst>
      <p:ext uri="{BB962C8B-B14F-4D97-AF65-F5344CB8AC3E}">
        <p14:creationId xmlns:p14="http://schemas.microsoft.com/office/powerpoint/2010/main" val="67757640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C2D480E-F130-426A-A07A-C73228B0FCA2}"/>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stStyle>
          <a:p xmlns:a="http://schemas.openxmlformats.org/drawingml/2006/main">
            <a:pPr algn="l">
              <a:buNone/>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Progress since Milestone 2</a:t>
            </a:r>
          </a:p>
        </p:txBody>
      </p:sp>
      <p:sp>
        <p:nvSpPr>
          <p:cNvPr id="2" name="">
            <a:extLst xmlns:a="http://schemas.openxmlformats.org/drawingml/2006/main">
              <a:ext uri="{FF2B5EF4-FFF2-40B4-BE49-F238E27FC236}">
                <a16:creationId xmlns:a16="http://schemas.microsoft.com/office/drawing/2014/main" id="{9936774B-F542-40AD-96C4-2CA66371150E}"/>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stStyle>
          <a:p xmlns:a="http://schemas.openxmlformats.org/drawingml/2006/main">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04B5498D-3A27-4BA5-B6DC-6426E4D9BA57}"/>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C5CCABB-19AA-4352-A5C8-D2CF0E73DCCD}"/>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stStyle>
          <a:p xmlns:a="http://schemas.openxmlformats.org/drawingml/2006/main">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5A019207-D027-47EB-8C21-67684DBCE0F1}"/>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stStyle>
          <a:p xmlns:a="http://schemas.openxmlformats.org/drawingml/2006/main">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2/11</a:t>
            </a:r>
          </a:p>
        </p:txBody>
      </p:sp>
      <p:sp>
        <p:nvSpPr>
          <p:cNvPr id="6" name="">
            <a:extLst xmlns:a="http://schemas.openxmlformats.org/drawingml/2006/main">
              <a:ext uri="{FF2B5EF4-FFF2-40B4-BE49-F238E27FC236}">
                <a16:creationId xmlns:a16="http://schemas.microsoft.com/office/drawing/2014/main" id="{A9ADA1B2-8512-4858-9B1B-FB884F4D46A8}"/>
              </a:ext>
            </a:extLst>
          </p:cNvPr>
          <p:cNvSpPr>
            <a:spLocks xmlns:a="http://schemas.openxmlformats.org/drawingml/2006/main" noGrp="1"/>
          </p:cNvSpPr>
          <p:nvPr/>
        </p:nvSpPr>
        <p:spPr>
          <a:xfrm xmlns:a="http://schemas.openxmlformats.org/drawingml/2006/main">
            <a:off x="666750" y="1266825"/>
            <a:ext cx="104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627D98"/>
                </a:solidFill>
                <a:latin typeface="Helvetica Neue"/>
                <a:ea typeface="Helvetica Neue"/>
                <a:cs typeface="Helvetica Neue"/>
              </a:defRPr>
            </a:defPPr>
          </a:lstStyle>
          <a:p xmlns:a="http://schemas.openxmlformats.org/drawingml/2006/main">
            <a:pPr algn="l">
              <a:buNone/>
              <a:defRPr sz="2100" b="1">
                <a:solidFill>
                  <a:srgbClr val="627D98"/>
                </a:solidFill>
                <a:latin typeface="Helvetica Neue"/>
                <a:ea typeface="Helvetica Neue"/>
                <a:cs typeface="Helvetica Neue"/>
              </a:defRPr>
            </a:pPr>
            <a:r>
              <a:rPr sz="2100" b="1">
                <a:solidFill>
                  <a:srgbClr val="627D98"/>
                </a:solidFill>
                <a:latin typeface="Helvetica Neue"/>
                <a:ea typeface="Helvetica Neue"/>
                <a:cs typeface="Helvetica Neue"/>
              </a:rPr>
              <a:t>M2</a:t>
            </a:r>
          </a:p>
        </p:txBody>
      </p:sp>
      <p:sp>
        <p:nvSpPr>
          <p:cNvPr id="7" name="">
            <a:extLst xmlns:a="http://schemas.openxmlformats.org/drawingml/2006/main">
              <a:ext uri="{FF2B5EF4-FFF2-40B4-BE49-F238E27FC236}">
                <a16:creationId xmlns:a16="http://schemas.microsoft.com/office/drawing/2014/main" id="{BBB03599-873A-4515-9D03-5315BE89F908}"/>
              </a:ext>
            </a:extLst>
          </p:cNvPr>
          <p:cNvSpPr>
            <a:spLocks xmlns:a="http://schemas.openxmlformats.org/drawingml/2006/main" noGrp="1"/>
          </p:cNvSpPr>
          <p:nvPr/>
        </p:nvSpPr>
        <p:spPr>
          <a:xfrm xmlns:a="http://schemas.openxmlformats.org/drawingml/2006/main">
            <a:off x="6477000" y="1266825"/>
            <a:ext cx="104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F6BFF"/>
                </a:solidFill>
                <a:latin typeface="Helvetica Neue"/>
                <a:ea typeface="Helvetica Neue"/>
                <a:cs typeface="Helvetica Neue"/>
              </a:defRPr>
            </a:defPPr>
          </a:lstStyle>
          <a:p xmlns:a="http://schemas.openxmlformats.org/drawingml/2006/main">
            <a:pPr algn="l">
              <a:buNone/>
              <a:defRPr sz="2100" b="1">
                <a:solidFill>
                  <a:srgbClr val="2F6BFF"/>
                </a:solidFill>
                <a:latin typeface="Helvetica Neue"/>
                <a:ea typeface="Helvetica Neue"/>
                <a:cs typeface="Helvetica Neue"/>
              </a:defRPr>
            </a:pPr>
            <a:r>
              <a:rPr sz="2100" b="1">
                <a:solidFill>
                  <a:srgbClr val="2F6BFF"/>
                </a:solidFill>
                <a:latin typeface="Helvetica Neue"/>
                <a:ea typeface="Helvetica Neue"/>
                <a:cs typeface="Helvetica Neue"/>
              </a:rPr>
              <a:t>M3</a:t>
            </a:r>
          </a:p>
        </p:txBody>
      </p:sp>
      <p:sp>
        <p:nvSpPr>
          <p:cNvPr id="8" name="">
            <a:extLst xmlns:a="http://schemas.openxmlformats.org/drawingml/2006/main">
              <a:ext uri="{FF2B5EF4-FFF2-40B4-BE49-F238E27FC236}">
                <a16:creationId xmlns:a16="http://schemas.microsoft.com/office/drawing/2014/main" id="{CE5B3C5C-7A80-4E23-8739-96C07C17C959}"/>
              </a:ext>
            </a:extLst>
          </p:cNvPr>
          <p:cNvSpPr>
            <a:spLocks xmlns:a="http://schemas.openxmlformats.org/drawingml/2006/main" noGrp="1"/>
          </p:cNvSpPr>
          <p:nvPr/>
        </p:nvSpPr>
        <p:spPr>
          <a:xfrm xmlns:a="http://schemas.openxmlformats.org/drawingml/2006/main">
            <a:off x="5905500" y="1276350"/>
            <a:ext cx="0" cy="4572000"/>
          </a:xfrm>
          <a:prstGeom xmlns:a="http://schemas.openxmlformats.org/drawingml/2006/main" prst="line">
            <a:avLst/>
          </a:prstGeom>
          <a:noFill xmlns:a="http://schemas.openxmlformats.org/drawingml/2006/main"/>
          <a:ln xmlns:a="http://schemas.openxmlformats.org/drawingml/2006/main" w="19050">
            <a:solidFill>
              <a:srgbClr val="D9E2EC"/>
            </a:solidFill>
          </a:ln>
        </p:spPr>
      </p:sp>
      <p:sp>
        <p:nvSpPr>
          <p:cNvPr id="9" name="">
            <a:extLst xmlns:a="http://schemas.openxmlformats.org/drawingml/2006/main">
              <a:ext uri="{FF2B5EF4-FFF2-40B4-BE49-F238E27FC236}">
                <a16:creationId xmlns:a16="http://schemas.microsoft.com/office/drawing/2014/main" id="{20001812-CB98-40D5-9614-677CE35026E9}"/>
              </a:ext>
            </a:extLst>
          </p:cNvPr>
          <p:cNvSpPr>
            <a:spLocks xmlns:a="http://schemas.openxmlformats.org/drawingml/2006/main" noGrp="1"/>
          </p:cNvSpPr>
          <p:nvPr/>
        </p:nvSpPr>
        <p:spPr>
          <a:xfrm xmlns:a="http://schemas.openxmlformats.org/drawingml/2006/main">
            <a:off x="685800" y="1857375"/>
            <a:ext cx="4667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a:solidFill>
                  <a:srgbClr val="627D98"/>
                </a:solidFill>
                <a:latin typeface="Helvetica Neue"/>
                <a:ea typeface="Helvetica Neue"/>
                <a:cs typeface="Helvetica Neue"/>
              </a:defRPr>
            </a:defPPr>
          </a:lstStyle>
          <a:p xmlns:a="http://schemas.openxmlformats.org/drawingml/2006/main">
            <a:pPr marL="228600" indent="-114300">
              <a:spcAft>
                <a:spcPts val="1600"/>
              </a:spcAft>
              <a:buChar char="•"/>
              <a:defRPr sz="1725">
                <a:solidFill>
                  <a:srgbClr val="627D98"/>
                </a:solidFill>
                <a:latin typeface="Helvetica Neue"/>
                <a:ea typeface="Helvetica Neue"/>
                <a:cs typeface="Helvetica Neue"/>
              </a:defRPr>
            </a:pPr>
            <a:r>
              <a:rPr sz="1725">
                <a:solidFill>
                  <a:srgbClr val="627D98"/>
                </a:solidFill>
                <a:latin typeface="Helvetica Neue"/>
                <a:ea typeface="Helvetica Neue"/>
                <a:cs typeface="Helvetica Neue"/>
              </a:rPr>
              <a:t>32 synthetic trajectories, 16 artificial IDs</a:t>
            </a:r>
          </a:p>
          <a:p xmlns:a="http://schemas.openxmlformats.org/drawingml/2006/main">
            <a:pPr marL="228600" indent="-114300">
              <a:spcAft>
                <a:spcPts val="1600"/>
              </a:spcAft>
              <a:buChar char="•"/>
              <a:defRPr sz="1725">
                <a:solidFill>
                  <a:srgbClr val="627D98"/>
                </a:solidFill>
                <a:latin typeface="Helvetica Neue"/>
                <a:ea typeface="Helvetica Neue"/>
                <a:cs typeface="Helvetica Neue"/>
              </a:defRPr>
            </a:pPr>
            <a:r>
              <a:rPr sz="1725">
                <a:solidFill>
                  <a:srgbClr val="627D98"/>
                </a:solidFill>
                <a:latin typeface="Helvetica Neue"/>
                <a:ea typeface="Helvetica Neue"/>
                <a:cs typeface="Helvetica Neue"/>
              </a:rPr>
              <a:t>2 public videos for preprocessing</a:t>
            </a:r>
          </a:p>
          <a:p xmlns:a="http://schemas.openxmlformats.org/drawingml/2006/main">
            <a:pPr marL="228600" indent="-114300">
              <a:spcAft>
                <a:spcPts val="1600"/>
              </a:spcAft>
              <a:buChar char="•"/>
              <a:defRPr sz="1725">
                <a:solidFill>
                  <a:srgbClr val="627D98"/>
                </a:solidFill>
                <a:latin typeface="Helvetica Neue"/>
                <a:ea typeface="Helvetica Neue"/>
                <a:cs typeface="Helvetica Neue"/>
              </a:defRPr>
            </a:pPr>
            <a:r>
              <a:rPr sz="1725">
                <a:solidFill>
                  <a:srgbClr val="627D98"/>
                </a:solidFill>
                <a:latin typeface="Helvetica Neue"/>
                <a:ea typeface="Helvetica Neue"/>
                <a:cs typeface="Helvetica Neue"/>
              </a:rPr>
              <a:t>No real-video accuracy measured</a:t>
            </a:r>
          </a:p>
          <a:p xmlns:a="http://schemas.openxmlformats.org/drawingml/2006/main">
            <a:pPr marL="228600" indent="-114300">
              <a:spcAft>
                <a:spcPts val="1600"/>
              </a:spcAft>
              <a:buChar char="•"/>
              <a:defRPr sz="1725">
                <a:solidFill>
                  <a:srgbClr val="627D98"/>
                </a:solidFill>
                <a:latin typeface="Helvetica Neue"/>
                <a:ea typeface="Helvetica Neue"/>
                <a:cs typeface="Helvetica Neue"/>
              </a:defRPr>
            </a:pPr>
            <a:r>
              <a:rPr sz="1725">
                <a:solidFill>
                  <a:srgbClr val="627D98"/>
                </a:solidFill>
                <a:latin typeface="Helvetica Neue"/>
                <a:ea typeface="Helvetica Neue"/>
                <a:cs typeface="Helvetica Neue"/>
              </a:rPr>
              <a:t>Peer score interface only</a:t>
            </a:r>
          </a:p>
        </p:txBody>
      </p:sp>
      <p:sp>
        <p:nvSpPr>
          <p:cNvPr id="10" name="">
            <a:extLst xmlns:a="http://schemas.openxmlformats.org/drawingml/2006/main">
              <a:ext uri="{FF2B5EF4-FFF2-40B4-BE49-F238E27FC236}">
                <a16:creationId xmlns:a16="http://schemas.microsoft.com/office/drawing/2014/main" id="{F3688A38-23F8-4E42-85FA-5B5FEBD556B0}"/>
              </a:ext>
            </a:extLst>
          </p:cNvPr>
          <p:cNvSpPr>
            <a:spLocks xmlns:a="http://schemas.openxmlformats.org/drawingml/2006/main" noGrp="1"/>
          </p:cNvSpPr>
          <p:nvPr/>
        </p:nvSpPr>
        <p:spPr>
          <a:xfrm xmlns:a="http://schemas.openxmlformats.org/drawingml/2006/main">
            <a:off x="6477000" y="1857375"/>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850" b="1">
                <a:solidFill>
                  <a:srgbClr val="2F6BFF"/>
                </a:solidFill>
                <a:latin typeface="Helvetica Neue"/>
                <a:ea typeface="Helvetica Neue"/>
                <a:cs typeface="Helvetica Neue"/>
              </a:defRPr>
            </a:defPPr>
          </a:lstStyle>
          <a:p xmlns:a="http://schemas.openxmlformats.org/drawingml/2006/main">
            <a:pPr algn="l">
              <a:buNone/>
              <a:defRPr sz="2850" b="1">
                <a:solidFill>
                  <a:srgbClr val="2F6BFF"/>
                </a:solidFill>
                <a:latin typeface="Helvetica Neue"/>
                <a:ea typeface="Helvetica Neue"/>
                <a:cs typeface="Helvetica Neue"/>
              </a:defRPr>
            </a:pPr>
            <a:r>
              <a:rPr sz="2850" b="1">
                <a:solidFill>
                  <a:srgbClr val="2F6BFF"/>
                </a:solidFill>
                <a:latin typeface="Helvetica Neue"/>
                <a:ea typeface="Helvetica Neue"/>
                <a:cs typeface="Helvetica Neue"/>
              </a:rPr>
              <a:t>24/24</a:t>
            </a:r>
          </a:p>
        </p:txBody>
      </p:sp>
      <p:sp>
        <p:nvSpPr>
          <p:cNvPr id="11" name="">
            <a:extLst xmlns:a="http://schemas.openxmlformats.org/drawingml/2006/main">
              <a:ext uri="{FF2B5EF4-FFF2-40B4-BE49-F238E27FC236}">
                <a16:creationId xmlns:a16="http://schemas.microsoft.com/office/drawing/2014/main" id="{58CFC537-0B3E-4EF7-8F55-49F50ED648FF}"/>
              </a:ext>
            </a:extLst>
          </p:cNvPr>
          <p:cNvSpPr>
            <a:spLocks xmlns:a="http://schemas.openxmlformats.org/drawingml/2006/main" noGrp="1"/>
          </p:cNvSpPr>
          <p:nvPr/>
        </p:nvSpPr>
        <p:spPr>
          <a:xfrm xmlns:a="http://schemas.openxmlformats.org/drawingml/2006/main">
            <a:off x="6477000" y="2466975"/>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350" b="0">
                <a:solidFill>
                  <a:srgbClr val="243B53"/>
                </a:solidFill>
                <a:latin typeface="Helvetica Neue"/>
                <a:ea typeface="Helvetica Neue"/>
                <a:cs typeface="Helvetica Neue"/>
              </a:defRPr>
            </a:defPPr>
          </a:lstStyle>
          <a:p xmlns:a="http://schemas.openxmlformats.org/drawingml/2006/main">
            <a:pPr algn="l">
              <a:buNone/>
              <a:defRPr sz="1350" b="0">
                <a:solidFill>
                  <a:srgbClr val="243B53"/>
                </a:solidFill>
                <a:latin typeface="Helvetica Neue"/>
                <a:ea typeface="Helvetica Neue"/>
                <a:cs typeface="Helvetica Neue"/>
              </a:defRPr>
            </a:pPr>
            <a:r>
              <a:rPr sz="1350" b="0">
                <a:solidFill>
                  <a:srgbClr val="243B53"/>
                </a:solidFill>
                <a:latin typeface="Helvetica Neue"/>
                <a:ea typeface="Helvetica Neue"/>
                <a:cs typeface="Helvetica Neue"/>
              </a:rPr>
              <a:t>matched landmark coverage</a:t>
            </a:r>
          </a:p>
        </p:txBody>
      </p:sp>
      <p:sp>
        <p:nvSpPr>
          <p:cNvPr id="12" name="">
            <a:extLst xmlns:a="http://schemas.openxmlformats.org/drawingml/2006/main">
              <a:ext uri="{FF2B5EF4-FFF2-40B4-BE49-F238E27FC236}">
                <a16:creationId xmlns:a16="http://schemas.microsoft.com/office/drawing/2014/main" id="{2222E6C1-29CA-461F-9603-8AA86E14322D}"/>
              </a:ext>
            </a:extLst>
          </p:cNvPr>
          <p:cNvSpPr>
            <a:spLocks xmlns:a="http://schemas.openxmlformats.org/drawingml/2006/main" noGrp="1"/>
          </p:cNvSpPr>
          <p:nvPr/>
        </p:nvSpPr>
        <p:spPr>
          <a:xfrm xmlns:a="http://schemas.openxmlformats.org/drawingml/2006/main">
            <a:off x="9048750" y="1857375"/>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850" b="1">
                <a:solidFill>
                  <a:srgbClr val="159E9C"/>
                </a:solidFill>
                <a:latin typeface="Helvetica Neue"/>
                <a:ea typeface="Helvetica Neue"/>
                <a:cs typeface="Helvetica Neue"/>
              </a:defRPr>
            </a:defPPr>
          </a:lstStyle>
          <a:p xmlns:a="http://schemas.openxmlformats.org/drawingml/2006/main">
            <a:pPr algn="l">
              <a:buNone/>
              <a:defRPr sz="2850" b="1">
                <a:solidFill>
                  <a:srgbClr val="159E9C"/>
                </a:solidFill>
                <a:latin typeface="Helvetica Neue"/>
                <a:ea typeface="Helvetica Neue"/>
                <a:cs typeface="Helvetica Neue"/>
              </a:defRPr>
            </a:pPr>
            <a:r>
              <a:rPr sz="2850" b="1">
                <a:solidFill>
                  <a:srgbClr val="159E9C"/>
                </a:solidFill>
                <a:latin typeface="Helvetica Neue"/>
                <a:ea typeface="Helvetica Neue"/>
                <a:cs typeface="Helvetica Neue"/>
              </a:rPr>
              <a:t>12 / 6 / 6</a:t>
            </a:r>
          </a:p>
        </p:txBody>
      </p:sp>
      <p:sp>
        <p:nvSpPr>
          <p:cNvPr id="13" name="">
            <a:extLst xmlns:a="http://schemas.openxmlformats.org/drawingml/2006/main">
              <a:ext uri="{FF2B5EF4-FFF2-40B4-BE49-F238E27FC236}">
                <a16:creationId xmlns:a16="http://schemas.microsoft.com/office/drawing/2014/main" id="{A86A7D01-B4BE-4926-B55F-5CDFEEA5F327}"/>
              </a:ext>
            </a:extLst>
          </p:cNvPr>
          <p:cNvSpPr>
            <a:spLocks xmlns:a="http://schemas.openxmlformats.org/drawingml/2006/main" noGrp="1"/>
          </p:cNvSpPr>
          <p:nvPr/>
        </p:nvSpPr>
        <p:spPr>
          <a:xfrm xmlns:a="http://schemas.openxmlformats.org/drawingml/2006/main">
            <a:off x="9048750" y="2466975"/>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350" b="0">
                <a:solidFill>
                  <a:srgbClr val="243B53"/>
                </a:solidFill>
                <a:latin typeface="Helvetica Neue"/>
                <a:ea typeface="Helvetica Neue"/>
                <a:cs typeface="Helvetica Neue"/>
              </a:defRPr>
            </a:defPPr>
          </a:lstStyle>
          <a:p xmlns:a="http://schemas.openxmlformats.org/drawingml/2006/main">
            <a:pPr algn="l">
              <a:buNone/>
              <a:defRPr sz="1350" b="0">
                <a:solidFill>
                  <a:srgbClr val="243B53"/>
                </a:solidFill>
                <a:latin typeface="Helvetica Neue"/>
                <a:ea typeface="Helvetica Neue"/>
                <a:cs typeface="Helvetica Neue"/>
              </a:defRPr>
            </a:pPr>
            <a:r>
              <a:rPr sz="1350" b="0">
                <a:solidFill>
                  <a:srgbClr val="243B53"/>
                </a:solidFill>
                <a:latin typeface="Helvetica Neue"/>
                <a:ea typeface="Helvetica Neue"/>
                <a:cs typeface="Helvetica Neue"/>
              </a:rPr>
              <a:t>train / val / test</a:t>
            </a:r>
          </a:p>
        </p:txBody>
      </p:sp>
      <p:sp>
        <p:nvSpPr>
          <p:cNvPr id="14" name="">
            <a:extLst xmlns:a="http://schemas.openxmlformats.org/drawingml/2006/main">
              <a:ext uri="{FF2B5EF4-FFF2-40B4-BE49-F238E27FC236}">
                <a16:creationId xmlns:a16="http://schemas.microsoft.com/office/drawing/2014/main" id="{E7E3FE49-FFB3-4D0B-8964-C1F0D8E07134}"/>
              </a:ext>
            </a:extLst>
          </p:cNvPr>
          <p:cNvSpPr>
            <a:spLocks xmlns:a="http://schemas.openxmlformats.org/drawingml/2006/main" noGrp="1"/>
          </p:cNvSpPr>
          <p:nvPr/>
        </p:nvSpPr>
        <p:spPr>
          <a:xfrm xmlns:a="http://schemas.openxmlformats.org/drawingml/2006/main">
            <a:off x="6477000" y="3571875"/>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850" b="1">
                <a:solidFill>
                  <a:srgbClr val="E67E22"/>
                </a:solidFill>
                <a:latin typeface="Helvetica Neue"/>
                <a:ea typeface="Helvetica Neue"/>
                <a:cs typeface="Helvetica Neue"/>
              </a:defRPr>
            </a:defPPr>
          </a:lstStyle>
          <a:p xmlns:a="http://schemas.openxmlformats.org/drawingml/2006/main">
            <a:pPr algn="l">
              <a:buNone/>
              <a:defRPr sz="2850" b="1">
                <a:solidFill>
                  <a:srgbClr val="E67E22"/>
                </a:solidFill>
                <a:latin typeface="Helvetica Neue"/>
                <a:ea typeface="Helvetica Neue"/>
                <a:cs typeface="Helvetica Neue"/>
              </a:defRPr>
            </a:pPr>
            <a:r>
              <a:rPr sz="2850" b="1">
                <a:solidFill>
                  <a:srgbClr val="E67E22"/>
                </a:solidFill>
                <a:latin typeface="Helvetica Neue"/>
                <a:ea typeface="Helvetica Neue"/>
                <a:cs typeface="Helvetica Neue"/>
              </a:rPr>
              <a:t>40</a:t>
            </a:r>
          </a:p>
        </p:txBody>
      </p:sp>
      <p:sp>
        <p:nvSpPr>
          <p:cNvPr id="15" name="">
            <a:extLst xmlns:a="http://schemas.openxmlformats.org/drawingml/2006/main">
              <a:ext uri="{FF2B5EF4-FFF2-40B4-BE49-F238E27FC236}">
                <a16:creationId xmlns:a16="http://schemas.microsoft.com/office/drawing/2014/main" id="{7EAC1DF3-62B1-44FD-8BF1-CFADAA349B4C}"/>
              </a:ext>
            </a:extLst>
          </p:cNvPr>
          <p:cNvSpPr>
            <a:spLocks xmlns:a="http://schemas.openxmlformats.org/drawingml/2006/main" noGrp="1"/>
          </p:cNvSpPr>
          <p:nvPr/>
        </p:nvSpPr>
        <p:spPr>
          <a:xfrm xmlns:a="http://schemas.openxmlformats.org/drawingml/2006/main">
            <a:off x="6477000" y="4181475"/>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350" b="0">
                <a:solidFill>
                  <a:srgbClr val="243B53"/>
                </a:solidFill>
                <a:latin typeface="Helvetica Neue"/>
                <a:ea typeface="Helvetica Neue"/>
                <a:cs typeface="Helvetica Neue"/>
              </a:defRPr>
            </a:defPPr>
          </a:lstStyle>
          <a:p xmlns:a="http://schemas.openxmlformats.org/drawingml/2006/main">
            <a:pPr algn="l">
              <a:buNone/>
              <a:defRPr sz="1350" b="0">
                <a:solidFill>
                  <a:srgbClr val="243B53"/>
                </a:solidFill>
                <a:latin typeface="Helvetica Neue"/>
                <a:ea typeface="Helvetica Neue"/>
                <a:cs typeface="Helvetica Neue"/>
              </a:defRPr>
            </a:pPr>
            <a:r>
              <a:rPr sz="1350" b="0">
                <a:solidFill>
                  <a:srgbClr val="243B53"/>
                </a:solidFill>
                <a:latin typeface="Helvetica Neue"/>
                <a:ea typeface="Helvetica Neue"/>
                <a:cs typeface="Helvetica Neue"/>
              </a:rPr>
              <a:t>regression tests</a:t>
            </a:r>
          </a:p>
        </p:txBody>
      </p:sp>
      <p:sp>
        <p:nvSpPr>
          <p:cNvPr id="16" name="">
            <a:extLst xmlns:a="http://schemas.openxmlformats.org/drawingml/2006/main">
              <a:ext uri="{FF2B5EF4-FFF2-40B4-BE49-F238E27FC236}">
                <a16:creationId xmlns:a16="http://schemas.microsoft.com/office/drawing/2014/main" id="{F82315E7-4137-4C19-B0E5-FDF9E2FB205C}"/>
              </a:ext>
            </a:extLst>
          </p:cNvPr>
          <p:cNvSpPr>
            <a:spLocks xmlns:a="http://schemas.openxmlformats.org/drawingml/2006/main" noGrp="1"/>
          </p:cNvSpPr>
          <p:nvPr/>
        </p:nvSpPr>
        <p:spPr>
          <a:xfrm xmlns:a="http://schemas.openxmlformats.org/drawingml/2006/main">
            <a:off x="9048750" y="3571875"/>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850" b="1">
                <a:solidFill>
                  <a:srgbClr val="D64545"/>
                </a:solidFill>
                <a:latin typeface="Helvetica Neue"/>
                <a:ea typeface="Helvetica Neue"/>
                <a:cs typeface="Helvetica Neue"/>
              </a:defRPr>
            </a:defPPr>
          </a:lstStyle>
          <a:p xmlns:a="http://schemas.openxmlformats.org/drawingml/2006/main">
            <a:pPr algn="l">
              <a:buNone/>
              <a:defRPr sz="2850" b="1">
                <a:solidFill>
                  <a:srgbClr val="D64545"/>
                </a:solidFill>
                <a:latin typeface="Helvetica Neue"/>
                <a:ea typeface="Helvetica Neue"/>
                <a:cs typeface="Helvetica Neue"/>
              </a:defRPr>
            </a:pPr>
            <a:r>
              <a:rPr sz="2850" b="1">
                <a:solidFill>
                  <a:srgbClr val="D64545"/>
                </a:solidFill>
                <a:latin typeface="Helvetica Neue"/>
                <a:ea typeface="Helvetica Neue"/>
                <a:cs typeface="Helvetica Neue"/>
              </a:rPr>
              <a:t>3</a:t>
            </a:r>
          </a:p>
        </p:txBody>
      </p:sp>
      <p:sp>
        <p:nvSpPr>
          <p:cNvPr id="17" name="">
            <a:extLst xmlns:a="http://schemas.openxmlformats.org/drawingml/2006/main">
              <a:ext uri="{FF2B5EF4-FFF2-40B4-BE49-F238E27FC236}">
                <a16:creationId xmlns:a16="http://schemas.microsoft.com/office/drawing/2014/main" id="{8336DEE6-F0A9-4FEE-88AB-EF18EABEFAE5}"/>
              </a:ext>
            </a:extLst>
          </p:cNvPr>
          <p:cNvSpPr>
            <a:spLocks xmlns:a="http://schemas.openxmlformats.org/drawingml/2006/main" noGrp="1"/>
          </p:cNvSpPr>
          <p:nvPr/>
        </p:nvSpPr>
        <p:spPr>
          <a:xfrm xmlns:a="http://schemas.openxmlformats.org/drawingml/2006/main">
            <a:off x="9048750" y="4181475"/>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350" b="0">
                <a:solidFill>
                  <a:srgbClr val="243B53"/>
                </a:solidFill>
                <a:latin typeface="Helvetica Neue"/>
                <a:ea typeface="Helvetica Neue"/>
                <a:cs typeface="Helvetica Neue"/>
              </a:defRPr>
            </a:defPPr>
          </a:lstStyle>
          <a:p xmlns:a="http://schemas.openxmlformats.org/drawingml/2006/main">
            <a:pPr algn="l">
              <a:buNone/>
              <a:defRPr sz="1350" b="0">
                <a:solidFill>
                  <a:srgbClr val="243B53"/>
                </a:solidFill>
                <a:latin typeface="Helvetica Neue"/>
                <a:ea typeface="Helvetica Neue"/>
                <a:cs typeface="Helvetica Neue"/>
              </a:defRPr>
            </a:pPr>
            <a:r>
              <a:rPr sz="1350" b="0">
                <a:solidFill>
                  <a:srgbClr val="243B53"/>
                </a:solidFill>
                <a:latin typeface="Helvetica Neue"/>
                <a:ea typeface="Helvetica Neue"/>
                <a:cs typeface="Helvetica Neue"/>
              </a:rPr>
              <a:t>robustness conditions</a:t>
            </a:r>
          </a:p>
        </p:txBody>
      </p:sp>
      <p:sp>
        <p:nvSpPr>
          <p:cNvPr id="18" name="">
            <a:extLst xmlns:a="http://schemas.openxmlformats.org/drawingml/2006/main">
              <a:ext uri="{FF2B5EF4-FFF2-40B4-BE49-F238E27FC236}">
                <a16:creationId xmlns:a16="http://schemas.microsoft.com/office/drawing/2014/main" id="{F734FFFE-E13B-43F1-BC3C-C2970BD4DCFD}"/>
              </a:ext>
            </a:extLst>
          </p:cNvPr>
          <p:cNvSpPr>
            <a:spLocks xmlns:a="http://schemas.openxmlformats.org/drawingml/2006/main" noGrp="1"/>
          </p:cNvSpPr>
          <p:nvPr/>
        </p:nvSpPr>
        <p:spPr>
          <a:xfrm xmlns:a="http://schemas.openxmlformats.org/drawingml/2006/main">
            <a:off x="6477000" y="53340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1">
                <a:solidFill>
                  <a:srgbClr val="102A43"/>
                </a:solidFill>
                <a:latin typeface="Helvetica Neue"/>
                <a:ea typeface="Helvetica Neue"/>
                <a:cs typeface="Helvetica Neue"/>
              </a:defRPr>
            </a:defPPr>
          </a:lstStyle>
          <a:p xmlns:a="http://schemas.openxmlformats.org/drawingml/2006/main">
            <a:pPr algn="l">
              <a:buNone/>
              <a:defRPr sz="1500" b="1">
                <a:solidFill>
                  <a:srgbClr val="102A43"/>
                </a:solidFill>
                <a:latin typeface="Helvetica Neue"/>
                <a:ea typeface="Helvetica Neue"/>
                <a:cs typeface="Helvetica Neue"/>
              </a:defRPr>
            </a:pPr>
            <a:r>
              <a:rPr sz="1500" b="1">
                <a:solidFill>
                  <a:srgbClr val="102A43"/>
                </a:solidFill>
                <a:latin typeface="Helvetica Neue"/>
                <a:ea typeface="Helvetica Neue"/>
                <a:cs typeface="Helvetica Neue"/>
              </a:rPr>
              <a:t>12 matched pairs plus a peer-pair forensic audit</a:t>
            </a:r>
          </a:p>
        </p:txBody>
      </p:sp>
    </p:spTree>
    <p:extLst>
      <p:ext uri="{BB962C8B-B14F-4D97-AF65-F5344CB8AC3E}">
        <p14:creationId xmlns:p14="http://schemas.microsoft.com/office/powerpoint/2010/main" val="82310794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B9C768A3-FE1F-458F-9F04-112F4FC705AC}"/>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stStyle>
          <a:p xmlns:a="http://schemas.openxmlformats.org/drawingml/2006/main">
            <a:pPr algn="l">
              <a:buNone/>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Two-channel experimental framework</a:t>
            </a:r>
          </a:p>
        </p:txBody>
      </p:sp>
      <p:sp>
        <p:nvSpPr>
          <p:cNvPr id="2" name="">
            <a:extLst xmlns:a="http://schemas.openxmlformats.org/drawingml/2006/main">
              <a:ext uri="{FF2B5EF4-FFF2-40B4-BE49-F238E27FC236}">
                <a16:creationId xmlns:a16="http://schemas.microsoft.com/office/drawing/2014/main" id="{E5169B62-681B-4C8D-9A6B-A5BB346FE471}"/>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stStyle>
          <a:p xmlns:a="http://schemas.openxmlformats.org/drawingml/2006/main">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5F9FE2C9-3517-4C54-9D71-86B5CB35310F}"/>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217A052-EA3D-4A4F-8FE8-A81412DB9285}"/>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stStyle>
          <a:p xmlns:a="http://schemas.openxmlformats.org/drawingml/2006/main">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A33230CA-C89C-4081-9914-A0501B012D4D}"/>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stStyle>
          <a:p xmlns:a="http://schemas.openxmlformats.org/drawingml/2006/main">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3/11</a:t>
            </a:r>
          </a:p>
        </p:txBody>
      </p:sp>
      <p:sp>
        <p:nvSpPr>
          <p:cNvPr id="6" name="">
            <a:extLst xmlns:a="http://schemas.openxmlformats.org/drawingml/2006/main">
              <a:ext uri="{FF2B5EF4-FFF2-40B4-BE49-F238E27FC236}">
                <a16:creationId xmlns:a16="http://schemas.microsoft.com/office/drawing/2014/main" id="{459F0564-5C82-4F34-8602-4BCFAE0702B8}"/>
              </a:ext>
            </a:extLst>
          </p:cNvPr>
          <p:cNvSpPr>
            <a:spLocks xmlns:a="http://schemas.openxmlformats.org/drawingml/2006/main" noGrp="1"/>
          </p:cNvSpPr>
          <p:nvPr/>
        </p:nvSpPr>
        <p:spPr>
          <a:xfrm xmlns:a="http://schemas.openxmlformats.org/drawingml/2006/main">
            <a:off x="628650" y="1381125"/>
            <a:ext cx="2333625" cy="1333500"/>
          </a:xfrm>
          <a:prstGeom xmlns:a="http://schemas.openxmlformats.org/drawingml/2006/main" prst="roundRect">
            <a:avLst>
              <a:gd name="adj" fmla="val 5714"/>
            </a:avLst>
          </a:prstGeom>
          <a:solidFill xmlns:a="http://schemas.openxmlformats.org/drawingml/2006/main">
            <a:srgbClr val="EAF1FF"/>
          </a:solidFill>
          <a:ln xmlns:a="http://schemas.openxmlformats.org/drawingml/2006/main" w="19050">
            <a:solidFill>
              <a:srgbClr val="2F6BFF"/>
            </a:solidFill>
          </a:ln>
        </p:spPr>
      </p:sp>
      <p:sp>
        <p:nvSpPr>
          <p:cNvPr id="7" name="">
            <a:extLst xmlns:a="http://schemas.openxmlformats.org/drawingml/2006/main">
              <a:ext uri="{FF2B5EF4-FFF2-40B4-BE49-F238E27FC236}">
                <a16:creationId xmlns:a16="http://schemas.microsoft.com/office/drawing/2014/main" id="{6D08F3C0-9B88-4350-AC2E-5F38E3CED232}"/>
              </a:ext>
            </a:extLst>
          </p:cNvPr>
          <p:cNvSpPr>
            <a:spLocks xmlns:a="http://schemas.openxmlformats.org/drawingml/2006/main" noGrp="1"/>
          </p:cNvSpPr>
          <p:nvPr/>
        </p:nvSpPr>
        <p:spPr>
          <a:xfrm xmlns:a="http://schemas.openxmlformats.org/drawingml/2006/main">
            <a:off x="800100" y="1495425"/>
            <a:ext cx="1990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2F6BFF"/>
                </a:solidFill>
                <a:latin typeface="Helvetica Neue"/>
                <a:ea typeface="Helvetica Neue"/>
                <a:cs typeface="Helvetica Neue"/>
              </a:defRPr>
            </a:defPPr>
          </a:lstStyle>
          <a:p xmlns:a="http://schemas.openxmlformats.org/drawingml/2006/main">
            <a:pPr algn="l">
              <a:buNone/>
              <a:defRPr sz="1650" b="1">
                <a:solidFill>
                  <a:srgbClr val="2F6BFF"/>
                </a:solidFill>
                <a:latin typeface="Helvetica Neue"/>
                <a:ea typeface="Helvetica Neue"/>
                <a:cs typeface="Helvetica Neue"/>
              </a:defRPr>
            </a:pPr>
            <a:r>
              <a:rPr sz="1650" b="1">
                <a:solidFill>
                  <a:srgbClr val="2F6BFF"/>
                </a:solidFill>
                <a:latin typeface="Helvetica Neue"/>
                <a:ea typeface="Helvetica Neue"/>
                <a:cs typeface="Helvetica Neue"/>
              </a:rPr>
              <a:t>Matched pilot</a:t>
            </a:r>
          </a:p>
        </p:txBody>
      </p:sp>
      <p:sp>
        <p:nvSpPr>
          <p:cNvPr id="8" name="">
            <a:extLst xmlns:a="http://schemas.openxmlformats.org/drawingml/2006/main">
              <a:ext uri="{FF2B5EF4-FFF2-40B4-BE49-F238E27FC236}">
                <a16:creationId xmlns:a16="http://schemas.microsoft.com/office/drawing/2014/main" id="{18A70829-E14A-47A7-966C-45BFCA7BD0CD}"/>
              </a:ext>
            </a:extLst>
          </p:cNvPr>
          <p:cNvSpPr>
            <a:spLocks xmlns:a="http://schemas.openxmlformats.org/drawingml/2006/main" noGrp="1"/>
          </p:cNvSpPr>
          <p:nvPr/>
        </p:nvSpPr>
        <p:spPr>
          <a:xfrm xmlns:a="http://schemas.openxmlformats.org/drawingml/2006/main">
            <a:off x="800100" y="1876425"/>
            <a:ext cx="19907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12 real + 12 SadTalker</a:t>
            </a:r>
          </a:p>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Same identity and audio</a:t>
            </a:r>
          </a:p>
        </p:txBody>
      </p:sp>
      <p:sp>
        <p:nvSpPr>
          <p:cNvPr id="9" name="">
            <a:extLst xmlns:a="http://schemas.openxmlformats.org/drawingml/2006/main">
              <a:ext uri="{FF2B5EF4-FFF2-40B4-BE49-F238E27FC236}">
                <a16:creationId xmlns:a16="http://schemas.microsoft.com/office/drawing/2014/main" id="{DDAF9E41-183C-4B3C-929A-FBD40213AEA2}"/>
              </a:ext>
            </a:extLst>
          </p:cNvPr>
          <p:cNvSpPr>
            <a:spLocks xmlns:a="http://schemas.openxmlformats.org/drawingml/2006/main" noGrp="1"/>
          </p:cNvSpPr>
          <p:nvPr/>
        </p:nvSpPr>
        <p:spPr>
          <a:xfrm xmlns:a="http://schemas.openxmlformats.org/drawingml/2006/main">
            <a:off x="628650" y="4048125"/>
            <a:ext cx="2333625" cy="1333500"/>
          </a:xfrm>
          <a:prstGeom xmlns:a="http://schemas.openxmlformats.org/drawingml/2006/main" prst="roundRect">
            <a:avLst>
              <a:gd name="adj" fmla="val 5714"/>
            </a:avLst>
          </a:prstGeom>
          <a:solidFill xmlns:a="http://schemas.openxmlformats.org/drawingml/2006/main">
            <a:srgbClr val="FFF2E2"/>
          </a:solidFill>
          <a:ln xmlns:a="http://schemas.openxmlformats.org/drawingml/2006/main" w="19050">
            <a:solidFill>
              <a:srgbClr val="E67E22"/>
            </a:solidFill>
          </a:ln>
        </p:spPr>
      </p:sp>
      <p:sp>
        <p:nvSpPr>
          <p:cNvPr id="10" name="">
            <a:extLst xmlns:a="http://schemas.openxmlformats.org/drawingml/2006/main">
              <a:ext uri="{FF2B5EF4-FFF2-40B4-BE49-F238E27FC236}">
                <a16:creationId xmlns:a16="http://schemas.microsoft.com/office/drawing/2014/main" id="{962AE872-C947-4979-959B-DEDA987497AA}"/>
              </a:ext>
            </a:extLst>
          </p:cNvPr>
          <p:cNvSpPr>
            <a:spLocks xmlns:a="http://schemas.openxmlformats.org/drawingml/2006/main" noGrp="1"/>
          </p:cNvSpPr>
          <p:nvPr/>
        </p:nvSpPr>
        <p:spPr>
          <a:xfrm xmlns:a="http://schemas.openxmlformats.org/drawingml/2006/main">
            <a:off x="800100" y="4162425"/>
            <a:ext cx="1990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E67E22"/>
                </a:solidFill>
                <a:latin typeface="Helvetica Neue"/>
                <a:ea typeface="Helvetica Neue"/>
                <a:cs typeface="Helvetica Neue"/>
              </a:defRPr>
            </a:defPPr>
          </a:lstStyle>
          <a:p xmlns:a="http://schemas.openxmlformats.org/drawingml/2006/main">
            <a:pPr algn="l">
              <a:buNone/>
              <a:defRPr sz="1650" b="1">
                <a:solidFill>
                  <a:srgbClr val="E67E22"/>
                </a:solidFill>
                <a:latin typeface="Helvetica Neue"/>
                <a:ea typeface="Helvetica Neue"/>
                <a:cs typeface="Helvetica Neue"/>
              </a:defRPr>
            </a:pPr>
            <a:r>
              <a:rPr sz="1650" b="1">
                <a:solidFill>
                  <a:srgbClr val="E67E22"/>
                </a:solidFill>
                <a:latin typeface="Helvetica Neue"/>
                <a:ea typeface="Helvetica Neue"/>
                <a:cs typeface="Helvetica Neue"/>
              </a:rPr>
              <a:t>Peer pair</a:t>
            </a:r>
          </a:p>
        </p:txBody>
      </p:sp>
      <p:sp>
        <p:nvSpPr>
          <p:cNvPr id="11" name="">
            <a:extLst xmlns:a="http://schemas.openxmlformats.org/drawingml/2006/main">
              <a:ext uri="{FF2B5EF4-FFF2-40B4-BE49-F238E27FC236}">
                <a16:creationId xmlns:a16="http://schemas.microsoft.com/office/drawing/2014/main" id="{7B7481B8-DC61-4927-B06A-719FC67CBCEF}"/>
              </a:ext>
            </a:extLst>
          </p:cNvPr>
          <p:cNvSpPr>
            <a:spLocks xmlns:a="http://schemas.openxmlformats.org/drawingml/2006/main" noGrp="1"/>
          </p:cNvSpPr>
          <p:nvPr/>
        </p:nvSpPr>
        <p:spPr>
          <a:xfrm xmlns:a="http://schemas.openxmlformats.org/drawingml/2006/main">
            <a:off x="800100" y="4543425"/>
            <a:ext cx="19907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Control + A=1 modified</a:t>
            </a:r>
          </a:p>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Private files, hash provenance</a:t>
            </a:r>
          </a:p>
        </p:txBody>
      </p:sp>
      <p:sp>
        <p:nvSpPr>
          <p:cNvPr id="12" name="">
            <a:extLst xmlns:a="http://schemas.openxmlformats.org/drawingml/2006/main">
              <a:ext uri="{FF2B5EF4-FFF2-40B4-BE49-F238E27FC236}">
                <a16:creationId xmlns:a16="http://schemas.microsoft.com/office/drawing/2014/main" id="{F5612057-4875-4CE8-8243-0F6379381342}"/>
              </a:ext>
            </a:extLst>
          </p:cNvPr>
          <p:cNvSpPr>
            <a:spLocks xmlns:a="http://schemas.openxmlformats.org/drawingml/2006/main" noGrp="1"/>
          </p:cNvSpPr>
          <p:nvPr/>
        </p:nvSpPr>
        <p:spPr>
          <a:xfrm xmlns:a="http://schemas.openxmlformats.org/drawingml/2006/main">
            <a:off x="4095750" y="1381125"/>
            <a:ext cx="2952750" cy="1333500"/>
          </a:xfrm>
          <a:prstGeom xmlns:a="http://schemas.openxmlformats.org/drawingml/2006/main" prst="roundRect">
            <a:avLst>
              <a:gd name="adj" fmla="val 5714"/>
            </a:avLst>
          </a:prstGeom>
          <a:solidFill xmlns:a="http://schemas.openxmlformats.org/drawingml/2006/main">
            <a:srgbClr val="E7F7F5"/>
          </a:solidFill>
          <a:ln xmlns:a="http://schemas.openxmlformats.org/drawingml/2006/main" w="19050">
            <a:solidFill>
              <a:srgbClr val="159E9C"/>
            </a:solidFill>
          </a:ln>
        </p:spPr>
      </p:sp>
      <p:sp>
        <p:nvSpPr>
          <p:cNvPr id="13" name="">
            <a:extLst xmlns:a="http://schemas.openxmlformats.org/drawingml/2006/main">
              <a:ext uri="{FF2B5EF4-FFF2-40B4-BE49-F238E27FC236}">
                <a16:creationId xmlns:a16="http://schemas.microsoft.com/office/drawing/2014/main" id="{A70DF086-9C36-4670-8921-8126973B546B}"/>
              </a:ext>
            </a:extLst>
          </p:cNvPr>
          <p:cNvSpPr>
            <a:spLocks xmlns:a="http://schemas.openxmlformats.org/drawingml/2006/main" noGrp="1"/>
          </p:cNvSpPr>
          <p:nvPr/>
        </p:nvSpPr>
        <p:spPr>
          <a:xfrm xmlns:a="http://schemas.openxmlformats.org/drawingml/2006/main">
            <a:off x="4267200" y="1495425"/>
            <a:ext cx="2609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59E9C"/>
                </a:solidFill>
                <a:latin typeface="Helvetica Neue"/>
                <a:ea typeface="Helvetica Neue"/>
                <a:cs typeface="Helvetica Neue"/>
              </a:defRPr>
            </a:defPPr>
          </a:lstStyle>
          <a:p xmlns:a="http://schemas.openxmlformats.org/drawingml/2006/main">
            <a:pPr algn="l">
              <a:buNone/>
              <a:defRPr sz="1650" b="1">
                <a:solidFill>
                  <a:srgbClr val="159E9C"/>
                </a:solidFill>
                <a:latin typeface="Helvetica Neue"/>
                <a:ea typeface="Helvetica Neue"/>
                <a:cs typeface="Helvetica Neue"/>
              </a:defRPr>
            </a:pPr>
            <a:r>
              <a:rPr sz="1650" b="1">
                <a:solidFill>
                  <a:srgbClr val="159E9C"/>
                </a:solidFill>
                <a:latin typeface="Helvetica Neue"/>
                <a:ea typeface="Helvetica Neue"/>
                <a:cs typeface="Helvetica Neue"/>
              </a:rPr>
              <a:t>Lip channel</a:t>
            </a:r>
          </a:p>
        </p:txBody>
      </p:sp>
      <p:sp>
        <p:nvSpPr>
          <p:cNvPr id="14" name="">
            <a:extLst xmlns:a="http://schemas.openxmlformats.org/drawingml/2006/main">
              <a:ext uri="{FF2B5EF4-FFF2-40B4-BE49-F238E27FC236}">
                <a16:creationId xmlns:a16="http://schemas.microsoft.com/office/drawing/2014/main" id="{76B94430-288F-4692-BB56-0910C627EA92}"/>
              </a:ext>
            </a:extLst>
          </p:cNvPr>
          <p:cNvSpPr>
            <a:spLocks xmlns:a="http://schemas.openxmlformats.org/drawingml/2006/main" noGrp="1"/>
          </p:cNvSpPr>
          <p:nvPr/>
        </p:nvSpPr>
        <p:spPr>
          <a:xfrm xmlns:a="http://schemas.openxmlformats.org/drawingml/2006/main">
            <a:off x="4267200" y="1876425"/>
            <a:ext cx="26098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Global vs local windows</a:t>
            </a:r>
          </a:p>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Phone and shuffled controls</a:t>
            </a:r>
          </a:p>
        </p:txBody>
      </p:sp>
      <p:sp>
        <p:nvSpPr>
          <p:cNvPr id="15" name="">
            <a:extLst xmlns:a="http://schemas.openxmlformats.org/drawingml/2006/main">
              <a:ext uri="{FF2B5EF4-FFF2-40B4-BE49-F238E27FC236}">
                <a16:creationId xmlns:a16="http://schemas.microsoft.com/office/drawing/2014/main" id="{1FE98A58-D0C0-441C-9C4B-E228D83A18A2}"/>
              </a:ext>
            </a:extLst>
          </p:cNvPr>
          <p:cNvSpPr>
            <a:spLocks xmlns:a="http://schemas.openxmlformats.org/drawingml/2006/main" noGrp="1"/>
          </p:cNvSpPr>
          <p:nvPr/>
        </p:nvSpPr>
        <p:spPr>
          <a:xfrm xmlns:a="http://schemas.openxmlformats.org/drawingml/2006/main">
            <a:off x="4095750" y="4048125"/>
            <a:ext cx="2952750" cy="1333500"/>
          </a:xfrm>
          <a:prstGeom xmlns:a="http://schemas.openxmlformats.org/drawingml/2006/main" prst="roundRect">
            <a:avLst>
              <a:gd name="adj" fmla="val 5714"/>
            </a:avLst>
          </a:prstGeom>
          <a:solidFill xmlns:a="http://schemas.openxmlformats.org/drawingml/2006/main">
            <a:srgbClr val="FCECEC"/>
          </a:solidFill>
          <a:ln xmlns:a="http://schemas.openxmlformats.org/drawingml/2006/main" w="19050">
            <a:solidFill>
              <a:srgbClr val="D64545"/>
            </a:solidFill>
          </a:ln>
        </p:spPr>
      </p:sp>
      <p:sp>
        <p:nvSpPr>
          <p:cNvPr id="16" name="">
            <a:extLst xmlns:a="http://schemas.openxmlformats.org/drawingml/2006/main">
              <a:ext uri="{FF2B5EF4-FFF2-40B4-BE49-F238E27FC236}">
                <a16:creationId xmlns:a16="http://schemas.microsoft.com/office/drawing/2014/main" id="{DF842149-7405-467B-8928-B76C050F3C46}"/>
              </a:ext>
            </a:extLst>
          </p:cNvPr>
          <p:cNvSpPr>
            <a:spLocks xmlns:a="http://schemas.openxmlformats.org/drawingml/2006/main" noGrp="1"/>
          </p:cNvSpPr>
          <p:nvPr/>
        </p:nvSpPr>
        <p:spPr>
          <a:xfrm xmlns:a="http://schemas.openxmlformats.org/drawingml/2006/main">
            <a:off x="4267200" y="4162425"/>
            <a:ext cx="2609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D64545"/>
                </a:solidFill>
                <a:latin typeface="Helvetica Neue"/>
                <a:ea typeface="Helvetica Neue"/>
                <a:cs typeface="Helvetica Neue"/>
              </a:defRPr>
            </a:defPPr>
          </a:lstStyle>
          <a:p xmlns:a="http://schemas.openxmlformats.org/drawingml/2006/main">
            <a:pPr algn="l">
              <a:buNone/>
              <a:defRPr sz="1650" b="1">
                <a:solidFill>
                  <a:srgbClr val="D64545"/>
                </a:solidFill>
                <a:latin typeface="Helvetica Neue"/>
                <a:ea typeface="Helvetica Neue"/>
                <a:cs typeface="Helvetica Neue"/>
              </a:defRPr>
            </a:pPr>
            <a:r>
              <a:rPr sz="1650" b="1">
                <a:solidFill>
                  <a:srgbClr val="D64545"/>
                </a:solidFill>
                <a:latin typeface="Helvetica Neue"/>
                <a:ea typeface="Helvetica Neue"/>
                <a:cs typeface="Helvetica Neue"/>
              </a:rPr>
              <a:t>Chromatic channel</a:t>
            </a:r>
          </a:p>
        </p:txBody>
      </p:sp>
      <p:sp>
        <p:nvSpPr>
          <p:cNvPr id="17" name="">
            <a:extLst xmlns:a="http://schemas.openxmlformats.org/drawingml/2006/main">
              <a:ext uri="{FF2B5EF4-FFF2-40B4-BE49-F238E27FC236}">
                <a16:creationId xmlns:a16="http://schemas.microsoft.com/office/drawing/2014/main" id="{B13E9D32-359C-43F5-ACDE-C3199C690081}"/>
              </a:ext>
            </a:extLst>
          </p:cNvPr>
          <p:cNvSpPr>
            <a:spLocks xmlns:a="http://schemas.openxmlformats.org/drawingml/2006/main" noGrp="1"/>
          </p:cNvSpPr>
          <p:nvPr/>
        </p:nvSpPr>
        <p:spPr>
          <a:xfrm xmlns:a="http://schemas.openxmlformats.org/drawingml/2006/main">
            <a:off x="4267200" y="4543425"/>
            <a:ext cx="26098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RGB difference + FFT</a:t>
            </a:r>
          </a:p>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Neutral re-encode control</a:t>
            </a:r>
          </a:p>
        </p:txBody>
      </p:sp>
      <p:sp>
        <p:nvSpPr>
          <p:cNvPr id="18" name="">
            <a:extLst xmlns:a="http://schemas.openxmlformats.org/drawingml/2006/main">
              <a:ext uri="{FF2B5EF4-FFF2-40B4-BE49-F238E27FC236}">
                <a16:creationId xmlns:a16="http://schemas.microsoft.com/office/drawing/2014/main" id="{D01FEDE2-09D5-4FFB-9642-30BD4DA9BD53}"/>
              </a:ext>
            </a:extLst>
          </p:cNvPr>
          <p:cNvSpPr>
            <a:spLocks xmlns:a="http://schemas.openxmlformats.org/drawingml/2006/main" noGrp="1"/>
          </p:cNvSpPr>
          <p:nvPr/>
        </p:nvSpPr>
        <p:spPr>
          <a:xfrm xmlns:a="http://schemas.openxmlformats.org/drawingml/2006/main">
            <a:off x="8334375" y="1381125"/>
            <a:ext cx="2857500" cy="1333500"/>
          </a:xfrm>
          <a:prstGeom xmlns:a="http://schemas.openxmlformats.org/drawingml/2006/main" prst="roundRect">
            <a:avLst>
              <a:gd name="adj" fmla="val 5714"/>
            </a:avLst>
          </a:prstGeom>
          <a:solidFill xmlns:a="http://schemas.openxmlformats.org/drawingml/2006/main">
            <a:srgbClr val="F4F7FB"/>
          </a:solidFill>
          <a:ln xmlns:a="http://schemas.openxmlformats.org/drawingml/2006/main" w="19050">
            <a:solidFill>
              <a:srgbClr val="102A43"/>
            </a:solidFill>
          </a:ln>
        </p:spPr>
      </p:sp>
      <p:sp>
        <p:nvSpPr>
          <p:cNvPr id="19" name="">
            <a:extLst xmlns:a="http://schemas.openxmlformats.org/drawingml/2006/main">
              <a:ext uri="{FF2B5EF4-FFF2-40B4-BE49-F238E27FC236}">
                <a16:creationId xmlns:a16="http://schemas.microsoft.com/office/drawing/2014/main" id="{AC950D05-3A46-410A-A31B-2EA4FF27420E}"/>
              </a:ext>
            </a:extLst>
          </p:cNvPr>
          <p:cNvSpPr>
            <a:spLocks xmlns:a="http://schemas.openxmlformats.org/drawingml/2006/main" noGrp="1"/>
          </p:cNvSpPr>
          <p:nvPr/>
        </p:nvSpPr>
        <p:spPr>
          <a:xfrm xmlns:a="http://schemas.openxmlformats.org/drawingml/2006/main">
            <a:off x="8505825" y="1495425"/>
            <a:ext cx="2514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02A43"/>
                </a:solidFill>
                <a:latin typeface="Helvetica Neue"/>
                <a:ea typeface="Helvetica Neue"/>
                <a:cs typeface="Helvetica Neue"/>
              </a:defRPr>
            </a:defPPr>
          </a:lstStyle>
          <a:p xmlns:a="http://schemas.openxmlformats.org/drawingml/2006/main">
            <a:pPr algn="l">
              <a:buNone/>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Grouped evaluation</a:t>
            </a:r>
          </a:p>
        </p:txBody>
      </p:sp>
      <p:sp>
        <p:nvSpPr>
          <p:cNvPr id="20" name="">
            <a:extLst xmlns:a="http://schemas.openxmlformats.org/drawingml/2006/main">
              <a:ext uri="{FF2B5EF4-FFF2-40B4-BE49-F238E27FC236}">
                <a16:creationId xmlns:a16="http://schemas.microsoft.com/office/drawing/2014/main" id="{9DBF2EF0-54D2-45CD-84A0-BAE571F5B78D}"/>
              </a:ext>
            </a:extLst>
          </p:cNvPr>
          <p:cNvSpPr>
            <a:spLocks xmlns:a="http://schemas.openxmlformats.org/drawingml/2006/main" noGrp="1"/>
          </p:cNvSpPr>
          <p:nvPr/>
        </p:nvSpPr>
        <p:spPr>
          <a:xfrm xmlns:a="http://schemas.openxmlformats.org/drawingml/2006/main">
            <a:off x="8505825" y="1876425"/>
            <a:ext cx="2514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20 × four-fold runs</a:t>
            </a:r>
          </a:p>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Matched pair stays together</a:t>
            </a:r>
          </a:p>
        </p:txBody>
      </p:sp>
      <p:sp>
        <p:nvSpPr>
          <p:cNvPr id="21" name="">
            <a:extLst xmlns:a="http://schemas.openxmlformats.org/drawingml/2006/main">
              <a:ext uri="{FF2B5EF4-FFF2-40B4-BE49-F238E27FC236}">
                <a16:creationId xmlns:a16="http://schemas.microsoft.com/office/drawing/2014/main" id="{933CC561-38B7-40D0-8F44-BD66EBAB8825}"/>
              </a:ext>
            </a:extLst>
          </p:cNvPr>
          <p:cNvSpPr>
            <a:spLocks xmlns:a="http://schemas.openxmlformats.org/drawingml/2006/main" noGrp="1"/>
          </p:cNvSpPr>
          <p:nvPr/>
        </p:nvSpPr>
        <p:spPr>
          <a:xfrm xmlns:a="http://schemas.openxmlformats.org/drawingml/2006/main">
            <a:off x="8334375" y="4048125"/>
            <a:ext cx="2857500" cy="1333500"/>
          </a:xfrm>
          <a:prstGeom xmlns:a="http://schemas.openxmlformats.org/drawingml/2006/main" prst="roundRect">
            <a:avLst>
              <a:gd name="adj" fmla="val 5714"/>
            </a:avLst>
          </a:prstGeom>
          <a:solidFill xmlns:a="http://schemas.openxmlformats.org/drawingml/2006/main">
            <a:srgbClr val="F4F7FB"/>
          </a:solidFill>
          <a:ln xmlns:a="http://schemas.openxmlformats.org/drawingml/2006/main" w="19050">
            <a:solidFill>
              <a:srgbClr val="102A43"/>
            </a:solidFill>
          </a:ln>
        </p:spPr>
      </p:sp>
      <p:sp>
        <p:nvSpPr>
          <p:cNvPr id="22" name="">
            <a:extLst xmlns:a="http://schemas.openxmlformats.org/drawingml/2006/main">
              <a:ext uri="{FF2B5EF4-FFF2-40B4-BE49-F238E27FC236}">
                <a16:creationId xmlns:a16="http://schemas.microsoft.com/office/drawing/2014/main" id="{1E4F3403-A51B-4518-A1C4-7BBCD6EB6040}"/>
              </a:ext>
            </a:extLst>
          </p:cNvPr>
          <p:cNvSpPr>
            <a:spLocks xmlns:a="http://schemas.openxmlformats.org/drawingml/2006/main" noGrp="1"/>
          </p:cNvSpPr>
          <p:nvPr/>
        </p:nvSpPr>
        <p:spPr>
          <a:xfrm xmlns:a="http://schemas.openxmlformats.org/drawingml/2006/main">
            <a:off x="8505825" y="4162425"/>
            <a:ext cx="2514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02A43"/>
                </a:solidFill>
                <a:latin typeface="Helvetica Neue"/>
                <a:ea typeface="Helvetica Neue"/>
                <a:cs typeface="Helvetica Neue"/>
              </a:defRPr>
            </a:defPPr>
          </a:lstStyle>
          <a:p xmlns:a="http://schemas.openxmlformats.org/drawingml/2006/main">
            <a:pPr algn="l">
              <a:buNone/>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Paired evidence</a:t>
            </a:r>
          </a:p>
        </p:txBody>
      </p:sp>
      <p:sp>
        <p:nvSpPr>
          <p:cNvPr id="23" name="">
            <a:extLst xmlns:a="http://schemas.openxmlformats.org/drawingml/2006/main">
              <a:ext uri="{FF2B5EF4-FFF2-40B4-BE49-F238E27FC236}">
                <a16:creationId xmlns:a16="http://schemas.microsoft.com/office/drawing/2014/main" id="{6E365D9C-84EB-456B-B2D4-D4A92260BC02}"/>
              </a:ext>
            </a:extLst>
          </p:cNvPr>
          <p:cNvSpPr>
            <a:spLocks xmlns:a="http://schemas.openxmlformats.org/drawingml/2006/main" noGrp="1"/>
          </p:cNvSpPr>
          <p:nvPr/>
        </p:nvSpPr>
        <p:spPr>
          <a:xfrm xmlns:a="http://schemas.openxmlformats.org/drawingml/2006/main">
            <a:off x="8505825" y="4543425"/>
            <a:ext cx="2514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1.2 Hz energy</a:t>
            </a:r>
          </a:p>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Compression, resize, 15 FPS</a:t>
            </a:r>
          </a:p>
        </p:txBody>
      </p:sp>
      <p:sp>
        <p:nvSpPr>
          <p:cNvPr id="24" name="">
            <a:extLst xmlns:a="http://schemas.openxmlformats.org/drawingml/2006/main">
              <a:ext uri="{FF2B5EF4-FFF2-40B4-BE49-F238E27FC236}">
                <a16:creationId xmlns:a16="http://schemas.microsoft.com/office/drawing/2014/main" id="{1120E064-308A-45FF-A7BF-F9066DCDDBD6}"/>
              </a:ext>
            </a:extLst>
          </p:cNvPr>
          <p:cNvSpPr>
            <a:spLocks xmlns:a="http://schemas.openxmlformats.org/drawingml/2006/main" noGrp="1"/>
          </p:cNvSpPr>
          <p:nvPr/>
        </p:nvSpPr>
        <p:spPr>
          <a:xfrm xmlns:a="http://schemas.openxmlformats.org/drawingml/2006/main">
            <a:off x="2962275" y="2047875"/>
            <a:ext cx="1133475" cy="0"/>
          </a:xfrm>
          <a:prstGeom xmlns:a="http://schemas.openxmlformats.org/drawingml/2006/main" prst="line">
            <a:avLst/>
          </a:prstGeom>
          <a:noFill xmlns:a="http://schemas.openxmlformats.org/drawingml/2006/main"/>
          <a:ln xmlns:a="http://schemas.openxmlformats.org/drawingml/2006/main" w="19050">
            <a:solidFill>
              <a:srgbClr val="2F6BFF"/>
            </a:solidFill>
          </a:ln>
        </p:spPr>
      </p:sp>
      <p:sp>
        <p:nvSpPr>
          <p:cNvPr id="25" name="">
            <a:extLst xmlns:a="http://schemas.openxmlformats.org/drawingml/2006/main">
              <a:ext uri="{FF2B5EF4-FFF2-40B4-BE49-F238E27FC236}">
                <a16:creationId xmlns:a16="http://schemas.microsoft.com/office/drawing/2014/main" id="{395697C5-DCC0-4EE5-B0CE-1A279C4290AC}"/>
              </a:ext>
            </a:extLst>
          </p:cNvPr>
          <p:cNvSpPr>
            <a:spLocks xmlns:a="http://schemas.openxmlformats.org/drawingml/2006/main" noGrp="1"/>
          </p:cNvSpPr>
          <p:nvPr/>
        </p:nvSpPr>
        <p:spPr>
          <a:xfrm xmlns:a="http://schemas.openxmlformats.org/drawingml/2006/main">
            <a:off x="7048500" y="2047875"/>
            <a:ext cx="1285875" cy="0"/>
          </a:xfrm>
          <a:prstGeom xmlns:a="http://schemas.openxmlformats.org/drawingml/2006/main" prst="line">
            <a:avLst/>
          </a:prstGeom>
          <a:noFill xmlns:a="http://schemas.openxmlformats.org/drawingml/2006/main"/>
          <a:ln xmlns:a="http://schemas.openxmlformats.org/drawingml/2006/main" w="19050">
            <a:solidFill>
              <a:srgbClr val="159E9C"/>
            </a:solidFill>
          </a:ln>
        </p:spPr>
      </p:sp>
      <p:sp>
        <p:nvSpPr>
          <p:cNvPr id="26" name="">
            <a:extLst xmlns:a="http://schemas.openxmlformats.org/drawingml/2006/main">
              <a:ext uri="{FF2B5EF4-FFF2-40B4-BE49-F238E27FC236}">
                <a16:creationId xmlns:a16="http://schemas.microsoft.com/office/drawing/2014/main" id="{CFBA5E3B-D7D8-4ABF-872E-6DCEEFDEB00A}"/>
              </a:ext>
            </a:extLst>
          </p:cNvPr>
          <p:cNvSpPr>
            <a:spLocks xmlns:a="http://schemas.openxmlformats.org/drawingml/2006/main" noGrp="1"/>
          </p:cNvSpPr>
          <p:nvPr/>
        </p:nvSpPr>
        <p:spPr>
          <a:xfrm xmlns:a="http://schemas.openxmlformats.org/drawingml/2006/main">
            <a:off x="2962275" y="4714875"/>
            <a:ext cx="1133475" cy="0"/>
          </a:xfrm>
          <a:prstGeom xmlns:a="http://schemas.openxmlformats.org/drawingml/2006/main" prst="line">
            <a:avLst/>
          </a:prstGeom>
          <a:noFill xmlns:a="http://schemas.openxmlformats.org/drawingml/2006/main"/>
          <a:ln xmlns:a="http://schemas.openxmlformats.org/drawingml/2006/main" w="19050">
            <a:solidFill>
              <a:srgbClr val="E67E22"/>
            </a:solidFill>
          </a:ln>
        </p:spPr>
      </p:sp>
      <p:sp>
        <p:nvSpPr>
          <p:cNvPr id="27" name="">
            <a:extLst xmlns:a="http://schemas.openxmlformats.org/drawingml/2006/main">
              <a:ext uri="{FF2B5EF4-FFF2-40B4-BE49-F238E27FC236}">
                <a16:creationId xmlns:a16="http://schemas.microsoft.com/office/drawing/2014/main" id="{398F294B-51B8-4D14-B6F3-D6780B1E6CA3}"/>
              </a:ext>
            </a:extLst>
          </p:cNvPr>
          <p:cNvSpPr>
            <a:spLocks xmlns:a="http://schemas.openxmlformats.org/drawingml/2006/main" noGrp="1"/>
          </p:cNvSpPr>
          <p:nvPr/>
        </p:nvSpPr>
        <p:spPr>
          <a:xfrm xmlns:a="http://schemas.openxmlformats.org/drawingml/2006/main">
            <a:off x="7048500" y="4714875"/>
            <a:ext cx="1285875" cy="0"/>
          </a:xfrm>
          <a:prstGeom xmlns:a="http://schemas.openxmlformats.org/drawingml/2006/main" prst="line">
            <a:avLst/>
          </a:prstGeom>
          <a:noFill xmlns:a="http://schemas.openxmlformats.org/drawingml/2006/main"/>
          <a:ln xmlns:a="http://schemas.openxmlformats.org/drawingml/2006/main" w="19050">
            <a:solidFill>
              <a:srgbClr val="D64545"/>
            </a:solidFill>
          </a:ln>
        </p:spPr>
      </p:sp>
      <p:sp>
        <p:nvSpPr>
          <p:cNvPr id="28" name="">
            <a:extLst xmlns:a="http://schemas.openxmlformats.org/drawingml/2006/main">
              <a:ext uri="{FF2B5EF4-FFF2-40B4-BE49-F238E27FC236}">
                <a16:creationId xmlns:a16="http://schemas.microsoft.com/office/drawing/2014/main" id="{985D4457-DF83-4695-A989-A9AB8A673138}"/>
              </a:ext>
            </a:extLst>
          </p:cNvPr>
          <p:cNvSpPr>
            <a:spLocks xmlns:a="http://schemas.openxmlformats.org/drawingml/2006/main" noGrp="1"/>
          </p:cNvSpPr>
          <p:nvPr/>
        </p:nvSpPr>
        <p:spPr>
          <a:xfrm xmlns:a="http://schemas.openxmlformats.org/drawingml/2006/main">
            <a:off x="3733800" y="5857875"/>
            <a:ext cx="5429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425" b="1">
                <a:solidFill>
                  <a:srgbClr val="102A43"/>
                </a:solidFill>
                <a:latin typeface="Helvetica Neue"/>
                <a:ea typeface="Helvetica Neue"/>
                <a:cs typeface="Helvetica Neue"/>
              </a:defRPr>
            </a:defPPr>
          </a:lstStyle>
          <a:p xmlns:a="http://schemas.openxmlformats.org/drawingml/2006/main">
            <a:pPr algn="ctr">
              <a:buNone/>
              <a:defRPr sz="1425" b="1">
                <a:solidFill>
                  <a:srgbClr val="102A43"/>
                </a:solidFill>
                <a:latin typeface="Helvetica Neue"/>
                <a:ea typeface="Helvetica Neue"/>
                <a:cs typeface="Helvetica Neue"/>
              </a:defRPr>
            </a:pPr>
            <a:r>
              <a:rPr sz="1425" b="1">
                <a:solidFill>
                  <a:srgbClr val="102A43"/>
                </a:solidFill>
                <a:latin typeface="Helvetica Neue"/>
                <a:ea typeface="Helvetica Neue"/>
                <a:cs typeface="Helvetica Neue"/>
              </a:rPr>
              <a:t>Separate evidence. No fusion tuned on one peer pair.</a:t>
            </a:r>
          </a:p>
        </p:txBody>
      </p:sp>
    </p:spTree>
    <p:extLst>
      <p:ext uri="{BB962C8B-B14F-4D97-AF65-F5344CB8AC3E}">
        <p14:creationId xmlns:p14="http://schemas.microsoft.com/office/powerpoint/2010/main" val="211486100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27F8738-46AF-450B-9D3C-084F52A3E6E9}"/>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stStyle>
          <a:p xmlns:a="http://schemas.openxmlformats.org/drawingml/2006/main">
            <a:pPr algn="l">
              <a:buNone/>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Dark.Mimic attack and our defensive question</a:t>
            </a:r>
          </a:p>
        </p:txBody>
      </p:sp>
      <p:sp>
        <p:nvSpPr>
          <p:cNvPr id="2" name="">
            <a:extLst xmlns:a="http://schemas.openxmlformats.org/drawingml/2006/main">
              <a:ext uri="{FF2B5EF4-FFF2-40B4-BE49-F238E27FC236}">
                <a16:creationId xmlns:a16="http://schemas.microsoft.com/office/drawing/2014/main" id="{BB110AB5-5224-4BD6-A2BC-93F0F46E070D}"/>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stStyle>
          <a:p xmlns:a="http://schemas.openxmlformats.org/drawingml/2006/main">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4A99B9EA-942E-4B5D-8F8C-B62BD08C0FC3}"/>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0DD449B-06DA-4432-90AE-D42067C3F942}"/>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stStyle>
          <a:p xmlns:a="http://schemas.openxmlformats.org/drawingml/2006/main">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5AD41436-FAC4-4F73-A54E-865EB33A252A}"/>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stStyle>
          <a:p xmlns:a="http://schemas.openxmlformats.org/drawingml/2006/main">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4/11</a:t>
            </a:r>
          </a:p>
        </p:txBody>
      </p:sp>
      <p:sp>
        <p:nvSpPr>
          <p:cNvPr id="6" name="">
            <a:extLst xmlns:a="http://schemas.openxmlformats.org/drawingml/2006/main">
              <a:ext uri="{FF2B5EF4-FFF2-40B4-BE49-F238E27FC236}">
                <a16:creationId xmlns:a16="http://schemas.microsoft.com/office/drawing/2014/main" id="{EBEE56A8-EEF0-477F-BEB7-7D038BBB4DFA}"/>
              </a:ext>
            </a:extLst>
          </p:cNvPr>
          <p:cNvSpPr>
            <a:spLocks xmlns:a="http://schemas.openxmlformats.org/drawingml/2006/main" noGrp="1"/>
          </p:cNvSpPr>
          <p:nvPr/>
        </p:nvSpPr>
        <p:spPr>
          <a:xfrm xmlns:a="http://schemas.openxmlformats.org/drawingml/2006/main">
            <a:off x="666750" y="1666875"/>
            <a:ext cx="2619375" cy="1238250"/>
          </a:xfrm>
          <a:prstGeom xmlns:a="http://schemas.openxmlformats.org/drawingml/2006/main" prst="roundRect">
            <a:avLst>
              <a:gd name="adj" fmla="val 6154"/>
            </a:avLst>
          </a:prstGeom>
          <a:solidFill xmlns:a="http://schemas.openxmlformats.org/drawingml/2006/main">
            <a:srgbClr val="F4F7FB"/>
          </a:solidFill>
          <a:ln xmlns:a="http://schemas.openxmlformats.org/drawingml/2006/main" w="19050">
            <a:solidFill>
              <a:srgbClr val="102A43"/>
            </a:solidFill>
          </a:ln>
        </p:spPr>
      </p:sp>
      <p:sp>
        <p:nvSpPr>
          <p:cNvPr id="7" name="">
            <a:extLst xmlns:a="http://schemas.openxmlformats.org/drawingml/2006/main">
              <a:ext uri="{FF2B5EF4-FFF2-40B4-BE49-F238E27FC236}">
                <a16:creationId xmlns:a16="http://schemas.microsoft.com/office/drawing/2014/main" id="{6D9C97A2-A4C9-4EA8-93C6-B55156401CAC}"/>
              </a:ext>
            </a:extLst>
          </p:cNvPr>
          <p:cNvSpPr>
            <a:spLocks xmlns:a="http://schemas.openxmlformats.org/drawingml/2006/main" noGrp="1"/>
          </p:cNvSpPr>
          <p:nvPr/>
        </p:nvSpPr>
        <p:spPr>
          <a:xfrm xmlns:a="http://schemas.openxmlformats.org/drawingml/2006/main">
            <a:off x="838200" y="1781175"/>
            <a:ext cx="22764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02A43"/>
                </a:solidFill>
                <a:latin typeface="Helvetica Neue"/>
                <a:ea typeface="Helvetica Neue"/>
                <a:cs typeface="Helvetica Neue"/>
              </a:defRPr>
            </a:defPPr>
          </a:lstStyle>
          <a:p xmlns:a="http://schemas.openxmlformats.org/drawingml/2006/main">
            <a:pPr algn="l">
              <a:buNone/>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Generated talking face</a:t>
            </a:r>
          </a:p>
        </p:txBody>
      </p:sp>
      <p:sp>
        <p:nvSpPr>
          <p:cNvPr id="8" name="">
            <a:extLst xmlns:a="http://schemas.openxmlformats.org/drawingml/2006/main">
              <a:ext uri="{FF2B5EF4-FFF2-40B4-BE49-F238E27FC236}">
                <a16:creationId xmlns:a16="http://schemas.microsoft.com/office/drawing/2014/main" id="{5B6BB8F9-E564-44FA-84A9-2817EC9EBEBF}"/>
              </a:ext>
            </a:extLst>
          </p:cNvPr>
          <p:cNvSpPr>
            <a:spLocks xmlns:a="http://schemas.openxmlformats.org/drawingml/2006/main" noGrp="1"/>
          </p:cNvSpPr>
          <p:nvPr/>
        </p:nvSpPr>
        <p:spPr>
          <a:xfrm xmlns:a="http://schemas.openxmlformats.org/drawingml/2006/main">
            <a:off x="838200" y="2162175"/>
            <a:ext cx="22764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SadTalker-style speech-to-face output</a:t>
            </a:r>
          </a:p>
        </p:txBody>
      </p:sp>
      <p:sp>
        <p:nvSpPr>
          <p:cNvPr id="9" name="">
            <a:extLst xmlns:a="http://schemas.openxmlformats.org/drawingml/2006/main">
              <a:ext uri="{FF2B5EF4-FFF2-40B4-BE49-F238E27FC236}">
                <a16:creationId xmlns:a16="http://schemas.microsoft.com/office/drawing/2014/main" id="{A74BEE6E-A2AA-4D7A-9F89-D1006022054F}"/>
              </a:ext>
            </a:extLst>
          </p:cNvPr>
          <p:cNvSpPr>
            <a:spLocks xmlns:a="http://schemas.openxmlformats.org/drawingml/2006/main" noGrp="1"/>
          </p:cNvSpPr>
          <p:nvPr/>
        </p:nvSpPr>
        <p:spPr>
          <a:xfrm xmlns:a="http://schemas.openxmlformats.org/drawingml/2006/main">
            <a:off x="4810125" y="1666875"/>
            <a:ext cx="2619375" cy="1238250"/>
          </a:xfrm>
          <a:prstGeom xmlns:a="http://schemas.openxmlformats.org/drawingml/2006/main" prst="roundRect">
            <a:avLst>
              <a:gd name="adj" fmla="val 6154"/>
            </a:avLst>
          </a:prstGeom>
          <a:solidFill xmlns:a="http://schemas.openxmlformats.org/drawingml/2006/main">
            <a:srgbClr val="FFF2E2"/>
          </a:solidFill>
          <a:ln xmlns:a="http://schemas.openxmlformats.org/drawingml/2006/main" w="19050">
            <a:solidFill>
              <a:srgbClr val="E67E22"/>
            </a:solidFill>
          </a:ln>
        </p:spPr>
      </p:sp>
      <p:sp>
        <p:nvSpPr>
          <p:cNvPr id="10" name="">
            <a:extLst xmlns:a="http://schemas.openxmlformats.org/drawingml/2006/main">
              <a:ext uri="{FF2B5EF4-FFF2-40B4-BE49-F238E27FC236}">
                <a16:creationId xmlns:a16="http://schemas.microsoft.com/office/drawing/2014/main" id="{9DB30E31-5697-4E1D-8C13-D7BA59B63879}"/>
              </a:ext>
            </a:extLst>
          </p:cNvPr>
          <p:cNvSpPr>
            <a:spLocks xmlns:a="http://schemas.openxmlformats.org/drawingml/2006/main" noGrp="1"/>
          </p:cNvSpPr>
          <p:nvPr/>
        </p:nvSpPr>
        <p:spPr>
          <a:xfrm xmlns:a="http://schemas.openxmlformats.org/drawingml/2006/main">
            <a:off x="4981575" y="1781175"/>
            <a:ext cx="22764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E67E22"/>
                </a:solidFill>
                <a:latin typeface="Helvetica Neue"/>
                <a:ea typeface="Helvetica Neue"/>
                <a:cs typeface="Helvetica Neue"/>
              </a:defRPr>
            </a:defPPr>
          </a:lstStyle>
          <a:p xmlns:a="http://schemas.openxmlformats.org/drawingml/2006/main">
            <a:pPr algn="l">
              <a:buNone/>
              <a:defRPr sz="1650" b="1">
                <a:solidFill>
                  <a:srgbClr val="E67E22"/>
                </a:solidFill>
                <a:latin typeface="Helvetica Neue"/>
                <a:ea typeface="Helvetica Neue"/>
                <a:cs typeface="Helvetica Neue"/>
              </a:defRPr>
            </a:pPr>
            <a:r>
              <a:rPr sz="1650" b="1">
                <a:solidFill>
                  <a:srgbClr val="E67E22"/>
                </a:solidFill>
                <a:latin typeface="Helvetica Neue"/>
                <a:ea typeface="Helvetica Neue"/>
                <a:cs typeface="Helvetica Neue"/>
              </a:rPr>
              <a:t>Periodic colour change</a:t>
            </a:r>
          </a:p>
        </p:txBody>
      </p:sp>
      <p:sp>
        <p:nvSpPr>
          <p:cNvPr id="11" name="">
            <a:extLst xmlns:a="http://schemas.openxmlformats.org/drawingml/2006/main">
              <a:ext uri="{FF2B5EF4-FFF2-40B4-BE49-F238E27FC236}">
                <a16:creationId xmlns:a16="http://schemas.microsoft.com/office/drawing/2014/main" id="{B825E65C-0960-42DF-B73A-4983E30BA05E}"/>
              </a:ext>
            </a:extLst>
          </p:cNvPr>
          <p:cNvSpPr>
            <a:spLocks xmlns:a="http://schemas.openxmlformats.org/drawingml/2006/main" noGrp="1"/>
          </p:cNvSpPr>
          <p:nvPr/>
        </p:nvSpPr>
        <p:spPr>
          <a:xfrm xmlns:a="http://schemas.openxmlformats.org/drawingml/2006/main">
            <a:off x="4981575" y="2162175"/>
            <a:ext cx="22764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A=1 physiological-signal manipulation</a:t>
            </a:r>
          </a:p>
        </p:txBody>
      </p:sp>
      <p:sp>
        <p:nvSpPr>
          <p:cNvPr id="12" name="">
            <a:extLst xmlns:a="http://schemas.openxmlformats.org/drawingml/2006/main">
              <a:ext uri="{FF2B5EF4-FFF2-40B4-BE49-F238E27FC236}">
                <a16:creationId xmlns:a16="http://schemas.microsoft.com/office/drawing/2014/main" id="{5B2F8E6D-BA6C-4C06-95B9-34F788904151}"/>
              </a:ext>
            </a:extLst>
          </p:cNvPr>
          <p:cNvSpPr>
            <a:spLocks xmlns:a="http://schemas.openxmlformats.org/drawingml/2006/main" noGrp="1"/>
          </p:cNvSpPr>
          <p:nvPr/>
        </p:nvSpPr>
        <p:spPr>
          <a:xfrm xmlns:a="http://schemas.openxmlformats.org/drawingml/2006/main">
            <a:off x="8905875" y="1666875"/>
            <a:ext cx="2619375" cy="1238250"/>
          </a:xfrm>
          <a:prstGeom xmlns:a="http://schemas.openxmlformats.org/drawingml/2006/main" prst="roundRect">
            <a:avLst>
              <a:gd name="adj" fmla="val 6154"/>
            </a:avLst>
          </a:prstGeom>
          <a:solidFill xmlns:a="http://schemas.openxmlformats.org/drawingml/2006/main">
            <a:srgbClr val="EAF1FF"/>
          </a:solidFill>
          <a:ln xmlns:a="http://schemas.openxmlformats.org/drawingml/2006/main" w="19050">
            <a:solidFill>
              <a:srgbClr val="2F6BFF"/>
            </a:solidFill>
          </a:ln>
        </p:spPr>
      </p:sp>
      <p:sp>
        <p:nvSpPr>
          <p:cNvPr id="13" name="">
            <a:extLst xmlns:a="http://schemas.openxmlformats.org/drawingml/2006/main">
              <a:ext uri="{FF2B5EF4-FFF2-40B4-BE49-F238E27FC236}">
                <a16:creationId xmlns:a16="http://schemas.microsoft.com/office/drawing/2014/main" id="{C85AA3ED-0709-4D58-A065-81DA978888C0}"/>
              </a:ext>
            </a:extLst>
          </p:cNvPr>
          <p:cNvSpPr>
            <a:spLocks xmlns:a="http://schemas.openxmlformats.org/drawingml/2006/main" noGrp="1"/>
          </p:cNvSpPr>
          <p:nvPr/>
        </p:nvSpPr>
        <p:spPr>
          <a:xfrm xmlns:a="http://schemas.openxmlformats.org/drawingml/2006/main">
            <a:off x="9077325" y="1781175"/>
            <a:ext cx="22764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2F6BFF"/>
                </a:solidFill>
                <a:latin typeface="Helvetica Neue"/>
                <a:ea typeface="Helvetica Neue"/>
                <a:cs typeface="Helvetica Neue"/>
              </a:defRPr>
            </a:defPPr>
          </a:lstStyle>
          <a:p xmlns:a="http://schemas.openxmlformats.org/drawingml/2006/main">
            <a:pPr algn="l">
              <a:buNone/>
              <a:defRPr sz="1650" b="1">
                <a:solidFill>
                  <a:srgbClr val="2F6BFF"/>
                </a:solidFill>
                <a:latin typeface="Helvetica Neue"/>
                <a:ea typeface="Helvetica Neue"/>
                <a:cs typeface="Helvetica Neue"/>
              </a:defRPr>
            </a:pPr>
            <a:r>
              <a:rPr sz="1650" b="1">
                <a:solidFill>
                  <a:srgbClr val="2F6BFF"/>
                </a:solidFill>
                <a:latin typeface="Helvetica Neue"/>
                <a:ea typeface="Helvetica Neue"/>
                <a:cs typeface="Helvetica Neue"/>
              </a:rPr>
              <a:t>rPPG detector</a:t>
            </a:r>
          </a:p>
        </p:txBody>
      </p:sp>
      <p:sp>
        <p:nvSpPr>
          <p:cNvPr id="14" name="">
            <a:extLst xmlns:a="http://schemas.openxmlformats.org/drawingml/2006/main">
              <a:ext uri="{FF2B5EF4-FFF2-40B4-BE49-F238E27FC236}">
                <a16:creationId xmlns:a16="http://schemas.microsoft.com/office/drawing/2014/main" id="{413D833A-814F-4DBD-9C9E-94DDA8A5785D}"/>
              </a:ext>
            </a:extLst>
          </p:cNvPr>
          <p:cNvSpPr>
            <a:spLocks xmlns:a="http://schemas.openxmlformats.org/drawingml/2006/main" noGrp="1"/>
          </p:cNvSpPr>
          <p:nvPr/>
        </p:nvSpPr>
        <p:spPr>
          <a:xfrm xmlns:a="http://schemas.openxmlformats.org/drawingml/2006/main">
            <a:off x="9077325" y="2162175"/>
            <a:ext cx="22764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Goal: make the fake look physiologically plausible</a:t>
            </a:r>
          </a:p>
        </p:txBody>
      </p:sp>
      <p:sp>
        <p:nvSpPr>
          <p:cNvPr id="15" name="">
            <a:extLst xmlns:a="http://schemas.openxmlformats.org/drawingml/2006/main">
              <a:ext uri="{FF2B5EF4-FFF2-40B4-BE49-F238E27FC236}">
                <a16:creationId xmlns:a16="http://schemas.microsoft.com/office/drawing/2014/main" id="{6656B1F7-20A5-462E-ABE8-C45DD6E43C54}"/>
              </a:ext>
            </a:extLst>
          </p:cNvPr>
          <p:cNvSpPr>
            <a:spLocks xmlns:a="http://schemas.openxmlformats.org/drawingml/2006/main" noGrp="1"/>
          </p:cNvSpPr>
          <p:nvPr/>
        </p:nvSpPr>
        <p:spPr>
          <a:xfrm xmlns:a="http://schemas.openxmlformats.org/drawingml/2006/main">
            <a:off x="3286125" y="2286000"/>
            <a:ext cx="1524000" cy="0"/>
          </a:xfrm>
          <a:prstGeom xmlns:a="http://schemas.openxmlformats.org/drawingml/2006/main" prst="line">
            <a:avLst/>
          </a:prstGeom>
          <a:noFill xmlns:a="http://schemas.openxmlformats.org/drawingml/2006/main"/>
          <a:ln xmlns:a="http://schemas.openxmlformats.org/drawingml/2006/main" w="19050">
            <a:solidFill>
              <a:srgbClr val="E67E22"/>
            </a:solidFill>
          </a:ln>
        </p:spPr>
      </p:sp>
      <p:sp>
        <p:nvSpPr>
          <p:cNvPr id="16" name="">
            <a:extLst xmlns:a="http://schemas.openxmlformats.org/drawingml/2006/main">
              <a:ext uri="{FF2B5EF4-FFF2-40B4-BE49-F238E27FC236}">
                <a16:creationId xmlns:a16="http://schemas.microsoft.com/office/drawing/2014/main" id="{0459F190-B562-4949-B1E2-3DB1BEBB9606}"/>
              </a:ext>
            </a:extLst>
          </p:cNvPr>
          <p:cNvSpPr>
            <a:spLocks xmlns:a="http://schemas.openxmlformats.org/drawingml/2006/main" noGrp="1"/>
          </p:cNvSpPr>
          <p:nvPr/>
        </p:nvSpPr>
        <p:spPr>
          <a:xfrm xmlns:a="http://schemas.openxmlformats.org/drawingml/2006/main">
            <a:off x="7429500" y="2286000"/>
            <a:ext cx="1476375" cy="0"/>
          </a:xfrm>
          <a:prstGeom xmlns:a="http://schemas.openxmlformats.org/drawingml/2006/main" prst="line">
            <a:avLst/>
          </a:prstGeom>
          <a:noFill xmlns:a="http://schemas.openxmlformats.org/drawingml/2006/main"/>
          <a:ln xmlns:a="http://schemas.openxmlformats.org/drawingml/2006/main" w="19050">
            <a:solidFill>
              <a:srgbClr val="2F6BFF"/>
            </a:solidFill>
          </a:ln>
        </p:spPr>
      </p:sp>
      <p:sp>
        <p:nvSpPr>
          <p:cNvPr id="17" name="">
            <a:extLst xmlns:a="http://schemas.openxmlformats.org/drawingml/2006/main">
              <a:ext uri="{FF2B5EF4-FFF2-40B4-BE49-F238E27FC236}">
                <a16:creationId xmlns:a16="http://schemas.microsoft.com/office/drawing/2014/main" id="{F599C5AD-BD42-4AC8-BF8B-A906E76B07AA}"/>
              </a:ext>
            </a:extLst>
          </p:cNvPr>
          <p:cNvSpPr>
            <a:spLocks xmlns:a="http://schemas.openxmlformats.org/drawingml/2006/main" noGrp="1"/>
          </p:cNvSpPr>
          <p:nvPr/>
        </p:nvSpPr>
        <p:spPr>
          <a:xfrm xmlns:a="http://schemas.openxmlformats.org/drawingml/2006/main">
            <a:off x="1666875" y="3714750"/>
            <a:ext cx="8858250" cy="38100"/>
          </a:xfrm>
          <a:prstGeom xmlns:a="http://schemas.openxmlformats.org/drawingml/2006/main" prst="rect">
            <a:avLst/>
          </a:prstGeom>
          <a:solidFill xmlns:a="http://schemas.openxmlformats.org/drawingml/2006/main">
            <a:srgbClr val="159E9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E385F99-4DE8-4885-96D5-A0C8DCEBB424}"/>
              </a:ext>
            </a:extLst>
          </p:cNvPr>
          <p:cNvSpPr>
            <a:spLocks xmlns:a="http://schemas.openxmlformats.org/drawingml/2006/main" noGrp="1"/>
          </p:cNvSpPr>
          <p:nvPr/>
        </p:nvSpPr>
        <p:spPr>
          <a:xfrm xmlns:a="http://schemas.openxmlformats.org/drawingml/2006/main">
            <a:off x="666750" y="4048125"/>
            <a:ext cx="2619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00" b="1">
                <a:solidFill>
                  <a:srgbClr val="159E9C"/>
                </a:solidFill>
                <a:latin typeface="Helvetica Neue"/>
                <a:ea typeface="Helvetica Neue"/>
                <a:cs typeface="Helvetica Neue"/>
              </a:defRPr>
            </a:defPPr>
          </a:lstStyle>
          <a:p xmlns:a="http://schemas.openxmlformats.org/drawingml/2006/main">
            <a:pPr algn="l">
              <a:buNone/>
              <a:defRPr sz="1800" b="1">
                <a:solidFill>
                  <a:srgbClr val="159E9C"/>
                </a:solidFill>
                <a:latin typeface="Helvetica Neue"/>
                <a:ea typeface="Helvetica Neue"/>
                <a:cs typeface="Helvetica Neue"/>
              </a:defRPr>
            </a:pPr>
            <a:r>
              <a:rPr sz="1800" b="1">
                <a:solidFill>
                  <a:srgbClr val="159E9C"/>
                </a:solidFill>
                <a:latin typeface="Helvetica Neue"/>
                <a:ea typeface="Helvetica Neue"/>
                <a:cs typeface="Helvetica Neue"/>
              </a:rPr>
              <a:t>Light-side question</a:t>
            </a:r>
          </a:p>
        </p:txBody>
      </p:sp>
      <p:sp>
        <p:nvSpPr>
          <p:cNvPr id="19" name="">
            <a:extLst xmlns:a="http://schemas.openxmlformats.org/drawingml/2006/main">
              <a:ext uri="{FF2B5EF4-FFF2-40B4-BE49-F238E27FC236}">
                <a16:creationId xmlns:a16="http://schemas.microsoft.com/office/drawing/2014/main" id="{207F9BCE-2636-4631-AE3A-F6DECBE12A76}"/>
              </a:ext>
            </a:extLst>
          </p:cNvPr>
          <p:cNvSpPr>
            <a:spLocks xmlns:a="http://schemas.openxmlformats.org/drawingml/2006/main" noGrp="1"/>
          </p:cNvSpPr>
          <p:nvPr/>
        </p:nvSpPr>
        <p:spPr>
          <a:xfrm xmlns:a="http://schemas.openxmlformats.org/drawingml/2006/main">
            <a:off x="3333750" y="3943350"/>
            <a:ext cx="742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250" b="1">
                <a:solidFill>
                  <a:srgbClr val="102A43"/>
                </a:solidFill>
                <a:latin typeface="Helvetica Neue"/>
                <a:ea typeface="Helvetica Neue"/>
                <a:cs typeface="Helvetica Neue"/>
              </a:defRPr>
            </a:defPPr>
          </a:lstStyle>
          <a:p xmlns:a="http://schemas.openxmlformats.org/drawingml/2006/main">
            <a:pPr algn="ctr">
              <a:buNone/>
              <a:defRPr sz="2250" b="1">
                <a:solidFill>
                  <a:srgbClr val="102A43"/>
                </a:solidFill>
                <a:latin typeface="Helvetica Neue"/>
                <a:ea typeface="Helvetica Neue"/>
                <a:cs typeface="Helvetica Neue"/>
              </a:defRPr>
            </a:pPr>
            <a:r>
              <a:rPr sz="2250" b="1">
                <a:solidFill>
                  <a:srgbClr val="102A43"/>
                </a:solidFill>
                <a:latin typeface="Helvetica Neue"/>
                <a:ea typeface="Helvetica Neue"/>
                <a:cs typeface="Helvetica Neue"/>
              </a:rPr>
              <a:t>If the attack repairs one signal, does it leave another trace?</a:t>
            </a:r>
          </a:p>
        </p:txBody>
      </p:sp>
      <p:sp>
        <p:nvSpPr>
          <p:cNvPr id="20" name="">
            <a:extLst xmlns:a="http://schemas.openxmlformats.org/drawingml/2006/main">
              <a:ext uri="{FF2B5EF4-FFF2-40B4-BE49-F238E27FC236}">
                <a16:creationId xmlns:a16="http://schemas.microsoft.com/office/drawing/2014/main" id="{951FE2E8-4263-4AD5-BFB1-E1881800989B}"/>
              </a:ext>
            </a:extLst>
          </p:cNvPr>
          <p:cNvSpPr>
            <a:spLocks xmlns:a="http://schemas.openxmlformats.org/drawingml/2006/main" noGrp="1"/>
          </p:cNvSpPr>
          <p:nvPr/>
        </p:nvSpPr>
        <p:spPr>
          <a:xfrm xmlns:a="http://schemas.openxmlformats.org/drawingml/2006/main">
            <a:off x="1619250" y="4810125"/>
            <a:ext cx="895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500" b="0">
                <a:solidFill>
                  <a:srgbClr val="243B53"/>
                </a:solidFill>
                <a:latin typeface="Helvetica Neue"/>
                <a:ea typeface="Helvetica Neue"/>
                <a:cs typeface="Helvetica Neue"/>
              </a:defRPr>
            </a:defPPr>
          </a:lstStyle>
          <a:p xmlns:a="http://schemas.openxmlformats.org/drawingml/2006/main">
            <a:pPr algn="ctr">
              <a:buNone/>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Earlier paired check: identical audio and mouth-geometry correlations of 0.997 to 0.999</a:t>
            </a:r>
          </a:p>
        </p:txBody>
      </p:sp>
      <p:sp>
        <p:nvSpPr>
          <p:cNvPr id="21" name="">
            <a:extLst xmlns:a="http://schemas.openxmlformats.org/drawingml/2006/main">
              <a:ext uri="{FF2B5EF4-FFF2-40B4-BE49-F238E27FC236}">
                <a16:creationId xmlns:a16="http://schemas.microsoft.com/office/drawing/2014/main" id="{3FCDA84F-BC4A-4490-8187-4028CEBEDE73}"/>
              </a:ext>
            </a:extLst>
          </p:cNvPr>
          <p:cNvSpPr>
            <a:spLocks xmlns:a="http://schemas.openxmlformats.org/drawingml/2006/main" noGrp="1"/>
          </p:cNvSpPr>
          <p:nvPr/>
        </p:nvSpPr>
        <p:spPr>
          <a:xfrm xmlns:a="http://schemas.openxmlformats.org/drawingml/2006/main">
            <a:off x="1619250" y="5343525"/>
            <a:ext cx="895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500" b="1">
                <a:solidFill>
                  <a:srgbClr val="D64545"/>
                </a:solidFill>
                <a:latin typeface="Helvetica Neue"/>
                <a:ea typeface="Helvetica Neue"/>
                <a:cs typeface="Helvetica Neue"/>
              </a:defRPr>
            </a:defPPr>
          </a:lstStyle>
          <a:p xmlns:a="http://schemas.openxmlformats.org/drawingml/2006/main">
            <a:pPr algn="ctr">
              <a:buNone/>
              <a:defRPr sz="1500" b="1">
                <a:solidFill>
                  <a:srgbClr val="D64545"/>
                </a:solidFill>
                <a:latin typeface="Helvetica Neue"/>
                <a:ea typeface="Helvetica Neue"/>
                <a:cs typeface="Helvetica Neue"/>
              </a:defRPr>
            </a:pPr>
            <a:r>
              <a:rPr sz="1500" b="1">
                <a:solidFill>
                  <a:srgbClr val="D64545"/>
                </a:solidFill>
                <a:latin typeface="Helvetica Neue"/>
                <a:ea typeface="Helvetica Neue"/>
                <a:cs typeface="Helvetica Neue"/>
              </a:rPr>
              <a:t>New M3 check: periodic decoded-pixel differences near the peer-reported 1.2 Hz</a:t>
            </a:r>
          </a:p>
        </p:txBody>
      </p:sp>
    </p:spTree>
    <p:extLst>
      <p:ext uri="{BB962C8B-B14F-4D97-AF65-F5344CB8AC3E}">
        <p14:creationId xmlns:p14="http://schemas.microsoft.com/office/powerpoint/2010/main" val="171179937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30B14E81-211C-4033-96B9-990A03A6193C}"/>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stStyle>
          <a:p xmlns:a="http://schemas.openxmlformats.org/drawingml/2006/main">
            <a:pPr algn="l">
              <a:buNone/>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Strategy A: matched lip-dynamics experiment</a:t>
            </a:r>
          </a:p>
        </p:txBody>
      </p:sp>
      <p:sp>
        <p:nvSpPr>
          <p:cNvPr id="2" name="">
            <a:extLst xmlns:a="http://schemas.openxmlformats.org/drawingml/2006/main">
              <a:ext uri="{FF2B5EF4-FFF2-40B4-BE49-F238E27FC236}">
                <a16:creationId xmlns:a16="http://schemas.microsoft.com/office/drawing/2014/main" id="{9F94E856-0357-4F7A-81F2-AED6CC98382F}"/>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stStyle>
          <a:p xmlns:a="http://schemas.openxmlformats.org/drawingml/2006/main">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299378F1-4159-4C38-8B77-DF956C13A413}"/>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5988CD5-FCC8-4EED-9D94-F08FEF4F4244}"/>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stStyle>
          <a:p xmlns:a="http://schemas.openxmlformats.org/drawingml/2006/main">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B8C31B16-9753-4093-9CE4-9D20842DC191}"/>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stStyle>
          <a:p xmlns:a="http://schemas.openxmlformats.org/drawingml/2006/main">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5/11</a:t>
            </a:r>
          </a:p>
        </p:txBody>
      </p:sp>
      <p:sp>
        <p:nvSpPr>
          <p:cNvPr id="6" name="">
            <a:extLst xmlns:a="http://schemas.openxmlformats.org/drawingml/2006/main">
              <a:ext uri="{FF2B5EF4-FFF2-40B4-BE49-F238E27FC236}">
                <a16:creationId xmlns:a16="http://schemas.microsoft.com/office/drawing/2014/main" id="{5295E7B2-1908-4F02-B920-11CAC0CBE55C}"/>
              </a:ext>
            </a:extLst>
          </p:cNvPr>
          <p:cNvSpPr>
            <a:spLocks xmlns:a="http://schemas.openxmlformats.org/drawingml/2006/main" noGrp="1"/>
          </p:cNvSpPr>
          <p:nvPr/>
        </p:nvSpPr>
        <p:spPr>
          <a:xfrm xmlns:a="http://schemas.openxmlformats.org/drawingml/2006/main">
            <a:off x="476250" y="2000250"/>
            <a:ext cx="1952625" cy="1524000"/>
          </a:xfrm>
          <a:prstGeom xmlns:a="http://schemas.openxmlformats.org/drawingml/2006/main" prst="roundRect">
            <a:avLst>
              <a:gd name="adj" fmla="val 5000"/>
            </a:avLst>
          </a:prstGeom>
          <a:solidFill xmlns:a="http://schemas.openxmlformats.org/drawingml/2006/main">
            <a:srgbClr val="EAF1FF"/>
          </a:solidFill>
          <a:ln xmlns:a="http://schemas.openxmlformats.org/drawingml/2006/main" w="19050">
            <a:solidFill>
              <a:srgbClr val="2F6BFF"/>
            </a:solidFill>
          </a:ln>
        </p:spPr>
      </p:sp>
      <p:sp>
        <p:nvSpPr>
          <p:cNvPr id="7" name="">
            <a:extLst xmlns:a="http://schemas.openxmlformats.org/drawingml/2006/main">
              <a:ext uri="{FF2B5EF4-FFF2-40B4-BE49-F238E27FC236}">
                <a16:creationId xmlns:a16="http://schemas.microsoft.com/office/drawing/2014/main" id="{7D664A12-BCDF-4DE2-B337-1222735AD02F}"/>
              </a:ext>
            </a:extLst>
          </p:cNvPr>
          <p:cNvSpPr>
            <a:spLocks xmlns:a="http://schemas.openxmlformats.org/drawingml/2006/main" noGrp="1"/>
          </p:cNvSpPr>
          <p:nvPr/>
        </p:nvSpPr>
        <p:spPr>
          <a:xfrm xmlns:a="http://schemas.openxmlformats.org/drawingml/2006/main">
            <a:off x="647700" y="2114550"/>
            <a:ext cx="1609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2F6BFF"/>
                </a:solidFill>
                <a:latin typeface="Helvetica Neue"/>
                <a:ea typeface="Helvetica Neue"/>
                <a:cs typeface="Helvetica Neue"/>
              </a:defRPr>
            </a:defPPr>
          </a:lstStyle>
          <a:p xmlns:a="http://schemas.openxmlformats.org/drawingml/2006/main">
            <a:pPr algn="l">
              <a:buNone/>
              <a:defRPr sz="1650" b="1">
                <a:solidFill>
                  <a:srgbClr val="2F6BFF"/>
                </a:solidFill>
                <a:latin typeface="Helvetica Neue"/>
                <a:ea typeface="Helvetica Neue"/>
                <a:cs typeface="Helvetica Neue"/>
              </a:defRPr>
            </a:pPr>
            <a:r>
              <a:rPr sz="1650" b="1">
                <a:solidFill>
                  <a:srgbClr val="2F6BFF"/>
                </a:solidFill>
                <a:latin typeface="Helvetica Neue"/>
                <a:ea typeface="Helvetica Neue"/>
                <a:cs typeface="Helvetica Neue"/>
              </a:rPr>
              <a:t>12 pairs</a:t>
            </a:r>
          </a:p>
        </p:txBody>
      </p:sp>
      <p:sp>
        <p:nvSpPr>
          <p:cNvPr id="8" name="">
            <a:extLst xmlns:a="http://schemas.openxmlformats.org/drawingml/2006/main">
              <a:ext uri="{FF2B5EF4-FFF2-40B4-BE49-F238E27FC236}">
                <a16:creationId xmlns:a16="http://schemas.microsoft.com/office/drawing/2014/main" id="{2DE1939D-8A2D-4A59-8F3D-8E165DDFCE49}"/>
              </a:ext>
            </a:extLst>
          </p:cNvPr>
          <p:cNvSpPr>
            <a:spLocks xmlns:a="http://schemas.openxmlformats.org/drawingml/2006/main" noGrp="1"/>
          </p:cNvSpPr>
          <p:nvPr/>
        </p:nvSpPr>
        <p:spPr>
          <a:xfrm xmlns:a="http://schemas.openxmlformats.org/drawingml/2006/main">
            <a:off x="647700" y="2495550"/>
            <a:ext cx="16097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Same identity/audio</a:t>
            </a:r>
          </a:p>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12 real + 12 SadTalker</a:t>
            </a:r>
          </a:p>
        </p:txBody>
      </p:sp>
      <p:sp>
        <p:nvSpPr>
          <p:cNvPr id="9" name="">
            <a:extLst xmlns:a="http://schemas.openxmlformats.org/drawingml/2006/main">
              <a:ext uri="{FF2B5EF4-FFF2-40B4-BE49-F238E27FC236}">
                <a16:creationId xmlns:a16="http://schemas.microsoft.com/office/drawing/2014/main" id="{4DED0F70-4932-4DB2-AD18-92C3823EE222}"/>
              </a:ext>
            </a:extLst>
          </p:cNvPr>
          <p:cNvSpPr>
            <a:spLocks xmlns:a="http://schemas.openxmlformats.org/drawingml/2006/main" noGrp="1"/>
          </p:cNvSpPr>
          <p:nvPr/>
        </p:nvSpPr>
        <p:spPr>
          <a:xfrm xmlns:a="http://schemas.openxmlformats.org/drawingml/2006/main">
            <a:off x="2428875" y="2762250"/>
            <a:ext cx="381000" cy="0"/>
          </a:xfrm>
          <a:prstGeom xmlns:a="http://schemas.openxmlformats.org/drawingml/2006/main" prst="line">
            <a:avLst/>
          </a:prstGeom>
          <a:noFill xmlns:a="http://schemas.openxmlformats.org/drawingml/2006/main"/>
          <a:ln xmlns:a="http://schemas.openxmlformats.org/drawingml/2006/main" w="19050">
            <a:solidFill>
              <a:srgbClr val="627D98"/>
            </a:solidFill>
          </a:ln>
        </p:spPr>
      </p:sp>
      <p:sp>
        <p:nvSpPr>
          <p:cNvPr id="10" name="">
            <a:extLst xmlns:a="http://schemas.openxmlformats.org/drawingml/2006/main">
              <a:ext uri="{FF2B5EF4-FFF2-40B4-BE49-F238E27FC236}">
                <a16:creationId xmlns:a16="http://schemas.microsoft.com/office/drawing/2014/main" id="{1E7014B4-2C2E-4B50-83D0-08FC3381B009}"/>
              </a:ext>
            </a:extLst>
          </p:cNvPr>
          <p:cNvSpPr>
            <a:spLocks xmlns:a="http://schemas.openxmlformats.org/drawingml/2006/main" noGrp="1"/>
          </p:cNvSpPr>
          <p:nvPr/>
        </p:nvSpPr>
        <p:spPr>
          <a:xfrm xmlns:a="http://schemas.openxmlformats.org/drawingml/2006/main">
            <a:off x="2809875" y="2000250"/>
            <a:ext cx="1952625" cy="1524000"/>
          </a:xfrm>
          <a:prstGeom xmlns:a="http://schemas.openxmlformats.org/drawingml/2006/main" prst="roundRect">
            <a:avLst>
              <a:gd name="adj" fmla="val 5000"/>
            </a:avLst>
          </a:prstGeom>
          <a:solidFill xmlns:a="http://schemas.openxmlformats.org/drawingml/2006/main">
            <a:srgbClr val="E7F7F5"/>
          </a:solidFill>
          <a:ln xmlns:a="http://schemas.openxmlformats.org/drawingml/2006/main" w="19050">
            <a:solidFill>
              <a:srgbClr val="159E9C"/>
            </a:solidFill>
          </a:ln>
        </p:spPr>
      </p:sp>
      <p:sp>
        <p:nvSpPr>
          <p:cNvPr id="11" name="">
            <a:extLst xmlns:a="http://schemas.openxmlformats.org/drawingml/2006/main">
              <a:ext uri="{FF2B5EF4-FFF2-40B4-BE49-F238E27FC236}">
                <a16:creationId xmlns:a16="http://schemas.microsoft.com/office/drawing/2014/main" id="{D3A65E21-1179-4C91-B956-87DC18D32042}"/>
              </a:ext>
            </a:extLst>
          </p:cNvPr>
          <p:cNvSpPr>
            <a:spLocks xmlns:a="http://schemas.openxmlformats.org/drawingml/2006/main" noGrp="1"/>
          </p:cNvSpPr>
          <p:nvPr/>
        </p:nvSpPr>
        <p:spPr>
          <a:xfrm xmlns:a="http://schemas.openxmlformats.org/drawingml/2006/main">
            <a:off x="2981325" y="2114550"/>
            <a:ext cx="1609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59E9C"/>
                </a:solidFill>
                <a:latin typeface="Helvetica Neue"/>
                <a:ea typeface="Helvetica Neue"/>
                <a:cs typeface="Helvetica Neue"/>
              </a:defRPr>
            </a:defPPr>
          </a:lstStyle>
          <a:p xmlns:a="http://schemas.openxmlformats.org/drawingml/2006/main">
            <a:pPr algn="l">
              <a:buNone/>
              <a:defRPr sz="1650" b="1">
                <a:solidFill>
                  <a:srgbClr val="159E9C"/>
                </a:solidFill>
                <a:latin typeface="Helvetica Neue"/>
                <a:ea typeface="Helvetica Neue"/>
                <a:cs typeface="Helvetica Neue"/>
              </a:defRPr>
            </a:pPr>
            <a:r>
              <a:rPr sz="1650" b="1">
                <a:solidFill>
                  <a:srgbClr val="159E9C"/>
                </a:solidFill>
                <a:latin typeface="Helvetica Neue"/>
                <a:ea typeface="Helvetica Neue"/>
                <a:cs typeface="Helvetica Neue"/>
              </a:rPr>
              <a:t>Mouth signals</a:t>
            </a:r>
          </a:p>
        </p:txBody>
      </p:sp>
      <p:sp>
        <p:nvSpPr>
          <p:cNvPr id="12" name="">
            <a:extLst xmlns:a="http://schemas.openxmlformats.org/drawingml/2006/main">
              <a:ext uri="{FF2B5EF4-FFF2-40B4-BE49-F238E27FC236}">
                <a16:creationId xmlns:a16="http://schemas.microsoft.com/office/drawing/2014/main" id="{C586054E-0EC4-430C-9135-279C1DEA6A6B}"/>
              </a:ext>
            </a:extLst>
          </p:cNvPr>
          <p:cNvSpPr>
            <a:spLocks xmlns:a="http://schemas.openxmlformats.org/drawingml/2006/main" noGrp="1"/>
          </p:cNvSpPr>
          <p:nvPr/>
        </p:nvSpPr>
        <p:spPr>
          <a:xfrm xmlns:a="http://schemas.openxmlformats.org/drawingml/2006/main">
            <a:off x="2981325" y="2495550"/>
            <a:ext cx="16097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Aperture, width</a:t>
            </a:r>
          </a:p>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velocity to jerk</a:t>
            </a:r>
          </a:p>
        </p:txBody>
      </p:sp>
      <p:sp>
        <p:nvSpPr>
          <p:cNvPr id="13" name="">
            <a:extLst xmlns:a="http://schemas.openxmlformats.org/drawingml/2006/main">
              <a:ext uri="{FF2B5EF4-FFF2-40B4-BE49-F238E27FC236}">
                <a16:creationId xmlns:a16="http://schemas.microsoft.com/office/drawing/2014/main" id="{938529C6-A28D-435C-9CCE-0BC0921197B4}"/>
              </a:ext>
            </a:extLst>
          </p:cNvPr>
          <p:cNvSpPr>
            <a:spLocks xmlns:a="http://schemas.openxmlformats.org/drawingml/2006/main" noGrp="1"/>
          </p:cNvSpPr>
          <p:nvPr/>
        </p:nvSpPr>
        <p:spPr>
          <a:xfrm xmlns:a="http://schemas.openxmlformats.org/drawingml/2006/main">
            <a:off x="4762500" y="2762250"/>
            <a:ext cx="381000" cy="0"/>
          </a:xfrm>
          <a:prstGeom xmlns:a="http://schemas.openxmlformats.org/drawingml/2006/main" prst="line">
            <a:avLst/>
          </a:prstGeom>
          <a:noFill xmlns:a="http://schemas.openxmlformats.org/drawingml/2006/main"/>
          <a:ln xmlns:a="http://schemas.openxmlformats.org/drawingml/2006/main" w="19050">
            <a:solidFill>
              <a:srgbClr val="627D98"/>
            </a:solidFill>
          </a:ln>
        </p:spPr>
      </p:sp>
      <p:sp>
        <p:nvSpPr>
          <p:cNvPr id="14" name="">
            <a:extLst xmlns:a="http://schemas.openxmlformats.org/drawingml/2006/main">
              <a:ext uri="{FF2B5EF4-FFF2-40B4-BE49-F238E27FC236}">
                <a16:creationId xmlns:a16="http://schemas.microsoft.com/office/drawing/2014/main" id="{8E056B4E-6367-47E7-93BE-CE9B0407671B}"/>
              </a:ext>
            </a:extLst>
          </p:cNvPr>
          <p:cNvSpPr>
            <a:spLocks xmlns:a="http://schemas.openxmlformats.org/drawingml/2006/main" noGrp="1"/>
          </p:cNvSpPr>
          <p:nvPr/>
        </p:nvSpPr>
        <p:spPr>
          <a:xfrm xmlns:a="http://schemas.openxmlformats.org/drawingml/2006/main">
            <a:off x="5143500" y="2000250"/>
            <a:ext cx="1952625" cy="1524000"/>
          </a:xfrm>
          <a:prstGeom xmlns:a="http://schemas.openxmlformats.org/drawingml/2006/main" prst="roundRect">
            <a:avLst>
              <a:gd name="adj" fmla="val 5000"/>
            </a:avLst>
          </a:prstGeom>
          <a:solidFill xmlns:a="http://schemas.openxmlformats.org/drawingml/2006/main">
            <a:srgbClr val="FFF2E2"/>
          </a:solidFill>
          <a:ln xmlns:a="http://schemas.openxmlformats.org/drawingml/2006/main" w="19050">
            <a:solidFill>
              <a:srgbClr val="E67E22"/>
            </a:solidFill>
          </a:ln>
        </p:spPr>
      </p:sp>
      <p:sp>
        <p:nvSpPr>
          <p:cNvPr id="15" name="">
            <a:extLst xmlns:a="http://schemas.openxmlformats.org/drawingml/2006/main">
              <a:ext uri="{FF2B5EF4-FFF2-40B4-BE49-F238E27FC236}">
                <a16:creationId xmlns:a16="http://schemas.microsoft.com/office/drawing/2014/main" id="{94632F1E-F2BB-47CE-9FC2-11327FC8ACCC}"/>
              </a:ext>
            </a:extLst>
          </p:cNvPr>
          <p:cNvSpPr>
            <a:spLocks xmlns:a="http://schemas.openxmlformats.org/drawingml/2006/main" noGrp="1"/>
          </p:cNvSpPr>
          <p:nvPr/>
        </p:nvSpPr>
        <p:spPr>
          <a:xfrm xmlns:a="http://schemas.openxmlformats.org/drawingml/2006/main">
            <a:off x="5314950" y="2114550"/>
            <a:ext cx="1609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E67E22"/>
                </a:solidFill>
                <a:latin typeface="Helvetica Neue"/>
                <a:ea typeface="Helvetica Neue"/>
                <a:cs typeface="Helvetica Neue"/>
              </a:defRPr>
            </a:defPPr>
          </a:lstStyle>
          <a:p xmlns:a="http://schemas.openxmlformats.org/drawingml/2006/main">
            <a:pPr algn="l">
              <a:buNone/>
              <a:defRPr sz="1650" b="1">
                <a:solidFill>
                  <a:srgbClr val="E67E22"/>
                </a:solidFill>
                <a:latin typeface="Helvetica Neue"/>
                <a:ea typeface="Helvetica Neue"/>
                <a:cs typeface="Helvetica Neue"/>
              </a:defRPr>
            </a:pPr>
            <a:r>
              <a:rPr sz="1650" b="1">
                <a:solidFill>
                  <a:srgbClr val="E67E22"/>
                </a:solidFill>
                <a:latin typeface="Helvetica Neue"/>
                <a:ea typeface="Helvetica Neue"/>
                <a:cs typeface="Helvetica Neue"/>
              </a:rPr>
              <a:t>Weak alignment</a:t>
            </a:r>
          </a:p>
        </p:txBody>
      </p:sp>
      <p:sp>
        <p:nvSpPr>
          <p:cNvPr id="16" name="">
            <a:extLst xmlns:a="http://schemas.openxmlformats.org/drawingml/2006/main">
              <a:ext uri="{FF2B5EF4-FFF2-40B4-BE49-F238E27FC236}">
                <a16:creationId xmlns:a16="http://schemas.microsoft.com/office/drawing/2014/main" id="{7DB493FC-71D4-4C19-B6AB-BEC376D0A87B}"/>
              </a:ext>
            </a:extLst>
          </p:cNvPr>
          <p:cNvSpPr>
            <a:spLocks xmlns:a="http://schemas.openxmlformats.org/drawingml/2006/main" noGrp="1"/>
          </p:cNvSpPr>
          <p:nvPr/>
        </p:nvSpPr>
        <p:spPr>
          <a:xfrm xmlns:a="http://schemas.openxmlformats.org/drawingml/2006/main">
            <a:off x="5314950" y="2495550"/>
            <a:ext cx="16097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Whisper timestamps</a:t>
            </a:r>
          </a:p>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CMUdict phones</a:t>
            </a:r>
          </a:p>
        </p:txBody>
      </p:sp>
      <p:sp>
        <p:nvSpPr>
          <p:cNvPr id="17" name="">
            <a:extLst xmlns:a="http://schemas.openxmlformats.org/drawingml/2006/main">
              <a:ext uri="{FF2B5EF4-FFF2-40B4-BE49-F238E27FC236}">
                <a16:creationId xmlns:a16="http://schemas.microsoft.com/office/drawing/2014/main" id="{0F41FDF3-1A8B-4E49-AD06-6604E45DEB88}"/>
              </a:ext>
            </a:extLst>
          </p:cNvPr>
          <p:cNvSpPr>
            <a:spLocks xmlns:a="http://schemas.openxmlformats.org/drawingml/2006/main" noGrp="1"/>
          </p:cNvSpPr>
          <p:nvPr/>
        </p:nvSpPr>
        <p:spPr>
          <a:xfrm xmlns:a="http://schemas.openxmlformats.org/drawingml/2006/main">
            <a:off x="7096125" y="2762250"/>
            <a:ext cx="381000" cy="0"/>
          </a:xfrm>
          <a:prstGeom xmlns:a="http://schemas.openxmlformats.org/drawingml/2006/main" prst="line">
            <a:avLst/>
          </a:prstGeom>
          <a:noFill xmlns:a="http://schemas.openxmlformats.org/drawingml/2006/main"/>
          <a:ln xmlns:a="http://schemas.openxmlformats.org/drawingml/2006/main" w="19050">
            <a:solidFill>
              <a:srgbClr val="627D98"/>
            </a:solidFill>
          </a:ln>
        </p:spPr>
      </p:sp>
      <p:sp>
        <p:nvSpPr>
          <p:cNvPr id="18" name="">
            <a:extLst xmlns:a="http://schemas.openxmlformats.org/drawingml/2006/main">
              <a:ext uri="{FF2B5EF4-FFF2-40B4-BE49-F238E27FC236}">
                <a16:creationId xmlns:a16="http://schemas.microsoft.com/office/drawing/2014/main" id="{033D673A-0AA2-4E5A-8E67-BD83E6648BDC}"/>
              </a:ext>
            </a:extLst>
          </p:cNvPr>
          <p:cNvSpPr>
            <a:spLocks xmlns:a="http://schemas.openxmlformats.org/drawingml/2006/main" noGrp="1"/>
          </p:cNvSpPr>
          <p:nvPr/>
        </p:nvSpPr>
        <p:spPr>
          <a:xfrm xmlns:a="http://schemas.openxmlformats.org/drawingml/2006/main">
            <a:off x="7477125" y="2000250"/>
            <a:ext cx="1952625" cy="1524000"/>
          </a:xfrm>
          <a:prstGeom xmlns:a="http://schemas.openxmlformats.org/drawingml/2006/main" prst="roundRect">
            <a:avLst>
              <a:gd name="adj" fmla="val 5000"/>
            </a:avLst>
          </a:prstGeom>
          <a:solidFill xmlns:a="http://schemas.openxmlformats.org/drawingml/2006/main">
            <a:srgbClr val="FCECEC"/>
          </a:solidFill>
          <a:ln xmlns:a="http://schemas.openxmlformats.org/drawingml/2006/main" w="19050">
            <a:solidFill>
              <a:srgbClr val="D64545"/>
            </a:solidFill>
          </a:ln>
        </p:spPr>
      </p:sp>
      <p:sp>
        <p:nvSpPr>
          <p:cNvPr id="19" name="">
            <a:extLst xmlns:a="http://schemas.openxmlformats.org/drawingml/2006/main">
              <a:ext uri="{FF2B5EF4-FFF2-40B4-BE49-F238E27FC236}">
                <a16:creationId xmlns:a16="http://schemas.microsoft.com/office/drawing/2014/main" id="{35550626-57A5-4B0C-BA0C-D517EA37FA77}"/>
              </a:ext>
            </a:extLst>
          </p:cNvPr>
          <p:cNvSpPr>
            <a:spLocks xmlns:a="http://schemas.openxmlformats.org/drawingml/2006/main" noGrp="1"/>
          </p:cNvSpPr>
          <p:nvPr/>
        </p:nvSpPr>
        <p:spPr>
          <a:xfrm xmlns:a="http://schemas.openxmlformats.org/drawingml/2006/main">
            <a:off x="7648575" y="2114550"/>
            <a:ext cx="1609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D64545"/>
                </a:solidFill>
                <a:latin typeface="Helvetica Neue"/>
                <a:ea typeface="Helvetica Neue"/>
                <a:cs typeface="Helvetica Neue"/>
              </a:defRPr>
            </a:defPPr>
          </a:lstStyle>
          <a:p xmlns:a="http://schemas.openxmlformats.org/drawingml/2006/main">
            <a:pPr algn="l">
              <a:buNone/>
              <a:defRPr sz="1650" b="1">
                <a:solidFill>
                  <a:srgbClr val="D64545"/>
                </a:solidFill>
                <a:latin typeface="Helvetica Neue"/>
                <a:ea typeface="Helvetica Neue"/>
                <a:cs typeface="Helvetica Neue"/>
              </a:defRPr>
            </a:pPr>
            <a:r>
              <a:rPr sz="1650" b="1">
                <a:solidFill>
                  <a:srgbClr val="D64545"/>
                </a:solidFill>
                <a:latin typeface="Helvetica Neue"/>
                <a:ea typeface="Helvetica Neue"/>
                <a:cs typeface="Helvetica Neue"/>
              </a:rPr>
              <a:t>Four views</a:t>
            </a:r>
          </a:p>
        </p:txBody>
      </p:sp>
      <p:sp>
        <p:nvSpPr>
          <p:cNvPr id="20" name="">
            <a:extLst xmlns:a="http://schemas.openxmlformats.org/drawingml/2006/main">
              <a:ext uri="{FF2B5EF4-FFF2-40B4-BE49-F238E27FC236}">
                <a16:creationId xmlns:a16="http://schemas.microsoft.com/office/drawing/2014/main" id="{FC029DD4-D786-4F5C-9072-C1964E7CF841}"/>
              </a:ext>
            </a:extLst>
          </p:cNvPr>
          <p:cNvSpPr>
            <a:spLocks xmlns:a="http://schemas.openxmlformats.org/drawingml/2006/main" noGrp="1"/>
          </p:cNvSpPr>
          <p:nvPr/>
        </p:nvSpPr>
        <p:spPr>
          <a:xfrm xmlns:a="http://schemas.openxmlformats.org/drawingml/2006/main">
            <a:off x="7648575" y="2495550"/>
            <a:ext cx="16097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Global, local windows</a:t>
            </a:r>
          </a:p>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Phone and shuffled</a:t>
            </a:r>
          </a:p>
        </p:txBody>
      </p:sp>
      <p:sp>
        <p:nvSpPr>
          <p:cNvPr id="21" name="">
            <a:extLst xmlns:a="http://schemas.openxmlformats.org/drawingml/2006/main">
              <a:ext uri="{FF2B5EF4-FFF2-40B4-BE49-F238E27FC236}">
                <a16:creationId xmlns:a16="http://schemas.microsoft.com/office/drawing/2014/main" id="{FFE4F62B-ACE0-4AD4-86E3-3146C39E31DF}"/>
              </a:ext>
            </a:extLst>
          </p:cNvPr>
          <p:cNvSpPr>
            <a:spLocks xmlns:a="http://schemas.openxmlformats.org/drawingml/2006/main" noGrp="1"/>
          </p:cNvSpPr>
          <p:nvPr/>
        </p:nvSpPr>
        <p:spPr>
          <a:xfrm xmlns:a="http://schemas.openxmlformats.org/drawingml/2006/main">
            <a:off x="9429750" y="2762250"/>
            <a:ext cx="381000" cy="0"/>
          </a:xfrm>
          <a:prstGeom xmlns:a="http://schemas.openxmlformats.org/drawingml/2006/main" prst="line">
            <a:avLst/>
          </a:prstGeom>
          <a:noFill xmlns:a="http://schemas.openxmlformats.org/drawingml/2006/main"/>
          <a:ln xmlns:a="http://schemas.openxmlformats.org/drawingml/2006/main" w="19050">
            <a:solidFill>
              <a:srgbClr val="627D98"/>
            </a:solidFill>
          </a:ln>
        </p:spPr>
      </p:sp>
      <p:sp>
        <p:nvSpPr>
          <p:cNvPr id="22" name="">
            <a:extLst xmlns:a="http://schemas.openxmlformats.org/drawingml/2006/main">
              <a:ext uri="{FF2B5EF4-FFF2-40B4-BE49-F238E27FC236}">
                <a16:creationId xmlns:a16="http://schemas.microsoft.com/office/drawing/2014/main" id="{E87A96A7-2E02-493C-B9BC-3DA84AAE3260}"/>
              </a:ext>
            </a:extLst>
          </p:cNvPr>
          <p:cNvSpPr>
            <a:spLocks xmlns:a="http://schemas.openxmlformats.org/drawingml/2006/main" noGrp="1"/>
          </p:cNvSpPr>
          <p:nvPr/>
        </p:nvSpPr>
        <p:spPr>
          <a:xfrm xmlns:a="http://schemas.openxmlformats.org/drawingml/2006/main">
            <a:off x="9810750" y="2000250"/>
            <a:ext cx="1952625" cy="1524000"/>
          </a:xfrm>
          <a:prstGeom xmlns:a="http://schemas.openxmlformats.org/drawingml/2006/main" prst="roundRect">
            <a:avLst>
              <a:gd name="adj" fmla="val 5000"/>
            </a:avLst>
          </a:prstGeom>
          <a:solidFill xmlns:a="http://schemas.openxmlformats.org/drawingml/2006/main">
            <a:srgbClr val="F4F7FB"/>
          </a:solidFill>
          <a:ln xmlns:a="http://schemas.openxmlformats.org/drawingml/2006/main" w="19050">
            <a:solidFill>
              <a:srgbClr val="102A43"/>
            </a:solidFill>
          </a:ln>
        </p:spPr>
      </p:sp>
      <p:sp>
        <p:nvSpPr>
          <p:cNvPr id="23" name="">
            <a:extLst xmlns:a="http://schemas.openxmlformats.org/drawingml/2006/main">
              <a:ext uri="{FF2B5EF4-FFF2-40B4-BE49-F238E27FC236}">
                <a16:creationId xmlns:a16="http://schemas.microsoft.com/office/drawing/2014/main" id="{CA7A1127-4DA7-44B9-984D-C9551B420DA5}"/>
              </a:ext>
            </a:extLst>
          </p:cNvPr>
          <p:cNvSpPr>
            <a:spLocks xmlns:a="http://schemas.openxmlformats.org/drawingml/2006/main" noGrp="1"/>
          </p:cNvSpPr>
          <p:nvPr/>
        </p:nvSpPr>
        <p:spPr>
          <a:xfrm xmlns:a="http://schemas.openxmlformats.org/drawingml/2006/main">
            <a:off x="9982200" y="2114550"/>
            <a:ext cx="1609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02A43"/>
                </a:solidFill>
                <a:latin typeface="Helvetica Neue"/>
                <a:ea typeface="Helvetica Neue"/>
                <a:cs typeface="Helvetica Neue"/>
              </a:defRPr>
            </a:defPPr>
          </a:lstStyle>
          <a:p xmlns:a="http://schemas.openxmlformats.org/drawingml/2006/main">
            <a:pPr algn="l">
              <a:buNone/>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Grouped CV</a:t>
            </a:r>
          </a:p>
        </p:txBody>
      </p:sp>
      <p:sp>
        <p:nvSpPr>
          <p:cNvPr id="24" name="">
            <a:extLst xmlns:a="http://schemas.openxmlformats.org/drawingml/2006/main">
              <a:ext uri="{FF2B5EF4-FFF2-40B4-BE49-F238E27FC236}">
                <a16:creationId xmlns:a16="http://schemas.microsoft.com/office/drawing/2014/main" id="{3FB07202-11DD-4F88-AE11-3A5E7BD708CB}"/>
              </a:ext>
            </a:extLst>
          </p:cNvPr>
          <p:cNvSpPr>
            <a:spLocks xmlns:a="http://schemas.openxmlformats.org/drawingml/2006/main" noGrp="1"/>
          </p:cNvSpPr>
          <p:nvPr/>
        </p:nvSpPr>
        <p:spPr>
          <a:xfrm xmlns:a="http://schemas.openxmlformats.org/drawingml/2006/main">
            <a:off x="9982200" y="2495550"/>
            <a:ext cx="16097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20 × four-fold</a:t>
            </a:r>
          </a:p>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fixed threshold 0.5</a:t>
            </a:r>
          </a:p>
        </p:txBody>
      </p:sp>
      <p:sp>
        <p:nvSpPr>
          <p:cNvPr id="25" name="">
            <a:extLst xmlns:a="http://schemas.openxmlformats.org/drawingml/2006/main">
              <a:ext uri="{FF2B5EF4-FFF2-40B4-BE49-F238E27FC236}">
                <a16:creationId xmlns:a16="http://schemas.microsoft.com/office/drawing/2014/main" id="{81C7E0CF-54C7-493C-AFDA-E91A7AE96F1A}"/>
              </a:ext>
            </a:extLst>
          </p:cNvPr>
          <p:cNvSpPr>
            <a:spLocks xmlns:a="http://schemas.openxmlformats.org/drawingml/2006/main" noGrp="1"/>
          </p:cNvSpPr>
          <p:nvPr/>
        </p:nvSpPr>
        <p:spPr>
          <a:xfrm xmlns:a="http://schemas.openxmlformats.org/drawingml/2006/main">
            <a:off x="904875" y="409575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02A43"/>
                </a:solidFill>
                <a:latin typeface="Helvetica Neue"/>
                <a:ea typeface="Helvetica Neue"/>
                <a:cs typeface="Helvetica Neue"/>
              </a:defRPr>
            </a:defPPr>
          </a:lstStyle>
          <a:p xmlns:a="http://schemas.openxmlformats.org/drawingml/2006/main">
            <a:pPr algn="l">
              <a:buNone/>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Identical decoded audio and codec inside each pair</a:t>
            </a:r>
          </a:p>
        </p:txBody>
      </p:sp>
      <p:sp>
        <p:nvSpPr>
          <p:cNvPr id="26" name="">
            <a:extLst xmlns:a="http://schemas.openxmlformats.org/drawingml/2006/main">
              <a:ext uri="{FF2B5EF4-FFF2-40B4-BE49-F238E27FC236}">
                <a16:creationId xmlns:a16="http://schemas.microsoft.com/office/drawing/2014/main" id="{1FD51F84-C900-41DD-8F89-2D77482B9A9F}"/>
              </a:ext>
            </a:extLst>
          </p:cNvPr>
          <p:cNvSpPr>
            <a:spLocks xmlns:a="http://schemas.openxmlformats.org/drawingml/2006/main" noGrp="1"/>
          </p:cNvSpPr>
          <p:nvPr/>
        </p:nvSpPr>
        <p:spPr>
          <a:xfrm xmlns:a="http://schemas.openxmlformats.org/drawingml/2006/main">
            <a:off x="904875" y="4619625"/>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0">
                <a:solidFill>
                  <a:srgbClr val="243B53"/>
                </a:solidFill>
                <a:latin typeface="Helvetica Neue"/>
                <a:ea typeface="Helvetica Neue"/>
                <a:cs typeface="Helvetica Neue"/>
              </a:defRPr>
            </a:defPPr>
          </a:lstStyle>
          <a:p xmlns:a="http://schemas.openxmlformats.org/drawingml/2006/main">
            <a:pPr algn="l">
              <a:buNone/>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Pair kept together in every fold</a:t>
            </a:r>
          </a:p>
        </p:txBody>
      </p:sp>
      <p:sp>
        <p:nvSpPr>
          <p:cNvPr id="27" name="">
            <a:extLst xmlns:a="http://schemas.openxmlformats.org/drawingml/2006/main">
              <a:ext uri="{FF2B5EF4-FFF2-40B4-BE49-F238E27FC236}">
                <a16:creationId xmlns:a16="http://schemas.microsoft.com/office/drawing/2014/main" id="{A118A13D-405A-4DE0-B8E1-AB2270E21A39}"/>
              </a:ext>
            </a:extLst>
          </p:cNvPr>
          <p:cNvSpPr>
            <a:spLocks xmlns:a="http://schemas.openxmlformats.org/drawingml/2006/main" noGrp="1"/>
          </p:cNvSpPr>
          <p:nvPr/>
        </p:nvSpPr>
        <p:spPr>
          <a:xfrm xmlns:a="http://schemas.openxmlformats.org/drawingml/2006/main">
            <a:off x="6762750" y="4095750"/>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D64545"/>
                </a:solidFill>
                <a:latin typeface="Helvetica Neue"/>
                <a:ea typeface="Helvetica Neue"/>
                <a:cs typeface="Helvetica Neue"/>
              </a:defRPr>
            </a:defPPr>
          </a:lstStyle>
          <a:p xmlns:a="http://schemas.openxmlformats.org/drawingml/2006/main">
            <a:pPr algn="l">
              <a:buNone/>
              <a:defRPr sz="1650" b="1">
                <a:solidFill>
                  <a:srgbClr val="D64545"/>
                </a:solidFill>
                <a:latin typeface="Helvetica Neue"/>
                <a:ea typeface="Helvetica Neue"/>
                <a:cs typeface="Helvetica Neue"/>
              </a:defRPr>
            </a:pPr>
            <a:r>
              <a:rPr sz="1650" b="1">
                <a:solidFill>
                  <a:srgbClr val="D64545"/>
                </a:solidFill>
                <a:latin typeface="Helvetica Neue"/>
                <a:ea typeface="Helvetica Neue"/>
                <a:cs typeface="Helvetica Neue"/>
              </a:rPr>
              <a:t>Weak phone timing, not forced alignment</a:t>
            </a:r>
          </a:p>
        </p:txBody>
      </p:sp>
      <p:sp>
        <p:nvSpPr>
          <p:cNvPr id="28" name="">
            <a:extLst xmlns:a="http://schemas.openxmlformats.org/drawingml/2006/main">
              <a:ext uri="{FF2B5EF4-FFF2-40B4-BE49-F238E27FC236}">
                <a16:creationId xmlns:a16="http://schemas.microsoft.com/office/drawing/2014/main" id="{A5689BA2-2B21-462D-AF27-5D774DF54DA0}"/>
              </a:ext>
            </a:extLst>
          </p:cNvPr>
          <p:cNvSpPr>
            <a:spLocks xmlns:a="http://schemas.openxmlformats.org/drawingml/2006/main" noGrp="1"/>
          </p:cNvSpPr>
          <p:nvPr/>
        </p:nvSpPr>
        <p:spPr>
          <a:xfrm xmlns:a="http://schemas.openxmlformats.org/drawingml/2006/main">
            <a:off x="6762750" y="4619625"/>
            <a:ext cx="447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0">
                <a:solidFill>
                  <a:srgbClr val="243B53"/>
                </a:solidFill>
                <a:latin typeface="Helvetica Neue"/>
                <a:ea typeface="Helvetica Neue"/>
                <a:cs typeface="Helvetica Neue"/>
              </a:defRPr>
            </a:defPPr>
          </a:lstStyle>
          <a:p xmlns:a="http://schemas.openxmlformats.org/drawingml/2006/main">
            <a:pPr algn="l">
              <a:buNone/>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One-generator course pilot</a:t>
            </a:r>
          </a:p>
        </p:txBody>
      </p:sp>
      <p:sp>
        <p:nvSpPr>
          <p:cNvPr id="29" name="">
            <a:extLst xmlns:a="http://schemas.openxmlformats.org/drawingml/2006/main">
              <a:ext uri="{FF2B5EF4-FFF2-40B4-BE49-F238E27FC236}">
                <a16:creationId xmlns:a16="http://schemas.microsoft.com/office/drawing/2014/main" id="{81DF0EF6-6395-404B-BF4B-097FA806F50E}"/>
              </a:ext>
            </a:extLst>
          </p:cNvPr>
          <p:cNvSpPr>
            <a:spLocks xmlns:a="http://schemas.openxmlformats.org/drawingml/2006/main" noGrp="1"/>
          </p:cNvSpPr>
          <p:nvPr/>
        </p:nvSpPr>
        <p:spPr>
          <a:xfrm xmlns:a="http://schemas.openxmlformats.org/drawingml/2006/main">
            <a:off x="666750" y="5781675"/>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350" b="1">
                <a:solidFill>
                  <a:srgbClr val="159E9C"/>
                </a:solidFill>
                <a:latin typeface="Helvetica Neue"/>
                <a:ea typeface="Helvetica Neue"/>
                <a:cs typeface="Helvetica Neue"/>
              </a:defRPr>
            </a:defPPr>
          </a:lstStyle>
          <a:p xmlns:a="http://schemas.openxmlformats.org/drawingml/2006/main">
            <a:pPr algn="l">
              <a:buNone/>
              <a:defRPr sz="1350" b="1">
                <a:solidFill>
                  <a:srgbClr val="159E9C"/>
                </a:solidFill>
                <a:latin typeface="Helvetica Neue"/>
                <a:ea typeface="Helvetica Neue"/>
                <a:cs typeface="Helvetica Neue"/>
              </a:defRPr>
            </a:pPr>
            <a:r>
              <a:rPr sz="1350" b="1">
                <a:solidFill>
                  <a:srgbClr val="159E9C"/>
                </a:solidFill>
                <a:latin typeface="Helvetica Neue"/>
                <a:ea typeface="Helvetica Neue"/>
                <a:cs typeface="Helvetica Neue"/>
              </a:rPr>
              <a:t>Yan presents: matched design, lip features, controls and failures</a:t>
            </a:r>
          </a:p>
        </p:txBody>
      </p:sp>
    </p:spTree>
    <p:extLst>
      <p:ext uri="{BB962C8B-B14F-4D97-AF65-F5344CB8AC3E}">
        <p14:creationId xmlns:p14="http://schemas.microsoft.com/office/powerpoint/2010/main" val="207158931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093BA1E-37FD-42CF-B90F-D5CB25EC54C8}"/>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stStyle>
          <a:p xmlns:a="http://schemas.openxmlformats.org/drawingml/2006/main">
            <a:pPr algn="l">
              <a:buNone/>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Original cross-collection pilot: weak context did not help</a:t>
            </a:r>
          </a:p>
        </p:txBody>
      </p:sp>
      <p:sp>
        <p:nvSpPr>
          <p:cNvPr id="2" name="">
            <a:extLst xmlns:a="http://schemas.openxmlformats.org/drawingml/2006/main">
              <a:ext uri="{FF2B5EF4-FFF2-40B4-BE49-F238E27FC236}">
                <a16:creationId xmlns:a16="http://schemas.microsoft.com/office/drawing/2014/main" id="{F9005097-B3DD-4BC4-BACC-519DBE22D9D5}"/>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stStyle>
          <a:p xmlns:a="http://schemas.openxmlformats.org/drawingml/2006/main">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C703D243-75C5-49AF-A814-E0CC53DB8064}"/>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C3B2BB5-3095-4890-B289-5166C32F4B9A}"/>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stStyle>
          <a:p xmlns:a="http://schemas.openxmlformats.org/drawingml/2006/main">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656A54D7-3EFE-4DFA-84E9-56170E5DE398}"/>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stStyle>
          <a:p xmlns:a="http://schemas.openxmlformats.org/drawingml/2006/main">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6/11</a:t>
            </a:r>
          </a:p>
        </p:txBody>
      </p:sp>
      <p:graphicFrame>
        <p:nvGraphicFramePr>
          <p:cNvPr id="6" name="Chart">
            <a:extLst xmlns:a="http://schemas.openxmlformats.org/drawingml/2006/main">
              <a:ext uri="{FF2B5EF4-FFF2-40B4-BE49-F238E27FC236}">
                <a16:creationId xmlns:a16="http://schemas.microsoft.com/office/drawing/2014/main" id="{A619D993-4F5E-40C5-9C3D-4C5B174EAB34}"/>
              </a:ext>
            </a:extLst>
          </p:cNvPr>
          <p:cNvGraphicFramePr/>
          <p:nvPr/>
        </p:nvGraphicFramePr>
        <p:xfrm>
          <a:off xmlns:a="http://schemas.openxmlformats.org/drawingml/2006/main" x="666750" y="1476375"/>
          <a:ext xmlns:a="http://schemas.openxmlformats.org/drawingml/2006/main" cx="6762750" cy="4095750"/>
        </p:xfrm>
        <a:graphic xmlns:a="http://schemas.openxmlformats.org/drawingml/2006/main">
          <a:graphicData uri="http://schemas.openxmlformats.org/drawingml/2006/chart">
            <c:chart xmlns:r="http://schemas.openxmlformats.org/officeDocument/2006/relationships" xmlns:c="http://schemas.openxmlformats.org/drawingml/2006/chart" r:id="Rf30e671280444138"/>
          </a:graphicData>
        </a:graphic>
      </p:graphicFrame>
      <p:sp>
        <p:nvSpPr>
          <p:cNvPr id="7" name="">
            <a:extLst xmlns:a="http://schemas.openxmlformats.org/drawingml/2006/main">
              <a:ext uri="{FF2B5EF4-FFF2-40B4-BE49-F238E27FC236}">
                <a16:creationId xmlns:a16="http://schemas.microsoft.com/office/drawing/2014/main" id="{A450D928-4E36-447D-BA6F-A214517DE80E}"/>
              </a:ext>
            </a:extLst>
          </p:cNvPr>
          <p:cNvSpPr>
            <a:spLocks xmlns:a="http://schemas.openxmlformats.org/drawingml/2006/main" noGrp="1"/>
          </p:cNvSpPr>
          <p:nvPr/>
        </p:nvSpPr>
        <p:spPr>
          <a:xfrm xmlns:a="http://schemas.openxmlformats.org/drawingml/2006/main">
            <a:off x="8096250" y="161925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102A43"/>
                </a:solidFill>
                <a:latin typeface="Helvetica Neue"/>
                <a:ea typeface="Helvetica Neue"/>
                <a:cs typeface="Helvetica Neue"/>
              </a:defRPr>
            </a:defPPr>
          </a:lstStyle>
          <a:p xmlns:a="http://schemas.openxmlformats.org/drawingml/2006/main">
            <a:pPr algn="l">
              <a:buNone/>
              <a:defRPr sz="2100" b="1">
                <a:solidFill>
                  <a:srgbClr val="102A43"/>
                </a:solidFill>
                <a:latin typeface="Helvetica Neue"/>
                <a:ea typeface="Helvetica Neue"/>
                <a:cs typeface="Helvetica Neue"/>
              </a:defRPr>
            </a:pPr>
            <a:r>
              <a:rPr sz="2100" b="1">
                <a:solidFill>
                  <a:srgbClr val="102A43"/>
                </a:solidFill>
                <a:latin typeface="Helvetica Neue"/>
                <a:ea typeface="Helvetica Neue"/>
                <a:cs typeface="Helvetica Neue"/>
              </a:rPr>
              <a:t>Held-out n = 6</a:t>
            </a:r>
          </a:p>
        </p:txBody>
      </p:sp>
      <p:sp>
        <p:nvSpPr>
          <p:cNvPr id="8" name="">
            <a:extLst xmlns:a="http://schemas.openxmlformats.org/drawingml/2006/main">
              <a:ext uri="{FF2B5EF4-FFF2-40B4-BE49-F238E27FC236}">
                <a16:creationId xmlns:a16="http://schemas.microsoft.com/office/drawing/2014/main" id="{01988031-2C76-4595-8243-5D4B3523DACF}"/>
              </a:ext>
            </a:extLst>
          </p:cNvPr>
          <p:cNvSpPr>
            <a:spLocks xmlns:a="http://schemas.openxmlformats.org/drawingml/2006/main" noGrp="1"/>
          </p:cNvSpPr>
          <p:nvPr/>
        </p:nvSpPr>
        <p:spPr>
          <a:xfrm xmlns:a="http://schemas.openxmlformats.org/drawingml/2006/main">
            <a:off x="8096250" y="2143125"/>
            <a:ext cx="285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650" b="0">
                <a:solidFill>
                  <a:srgbClr val="243B53"/>
                </a:solidFill>
                <a:latin typeface="Helvetica Neue"/>
                <a:ea typeface="Helvetica Neue"/>
                <a:cs typeface="Helvetica Neue"/>
              </a:defRPr>
            </a:defPPr>
          </a:lstStyle>
          <a:p xmlns:a="http://schemas.openxmlformats.org/drawingml/2006/main">
            <a:pPr algn="l">
              <a:buNone/>
              <a:defRPr sz="1650" b="0">
                <a:solidFill>
                  <a:srgbClr val="243B53"/>
                </a:solidFill>
                <a:latin typeface="Helvetica Neue"/>
                <a:ea typeface="Helvetica Neue"/>
                <a:cs typeface="Helvetica Neue"/>
              </a:defRPr>
            </a:pPr>
            <a:r>
              <a:rPr sz="1650" b="0">
                <a:solidFill>
                  <a:srgbClr val="243B53"/>
                </a:solidFill>
                <a:latin typeface="Helvetica Neue"/>
                <a:ea typeface="Helvetica Neue"/>
                <a:cs typeface="Helvetica Neue"/>
              </a:rPr>
              <a:t>3 real</a:t>
            </a:r>
          </a:p>
          <a:p xmlns:a="http://schemas.openxmlformats.org/drawingml/2006/main">
            <a:pPr algn="l">
              <a:buNone/>
              <a:defRPr sz="1650" b="0">
                <a:solidFill>
                  <a:srgbClr val="243B53"/>
                </a:solidFill>
                <a:latin typeface="Helvetica Neue"/>
                <a:ea typeface="Helvetica Neue"/>
                <a:cs typeface="Helvetica Neue"/>
              </a:defRPr>
            </a:pPr>
            <a:r>
              <a:rPr sz="1650" b="0">
                <a:solidFill>
                  <a:srgbClr val="243B53"/>
                </a:solidFill>
                <a:latin typeface="Helvetica Neue"/>
                <a:ea typeface="Helvetica Neue"/>
                <a:cs typeface="Helvetica Neue"/>
              </a:rPr>
              <a:t>3 fake</a:t>
            </a:r>
          </a:p>
        </p:txBody>
      </p:sp>
      <p:sp>
        <p:nvSpPr>
          <p:cNvPr id="9" name="">
            <a:extLst xmlns:a="http://schemas.openxmlformats.org/drawingml/2006/main">
              <a:ext uri="{FF2B5EF4-FFF2-40B4-BE49-F238E27FC236}">
                <a16:creationId xmlns:a16="http://schemas.microsoft.com/office/drawing/2014/main" id="{A9E6F3A5-0D6A-48B4-B612-6EAE3DF63E35}"/>
              </a:ext>
            </a:extLst>
          </p:cNvPr>
          <p:cNvSpPr>
            <a:spLocks xmlns:a="http://schemas.openxmlformats.org/drawingml/2006/main" noGrp="1"/>
          </p:cNvSpPr>
          <p:nvPr/>
        </p:nvSpPr>
        <p:spPr>
          <a:xfrm xmlns:a="http://schemas.openxmlformats.org/drawingml/2006/main">
            <a:off x="8096250" y="32385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350" b="0">
                <a:solidFill>
                  <a:srgbClr val="627D98"/>
                </a:solidFill>
                <a:latin typeface="Helvetica Neue"/>
                <a:ea typeface="Helvetica Neue"/>
                <a:cs typeface="Helvetica Neue"/>
              </a:defRPr>
            </a:defPPr>
          </a:lstStyle>
          <a:p xmlns:a="http://schemas.openxmlformats.org/drawingml/2006/main">
            <a:pPr algn="l">
              <a:buNone/>
              <a:defRPr sz="1350" b="0">
                <a:solidFill>
                  <a:srgbClr val="627D98"/>
                </a:solidFill>
                <a:latin typeface="Helvetica Neue"/>
                <a:ea typeface="Helvetica Neue"/>
                <a:cs typeface="Helvetica Neue"/>
              </a:defRPr>
            </a:pPr>
            <a:r>
              <a:rPr sz="1350" b="0">
                <a:solidFill>
                  <a:srgbClr val="627D98"/>
                </a:solidFill>
                <a:latin typeface="Helvetica Neue"/>
                <a:ea typeface="Helvetica Neue"/>
                <a:cs typeface="Helvetica Neue"/>
              </a:rPr>
              <a:t>AUROC change</a:t>
            </a:r>
          </a:p>
        </p:txBody>
      </p:sp>
      <p:sp>
        <p:nvSpPr>
          <p:cNvPr id="10" name="">
            <a:extLst xmlns:a="http://schemas.openxmlformats.org/drawingml/2006/main">
              <a:ext uri="{FF2B5EF4-FFF2-40B4-BE49-F238E27FC236}">
                <a16:creationId xmlns:a16="http://schemas.microsoft.com/office/drawing/2014/main" id="{6ECAB98D-2572-43C3-B87B-3EF36DE28174}"/>
              </a:ext>
            </a:extLst>
          </p:cNvPr>
          <p:cNvSpPr>
            <a:spLocks xmlns:a="http://schemas.openxmlformats.org/drawingml/2006/main" noGrp="1"/>
          </p:cNvSpPr>
          <p:nvPr/>
        </p:nvSpPr>
        <p:spPr>
          <a:xfrm xmlns:a="http://schemas.openxmlformats.org/drawingml/2006/main">
            <a:off x="8096250" y="3590925"/>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850" b="1">
                <a:solidFill>
                  <a:srgbClr val="D64545"/>
                </a:solidFill>
                <a:latin typeface="Helvetica Neue"/>
                <a:ea typeface="Helvetica Neue"/>
                <a:cs typeface="Helvetica Neue"/>
              </a:defRPr>
            </a:defPPr>
          </a:lstStyle>
          <a:p xmlns:a="http://schemas.openxmlformats.org/drawingml/2006/main">
            <a:pPr algn="l">
              <a:buNone/>
              <a:defRPr sz="2850" b="1">
                <a:solidFill>
                  <a:srgbClr val="D64545"/>
                </a:solidFill>
                <a:latin typeface="Helvetica Neue"/>
                <a:ea typeface="Helvetica Neue"/>
                <a:cs typeface="Helvetica Neue"/>
              </a:defRPr>
            </a:pPr>
            <a:r>
              <a:rPr sz="2850" b="1">
                <a:solidFill>
                  <a:srgbClr val="D64545"/>
                </a:solidFill>
                <a:latin typeface="Helvetica Neue"/>
                <a:ea typeface="Helvetica Neue"/>
                <a:cs typeface="Helvetica Neue"/>
              </a:rPr>
              <a:t>-0.111</a:t>
            </a:r>
          </a:p>
        </p:txBody>
      </p:sp>
      <p:sp>
        <p:nvSpPr>
          <p:cNvPr id="11" name="">
            <a:extLst xmlns:a="http://schemas.openxmlformats.org/drawingml/2006/main">
              <a:ext uri="{FF2B5EF4-FFF2-40B4-BE49-F238E27FC236}">
                <a16:creationId xmlns:a16="http://schemas.microsoft.com/office/drawing/2014/main" id="{4B5E8D5C-F085-4218-901F-86D394F31126}"/>
              </a:ext>
            </a:extLst>
          </p:cNvPr>
          <p:cNvSpPr>
            <a:spLocks xmlns:a="http://schemas.openxmlformats.org/drawingml/2006/main" noGrp="1"/>
          </p:cNvSpPr>
          <p:nvPr/>
        </p:nvSpPr>
        <p:spPr>
          <a:xfrm xmlns:a="http://schemas.openxmlformats.org/drawingml/2006/main">
            <a:off x="8096250" y="4514850"/>
            <a:ext cx="304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1">
                <a:solidFill>
                  <a:srgbClr val="243B53"/>
                </a:solidFill>
                <a:latin typeface="Helvetica Neue"/>
                <a:ea typeface="Helvetica Neue"/>
                <a:cs typeface="Helvetica Neue"/>
              </a:defRPr>
            </a:defPPr>
          </a:lstStyle>
          <a:p xmlns:a="http://schemas.openxmlformats.org/drawingml/2006/main">
            <a:pPr algn="l">
              <a:buNone/>
              <a:defRPr sz="1500" b="1">
                <a:solidFill>
                  <a:srgbClr val="243B53"/>
                </a:solidFill>
                <a:latin typeface="Helvetica Neue"/>
                <a:ea typeface="Helvetica Neue"/>
                <a:cs typeface="Helvetica Neue"/>
              </a:defRPr>
            </a:pPr>
            <a:r>
              <a:rPr sz="1500" b="1">
                <a:solidFill>
                  <a:srgbClr val="243B53"/>
                </a:solidFill>
                <a:latin typeface="Helvetica Neue"/>
                <a:ea typeface="Helvetica Neue"/>
                <a:cs typeface="Helvetica Neue"/>
              </a:rPr>
              <a:t>Macro-F1 unchanged</a:t>
            </a:r>
          </a:p>
        </p:txBody>
      </p:sp>
      <p:sp>
        <p:nvSpPr>
          <p:cNvPr id="12" name="">
            <a:extLst xmlns:a="http://schemas.openxmlformats.org/drawingml/2006/main">
              <a:ext uri="{FF2B5EF4-FFF2-40B4-BE49-F238E27FC236}">
                <a16:creationId xmlns:a16="http://schemas.microsoft.com/office/drawing/2014/main" id="{21D2A519-8F90-4969-ABCD-2D95AE71FA76}"/>
              </a:ext>
            </a:extLst>
          </p:cNvPr>
          <p:cNvSpPr>
            <a:spLocks xmlns:a="http://schemas.openxmlformats.org/drawingml/2006/main" noGrp="1"/>
          </p:cNvSpPr>
          <p:nvPr/>
        </p:nvSpPr>
        <p:spPr>
          <a:xfrm xmlns:a="http://schemas.openxmlformats.org/drawingml/2006/main">
            <a:off x="8096250" y="502920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350" b="0">
                <a:solidFill>
                  <a:srgbClr val="627D98"/>
                </a:solidFill>
                <a:latin typeface="Helvetica Neue"/>
                <a:ea typeface="Helvetica Neue"/>
                <a:cs typeface="Helvetica Neue"/>
              </a:defRPr>
            </a:defPPr>
          </a:lstStyle>
          <a:p xmlns:a="http://schemas.openxmlformats.org/drawingml/2006/main">
            <a:pPr algn="l">
              <a:buNone/>
              <a:defRPr sz="1350" b="0">
                <a:solidFill>
                  <a:srgbClr val="627D98"/>
                </a:solidFill>
                <a:latin typeface="Helvetica Neue"/>
                <a:ea typeface="Helvetica Neue"/>
                <a:cs typeface="Helvetica Neue"/>
              </a:defRPr>
            </a:pPr>
            <a:r>
              <a:rPr sz="1350" b="0">
                <a:solidFill>
                  <a:srgbClr val="627D98"/>
                </a:solidFill>
                <a:latin typeface="Helvetica Neue"/>
                <a:ea typeface="Helvetica Neue"/>
                <a:cs typeface="Helvetica Neue"/>
              </a:rPr>
              <a:t>95% bootstrap intervals span most of 0 to 1</a:t>
            </a:r>
          </a:p>
        </p:txBody>
      </p:sp>
      <p:sp>
        <p:nvSpPr>
          <p:cNvPr id="13" name="">
            <a:extLst xmlns:a="http://schemas.openxmlformats.org/drawingml/2006/main">
              <a:ext uri="{FF2B5EF4-FFF2-40B4-BE49-F238E27FC236}">
                <a16:creationId xmlns:a16="http://schemas.microsoft.com/office/drawing/2014/main" id="{05A08FD9-5C4D-4BEC-9104-C3B680899BE9}"/>
              </a:ext>
            </a:extLst>
          </p:cNvPr>
          <p:cNvSpPr>
            <a:spLocks xmlns:a="http://schemas.openxmlformats.org/drawingml/2006/main" noGrp="1"/>
          </p:cNvSpPr>
          <p:nvPr/>
        </p:nvSpPr>
        <p:spPr>
          <a:xfrm xmlns:a="http://schemas.openxmlformats.org/drawingml/2006/main">
            <a:off x="666750" y="58102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050" b="0">
                <a:solidFill>
                  <a:srgbClr val="627D98"/>
                </a:solidFill>
                <a:latin typeface="Helvetica Neue"/>
                <a:ea typeface="Helvetica Neue"/>
                <a:cs typeface="Helvetica Neue"/>
              </a:defRPr>
            </a:defPPr>
          </a:lstStyle>
          <a:p xmlns:a="http://schemas.openxmlformats.org/drawingml/2006/main">
            <a:pPr algn="ctr">
              <a:buNone/>
              <a:defRPr sz="1050" b="0">
                <a:solidFill>
                  <a:srgbClr val="627D98"/>
                </a:solidFill>
                <a:latin typeface="Helvetica Neue"/>
                <a:ea typeface="Helvetica Neue"/>
                <a:cs typeface="Helvetica Neue"/>
              </a:defRPr>
            </a:pPr>
            <a:r>
              <a:rPr sz="1050" b="0">
                <a:solidFill>
                  <a:srgbClr val="627D98"/>
                </a:solidFill>
                <a:latin typeface="Helvetica Neue"/>
                <a:ea typeface="Helvetica Neue"/>
                <a:cs typeface="Helvetica Neue"/>
              </a:rPr>
              <a:t>This negative result motivated the controlled matched SadTalker experiment on the next slide.</a:t>
            </a:r>
          </a:p>
        </p:txBody>
      </p:sp>
    </p:spTree>
    <p:extLst>
      <p:ext uri="{BB962C8B-B14F-4D97-AF65-F5344CB8AC3E}">
        <p14:creationId xmlns:p14="http://schemas.microsoft.com/office/powerpoint/2010/main" val="74440176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935FE3D-71BD-4B39-917D-7404FFDF870D}"/>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stStyle>
          <a:p xmlns:a="http://schemas.openxmlformats.org/drawingml/2006/main">
            <a:pPr algn="l">
              <a:buNone/>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Matched SadTalker pilot: temporal windows help</a:t>
            </a:r>
          </a:p>
        </p:txBody>
      </p:sp>
      <p:sp>
        <p:nvSpPr>
          <p:cNvPr id="2" name="">
            <a:extLst xmlns:a="http://schemas.openxmlformats.org/drawingml/2006/main">
              <a:ext uri="{FF2B5EF4-FFF2-40B4-BE49-F238E27FC236}">
                <a16:creationId xmlns:a16="http://schemas.microsoft.com/office/drawing/2014/main" id="{EAA23F46-7816-4D3E-B0A1-611CE6D52D61}"/>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stStyle>
          <a:p xmlns:a="http://schemas.openxmlformats.org/drawingml/2006/main">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41426A6E-E000-4258-9E18-908FB1819A41}"/>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952B957-5BA9-40FC-993C-B132AEE1B5F5}"/>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stStyle>
          <a:p xmlns:a="http://schemas.openxmlformats.org/drawingml/2006/main">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004B081F-ACC3-47FA-9ED2-12F2D270A968}"/>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stStyle>
          <a:p xmlns:a="http://schemas.openxmlformats.org/drawingml/2006/main">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7/11</a:t>
            </a:r>
          </a:p>
        </p:txBody>
      </p:sp>
      <p:graphicFrame>
        <p:nvGraphicFramePr>
          <p:cNvPr id="6" name="Chart">
            <a:extLst xmlns:a="http://schemas.openxmlformats.org/drawingml/2006/main">
              <a:ext uri="{FF2B5EF4-FFF2-40B4-BE49-F238E27FC236}">
                <a16:creationId xmlns:a16="http://schemas.microsoft.com/office/drawing/2014/main" id="{0E4D5423-F208-499E-A0C3-6BFFFA187F66}"/>
              </a:ext>
            </a:extLst>
          </p:cNvPr>
          <p:cNvGraphicFramePr/>
          <p:nvPr/>
        </p:nvGraphicFramePr>
        <p:xfrm>
          <a:off xmlns:a="http://schemas.openxmlformats.org/drawingml/2006/main" x="523875" y="1428750"/>
          <a:ext xmlns:a="http://schemas.openxmlformats.org/drawingml/2006/main" cx="5286375" cy="3810000"/>
        </p:xfrm>
        <a:graphic xmlns:a="http://schemas.openxmlformats.org/drawingml/2006/main">
          <a:graphicData uri="http://schemas.openxmlformats.org/drawingml/2006/chart">
            <c:chart xmlns:r="http://schemas.openxmlformats.org/officeDocument/2006/relationships" xmlns:c="http://schemas.openxmlformats.org/drawingml/2006/chart" r:id="R8f0effa845e34520"/>
          </a:graphicData>
        </a:graphic>
      </p:graphicFrame>
      <p:sp>
        <p:nvSpPr>
          <p:cNvPr id="7" name="">
            <a:extLst xmlns:a="http://schemas.openxmlformats.org/drawingml/2006/main">
              <a:ext uri="{FF2B5EF4-FFF2-40B4-BE49-F238E27FC236}">
                <a16:creationId xmlns:a16="http://schemas.microsoft.com/office/drawing/2014/main" id="{840DFCA1-8067-46C1-9751-0C6D6145F006}"/>
              </a:ext>
            </a:extLst>
          </p:cNvPr>
          <p:cNvSpPr>
            <a:spLocks xmlns:a="http://schemas.openxmlformats.org/drawingml/2006/main" noGrp="1"/>
          </p:cNvSpPr>
          <p:nvPr/>
        </p:nvSpPr>
        <p:spPr>
          <a:xfrm xmlns:a="http://schemas.openxmlformats.org/drawingml/2006/main">
            <a:off x="1476375" y="123825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350" b="1">
                <a:solidFill>
                  <a:srgbClr val="102A43"/>
                </a:solidFill>
                <a:latin typeface="Helvetica Neue"/>
                <a:ea typeface="Helvetica Neue"/>
                <a:cs typeface="Helvetica Neue"/>
              </a:defRPr>
            </a:defPPr>
          </a:lstStyle>
          <a:p xmlns:a="http://schemas.openxmlformats.org/drawingml/2006/main">
            <a:pPr algn="ctr">
              <a:buNone/>
              <a:defRPr sz="1350" b="1">
                <a:solidFill>
                  <a:srgbClr val="102A43"/>
                </a:solidFill>
                <a:latin typeface="Helvetica Neue"/>
                <a:ea typeface="Helvetica Neue"/>
                <a:cs typeface="Helvetica Neue"/>
              </a:defRPr>
            </a:pPr>
            <a:r>
              <a:rPr sz="1350" b="1">
                <a:solidFill>
                  <a:srgbClr val="102A43"/>
                </a:solidFill>
                <a:latin typeface="Helvetica Neue"/>
                <a:ea typeface="Helvetica Neue"/>
                <a:cs typeface="Helvetica Neue"/>
              </a:rPr>
              <a:t>Primary comparison: 20 repeated runs</a:t>
            </a:r>
          </a:p>
        </p:txBody>
      </p:sp>
      <p:graphicFrame>
        <p:nvGraphicFramePr>
          <p:cNvPr id="8" name="Chart">
            <a:extLst xmlns:a="http://schemas.openxmlformats.org/drawingml/2006/main">
              <a:ext uri="{FF2B5EF4-FFF2-40B4-BE49-F238E27FC236}">
                <a16:creationId xmlns:a16="http://schemas.microsoft.com/office/drawing/2014/main" id="{EA9351B3-B524-4850-B8D2-E10F7282A9CF}"/>
              </a:ext>
            </a:extLst>
          </p:cNvPr>
          <p:cNvGraphicFramePr/>
          <p:nvPr/>
        </p:nvGraphicFramePr>
        <p:xfrm>
          <a:off xmlns:a="http://schemas.openxmlformats.org/drawingml/2006/main" x="6334125" y="1428750"/>
          <a:ext xmlns:a="http://schemas.openxmlformats.org/drawingml/2006/main" cx="5286375" cy="3810000"/>
        </p:xfrm>
        <a:graphic xmlns:a="http://schemas.openxmlformats.org/drawingml/2006/main">
          <a:graphicData uri="http://schemas.openxmlformats.org/drawingml/2006/chart">
            <c:chart xmlns:r="http://schemas.openxmlformats.org/officeDocument/2006/relationships" xmlns:c="http://schemas.openxmlformats.org/drawingml/2006/chart" r:id="Rd97a198b3aed4090"/>
          </a:graphicData>
        </a:graphic>
      </p:graphicFrame>
      <p:sp>
        <p:nvSpPr>
          <p:cNvPr id="9" name="">
            <a:extLst xmlns:a="http://schemas.openxmlformats.org/drawingml/2006/main">
              <a:ext uri="{FF2B5EF4-FFF2-40B4-BE49-F238E27FC236}">
                <a16:creationId xmlns:a16="http://schemas.microsoft.com/office/drawing/2014/main" id="{2AB3EBF0-B6DD-43D9-AA7C-FBC8614D8BB2}"/>
              </a:ext>
            </a:extLst>
          </p:cNvPr>
          <p:cNvSpPr>
            <a:spLocks xmlns:a="http://schemas.openxmlformats.org/drawingml/2006/main" noGrp="1"/>
          </p:cNvSpPr>
          <p:nvPr/>
        </p:nvSpPr>
        <p:spPr>
          <a:xfrm xmlns:a="http://schemas.openxmlformats.org/drawingml/2006/main">
            <a:off x="6810375" y="1238250"/>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350" b="1">
                <a:solidFill>
                  <a:srgbClr val="102A43"/>
                </a:solidFill>
                <a:latin typeface="Helvetica Neue"/>
                <a:ea typeface="Helvetica Neue"/>
                <a:cs typeface="Helvetica Neue"/>
              </a:defRPr>
            </a:defPPr>
          </a:lstStyle>
          <a:p xmlns:a="http://schemas.openxmlformats.org/drawingml/2006/main">
            <a:pPr algn="ctr">
              <a:buNone/>
              <a:defRPr sz="1350" b="1">
                <a:solidFill>
                  <a:srgbClr val="102A43"/>
                </a:solidFill>
                <a:latin typeface="Helvetica Neue"/>
                <a:ea typeface="Helvetica Neue"/>
                <a:cs typeface="Helvetica Neue"/>
              </a:defRPr>
            </a:pPr>
            <a:r>
              <a:rPr sz="1350" b="1">
                <a:solidFill>
                  <a:srgbClr val="102A43"/>
                </a:solidFill>
                <a:latin typeface="Helvetica Neue"/>
                <a:ea typeface="Helvetica Neue"/>
                <a:cs typeface="Helvetica Neue"/>
              </a:rPr>
              <a:t>Phone-label control: 20 repeated runs</a:t>
            </a:r>
          </a:p>
        </p:txBody>
      </p:sp>
      <p:sp>
        <p:nvSpPr>
          <p:cNvPr id="10" name="">
            <a:extLst xmlns:a="http://schemas.openxmlformats.org/drawingml/2006/main">
              <a:ext uri="{FF2B5EF4-FFF2-40B4-BE49-F238E27FC236}">
                <a16:creationId xmlns:a16="http://schemas.microsoft.com/office/drawing/2014/main" id="{D2BBAA9E-7483-46E7-905C-066CBF6E488C}"/>
              </a:ext>
            </a:extLst>
          </p:cNvPr>
          <p:cNvSpPr>
            <a:spLocks xmlns:a="http://schemas.openxmlformats.org/drawingml/2006/main" noGrp="1"/>
          </p:cNvSpPr>
          <p:nvPr/>
        </p:nvSpPr>
        <p:spPr>
          <a:xfrm xmlns:a="http://schemas.openxmlformats.org/drawingml/2006/main">
            <a:off x="619125" y="5429250"/>
            <a:ext cx="4857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1">
                <a:solidFill>
                  <a:srgbClr val="159E9C"/>
                </a:solidFill>
                <a:latin typeface="Helvetica Neue"/>
                <a:ea typeface="Helvetica Neue"/>
                <a:cs typeface="Helvetica Neue"/>
              </a:defRPr>
            </a:defPPr>
          </a:lstStyle>
          <a:p xmlns:a="http://schemas.openxmlformats.org/drawingml/2006/main">
            <a:pPr algn="l">
              <a:buNone/>
              <a:defRPr sz="1425" b="1">
                <a:solidFill>
                  <a:srgbClr val="159E9C"/>
                </a:solidFill>
                <a:latin typeface="Helvetica Neue"/>
                <a:ea typeface="Helvetica Neue"/>
                <a:cs typeface="Helvetica Neue"/>
              </a:defRPr>
            </a:pPr>
            <a:r>
              <a:rPr sz="1425" b="1">
                <a:solidFill>
                  <a:srgbClr val="159E9C"/>
                </a:solidFill>
                <a:latin typeface="Helvetica Neue"/>
                <a:ea typeface="Helvetica Neue"/>
                <a:cs typeface="Helvetica Neue"/>
              </a:rPr>
              <a:t>No-phone windows: +0.041 F1, +0.033 AUROC</a:t>
            </a:r>
          </a:p>
        </p:txBody>
      </p:sp>
      <p:sp>
        <p:nvSpPr>
          <p:cNvPr id="11" name="">
            <a:extLst xmlns:a="http://schemas.openxmlformats.org/drawingml/2006/main">
              <a:ext uri="{FF2B5EF4-FFF2-40B4-BE49-F238E27FC236}">
                <a16:creationId xmlns:a16="http://schemas.microsoft.com/office/drawing/2014/main" id="{996624E2-498C-4551-A198-7E9A8F7B5E54}"/>
              </a:ext>
            </a:extLst>
          </p:cNvPr>
          <p:cNvSpPr>
            <a:spLocks xmlns:a="http://schemas.openxmlformats.org/drawingml/2006/main" noGrp="1"/>
          </p:cNvSpPr>
          <p:nvPr/>
        </p:nvSpPr>
        <p:spPr>
          <a:xfrm xmlns:a="http://schemas.openxmlformats.org/drawingml/2006/main">
            <a:off x="6191250" y="5429250"/>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425" b="1">
                <a:solidFill>
                  <a:srgbClr val="D64545"/>
                </a:solidFill>
                <a:latin typeface="Helvetica Neue"/>
                <a:ea typeface="Helvetica Neue"/>
                <a:cs typeface="Helvetica Neue"/>
              </a:defRPr>
            </a:defPPr>
          </a:lstStyle>
          <a:p xmlns:a="http://schemas.openxmlformats.org/drawingml/2006/main">
            <a:pPr algn="r">
              <a:buNone/>
              <a:defRPr sz="1425" b="1">
                <a:solidFill>
                  <a:srgbClr val="D64545"/>
                </a:solidFill>
                <a:latin typeface="Helvetica Neue"/>
                <a:ea typeface="Helvetica Neue"/>
                <a:cs typeface="Helvetica Neue"/>
              </a:defRPr>
            </a:pPr>
            <a:r>
              <a:rPr sz="1425" b="1">
                <a:solidFill>
                  <a:srgbClr val="D64545"/>
                </a:solidFill>
                <a:latin typeface="Helvetica Neue"/>
                <a:ea typeface="Helvetica Neue"/>
                <a:cs typeface="Helvetica Neue"/>
              </a:rPr>
              <a:t>Phone labels did not beat the shuffled control</a:t>
            </a:r>
          </a:p>
        </p:txBody>
      </p:sp>
      <p:sp>
        <p:nvSpPr>
          <p:cNvPr id="12" name="">
            <a:extLst xmlns:a="http://schemas.openxmlformats.org/drawingml/2006/main">
              <a:ext uri="{FF2B5EF4-FFF2-40B4-BE49-F238E27FC236}">
                <a16:creationId xmlns:a16="http://schemas.microsoft.com/office/drawing/2014/main" id="{28005188-C730-4019-9F0C-BD6F44CD3A54}"/>
              </a:ext>
            </a:extLst>
          </p:cNvPr>
          <p:cNvSpPr>
            <a:spLocks xmlns:a="http://schemas.openxmlformats.org/drawingml/2006/main" noGrp="1"/>
          </p:cNvSpPr>
          <p:nvPr/>
        </p:nvSpPr>
        <p:spPr>
          <a:xfrm xmlns:a="http://schemas.openxmlformats.org/drawingml/2006/main">
            <a:off x="571500" y="5867400"/>
            <a:ext cx="11049000" cy="28575"/>
          </a:xfrm>
          <a:prstGeom xmlns:a="http://schemas.openxmlformats.org/drawingml/2006/main" prst="rect">
            <a:avLst/>
          </a:prstGeom>
          <a:solidFill xmlns:a="http://schemas.openxmlformats.org/drawingml/2006/main">
            <a:srgbClr val="D9E2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4A37C85-AA79-41AA-B111-AFB281BF4197}"/>
              </a:ext>
            </a:extLst>
          </p:cNvPr>
          <p:cNvSpPr>
            <a:spLocks xmlns:a="http://schemas.openxmlformats.org/drawingml/2006/main" noGrp="1"/>
          </p:cNvSpPr>
          <p:nvPr/>
        </p:nvSpPr>
        <p:spPr>
          <a:xfrm xmlns:a="http://schemas.openxmlformats.org/drawingml/2006/main">
            <a:off x="952500" y="5953125"/>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275" b="1">
                <a:solidFill>
                  <a:srgbClr val="102A43"/>
                </a:solidFill>
                <a:latin typeface="Helvetica Neue"/>
                <a:ea typeface="Helvetica Neue"/>
                <a:cs typeface="Helvetica Neue"/>
              </a:defRPr>
            </a:defPPr>
          </a:lstStyle>
          <a:p xmlns:a="http://schemas.openxmlformats.org/drawingml/2006/main">
            <a:pPr algn="ctr">
              <a:buNone/>
              <a:defRPr sz="1275" b="1">
                <a:solidFill>
                  <a:srgbClr val="102A43"/>
                </a:solidFill>
                <a:latin typeface="Helvetica Neue"/>
                <a:ea typeface="Helvetica Neue"/>
                <a:cs typeface="Helvetica Neue"/>
              </a:defRPr>
            </a:pPr>
            <a:r>
              <a:rPr sz="1275" b="1">
                <a:solidFill>
                  <a:srgbClr val="102A43"/>
                </a:solidFill>
                <a:latin typeface="Helvetica Neue"/>
                <a:ea typeface="Helvetica Neue"/>
                <a:cs typeface="Helvetica Neue"/>
              </a:rPr>
              <a:t>Phone context was worse than no-phone in 20/20 repeats; 12 pairs, one generator.</a:t>
            </a:r>
          </a:p>
        </p:txBody>
      </p:sp>
    </p:spTree>
    <p:extLst>
      <p:ext uri="{BB962C8B-B14F-4D97-AF65-F5344CB8AC3E}">
        <p14:creationId xmlns:p14="http://schemas.microsoft.com/office/powerpoint/2010/main" val="199388909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E59E22A-B702-4293-BB78-43B75ECE4936}"/>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stStyle>
          <a:p xmlns:a="http://schemas.openxmlformats.org/drawingml/2006/main">
            <a:pPr algn="l">
              <a:buNone/>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Strategy B: periodic chromatic-injection forensics</a:t>
            </a:r>
          </a:p>
        </p:txBody>
      </p:sp>
      <p:sp>
        <p:nvSpPr>
          <p:cNvPr id="2" name="">
            <a:extLst xmlns:a="http://schemas.openxmlformats.org/drawingml/2006/main">
              <a:ext uri="{FF2B5EF4-FFF2-40B4-BE49-F238E27FC236}">
                <a16:creationId xmlns:a16="http://schemas.microsoft.com/office/drawing/2014/main" id="{F6F8196E-1187-4CAA-9B02-571DBBF1F453}"/>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stStyle>
          <a:p xmlns:a="http://schemas.openxmlformats.org/drawingml/2006/main">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5008ECCF-F5A6-494C-BA60-868F63F4F6B4}"/>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B2142C7-18F7-4692-B033-CCE627D56DC1}"/>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stStyle>
          <a:p xmlns:a="http://schemas.openxmlformats.org/drawingml/2006/main">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C1EC37ED-2896-4B2B-90E9-6615BF3B5E24}"/>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stStyle>
          <a:p xmlns:a="http://schemas.openxmlformats.org/drawingml/2006/main">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8/11</a:t>
            </a:r>
          </a:p>
        </p:txBody>
      </p:sp>
      <p:sp>
        <p:nvSpPr>
          <p:cNvPr id="6" name="">
            <a:extLst xmlns:a="http://schemas.openxmlformats.org/drawingml/2006/main">
              <a:ext uri="{FF2B5EF4-FFF2-40B4-BE49-F238E27FC236}">
                <a16:creationId xmlns:a16="http://schemas.microsoft.com/office/drawing/2014/main" id="{C3227109-4DC7-4FAC-B8BF-C0C70F1FB9E4}"/>
              </a:ext>
            </a:extLst>
          </p:cNvPr>
          <p:cNvSpPr>
            <a:spLocks xmlns:a="http://schemas.openxmlformats.org/drawingml/2006/main" noGrp="1"/>
          </p:cNvSpPr>
          <p:nvPr/>
        </p:nvSpPr>
        <p:spPr>
          <a:xfrm xmlns:a="http://schemas.openxmlformats.org/drawingml/2006/main">
            <a:off x="666750" y="1476375"/>
            <a:ext cx="2190750" cy="1143000"/>
          </a:xfrm>
          <a:prstGeom xmlns:a="http://schemas.openxmlformats.org/drawingml/2006/main" prst="roundRect">
            <a:avLst>
              <a:gd name="adj" fmla="val 6667"/>
            </a:avLst>
          </a:prstGeom>
          <a:solidFill xmlns:a="http://schemas.openxmlformats.org/drawingml/2006/main">
            <a:srgbClr val="F4F7FB"/>
          </a:solidFill>
          <a:ln xmlns:a="http://schemas.openxmlformats.org/drawingml/2006/main" w="19050">
            <a:solidFill>
              <a:srgbClr val="102A43"/>
            </a:solidFill>
          </a:ln>
        </p:spPr>
      </p:sp>
      <p:sp>
        <p:nvSpPr>
          <p:cNvPr id="7" name="">
            <a:extLst xmlns:a="http://schemas.openxmlformats.org/drawingml/2006/main">
              <a:ext uri="{FF2B5EF4-FFF2-40B4-BE49-F238E27FC236}">
                <a16:creationId xmlns:a16="http://schemas.microsoft.com/office/drawing/2014/main" id="{E2AF0633-62D4-4D5D-96B7-BD155CCA7CDD}"/>
              </a:ext>
            </a:extLst>
          </p:cNvPr>
          <p:cNvSpPr>
            <a:spLocks xmlns:a="http://schemas.openxmlformats.org/drawingml/2006/main" noGrp="1"/>
          </p:cNvSpPr>
          <p:nvPr/>
        </p:nvSpPr>
        <p:spPr>
          <a:xfrm xmlns:a="http://schemas.openxmlformats.org/drawingml/2006/main">
            <a:off x="838200" y="1590675"/>
            <a:ext cx="1847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02A43"/>
                </a:solidFill>
                <a:latin typeface="Helvetica Neue"/>
                <a:ea typeface="Helvetica Neue"/>
                <a:cs typeface="Helvetica Neue"/>
              </a:defRPr>
            </a:defPPr>
          </a:lstStyle>
          <a:p xmlns:a="http://schemas.openxmlformats.org/drawingml/2006/main">
            <a:pPr algn="l">
              <a:buNone/>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Control</a:t>
            </a:r>
          </a:p>
        </p:txBody>
      </p:sp>
      <p:sp>
        <p:nvSpPr>
          <p:cNvPr id="8" name="">
            <a:extLst xmlns:a="http://schemas.openxmlformats.org/drawingml/2006/main">
              <a:ext uri="{FF2B5EF4-FFF2-40B4-BE49-F238E27FC236}">
                <a16:creationId xmlns:a16="http://schemas.microsoft.com/office/drawing/2014/main" id="{EEA08EA1-19EF-456B-8912-87EBFBF55250}"/>
              </a:ext>
            </a:extLst>
          </p:cNvPr>
          <p:cNvSpPr>
            <a:spLocks xmlns:a="http://schemas.openxmlformats.org/drawingml/2006/main" noGrp="1"/>
          </p:cNvSpPr>
          <p:nvPr/>
        </p:nvSpPr>
        <p:spPr>
          <a:xfrm xmlns:a="http://schemas.openxmlformats.org/drawingml/2006/main">
            <a:off x="838200" y="1971675"/>
            <a:ext cx="18478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Original generated video</a:t>
            </a:r>
          </a:p>
        </p:txBody>
      </p:sp>
      <p:sp>
        <p:nvSpPr>
          <p:cNvPr id="9" name="">
            <a:extLst xmlns:a="http://schemas.openxmlformats.org/drawingml/2006/main">
              <a:ext uri="{FF2B5EF4-FFF2-40B4-BE49-F238E27FC236}">
                <a16:creationId xmlns:a16="http://schemas.microsoft.com/office/drawing/2014/main" id="{56827ACB-DB64-4707-ACCE-6666FFCF2F42}"/>
              </a:ext>
            </a:extLst>
          </p:cNvPr>
          <p:cNvSpPr>
            <a:spLocks xmlns:a="http://schemas.openxmlformats.org/drawingml/2006/main" noGrp="1"/>
          </p:cNvSpPr>
          <p:nvPr/>
        </p:nvSpPr>
        <p:spPr>
          <a:xfrm xmlns:a="http://schemas.openxmlformats.org/drawingml/2006/main">
            <a:off x="666750" y="3286125"/>
            <a:ext cx="2190750" cy="1143000"/>
          </a:xfrm>
          <a:prstGeom xmlns:a="http://schemas.openxmlformats.org/drawingml/2006/main" prst="roundRect">
            <a:avLst>
              <a:gd name="adj" fmla="val 6667"/>
            </a:avLst>
          </a:prstGeom>
          <a:solidFill xmlns:a="http://schemas.openxmlformats.org/drawingml/2006/main">
            <a:srgbClr val="FFF2E2"/>
          </a:solidFill>
          <a:ln xmlns:a="http://schemas.openxmlformats.org/drawingml/2006/main" w="19050">
            <a:solidFill>
              <a:srgbClr val="E67E22"/>
            </a:solidFill>
          </a:ln>
        </p:spPr>
      </p:sp>
      <p:sp>
        <p:nvSpPr>
          <p:cNvPr id="10" name="">
            <a:extLst xmlns:a="http://schemas.openxmlformats.org/drawingml/2006/main">
              <a:ext uri="{FF2B5EF4-FFF2-40B4-BE49-F238E27FC236}">
                <a16:creationId xmlns:a16="http://schemas.microsoft.com/office/drawing/2014/main" id="{E84A808B-DCB9-4A83-A751-07D602139630}"/>
              </a:ext>
            </a:extLst>
          </p:cNvPr>
          <p:cNvSpPr>
            <a:spLocks xmlns:a="http://schemas.openxmlformats.org/drawingml/2006/main" noGrp="1"/>
          </p:cNvSpPr>
          <p:nvPr/>
        </p:nvSpPr>
        <p:spPr>
          <a:xfrm xmlns:a="http://schemas.openxmlformats.org/drawingml/2006/main">
            <a:off x="838200" y="3400425"/>
            <a:ext cx="1847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E67E22"/>
                </a:solidFill>
                <a:latin typeface="Helvetica Neue"/>
                <a:ea typeface="Helvetica Neue"/>
                <a:cs typeface="Helvetica Neue"/>
              </a:defRPr>
            </a:defPPr>
          </a:lstStyle>
          <a:p xmlns:a="http://schemas.openxmlformats.org/drawingml/2006/main">
            <a:pPr algn="l">
              <a:buNone/>
              <a:defRPr sz="1650" b="1">
                <a:solidFill>
                  <a:srgbClr val="E67E22"/>
                </a:solidFill>
                <a:latin typeface="Helvetica Neue"/>
                <a:ea typeface="Helvetica Neue"/>
                <a:cs typeface="Helvetica Neue"/>
              </a:defRPr>
            </a:pPr>
            <a:r>
              <a:rPr sz="1650" b="1">
                <a:solidFill>
                  <a:srgbClr val="E67E22"/>
                </a:solidFill>
                <a:latin typeface="Helvetica Neue"/>
                <a:ea typeface="Helvetica Neue"/>
                <a:cs typeface="Helvetica Neue"/>
              </a:rPr>
              <a:t>A=1 modified</a:t>
            </a:r>
          </a:p>
        </p:txBody>
      </p:sp>
      <p:sp>
        <p:nvSpPr>
          <p:cNvPr id="11" name="">
            <a:extLst xmlns:a="http://schemas.openxmlformats.org/drawingml/2006/main">
              <a:ext uri="{FF2B5EF4-FFF2-40B4-BE49-F238E27FC236}">
                <a16:creationId xmlns:a16="http://schemas.microsoft.com/office/drawing/2014/main" id="{6711BEBD-9250-4640-8A77-B3A7685AECF8}"/>
              </a:ext>
            </a:extLst>
          </p:cNvPr>
          <p:cNvSpPr>
            <a:spLocks xmlns:a="http://schemas.openxmlformats.org/drawingml/2006/main" noGrp="1"/>
          </p:cNvSpPr>
          <p:nvPr/>
        </p:nvSpPr>
        <p:spPr>
          <a:xfrm xmlns:a="http://schemas.openxmlformats.org/drawingml/2006/main">
            <a:off x="838200" y="3781425"/>
            <a:ext cx="18478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Dark.Mimic periodic colour change</a:t>
            </a:r>
          </a:p>
        </p:txBody>
      </p:sp>
      <p:sp>
        <p:nvSpPr>
          <p:cNvPr id="12" name="">
            <a:extLst xmlns:a="http://schemas.openxmlformats.org/drawingml/2006/main">
              <a:ext uri="{FF2B5EF4-FFF2-40B4-BE49-F238E27FC236}">
                <a16:creationId xmlns:a16="http://schemas.microsoft.com/office/drawing/2014/main" id="{6593D81E-6700-464E-946C-84DA4B5E9433}"/>
              </a:ext>
            </a:extLst>
          </p:cNvPr>
          <p:cNvSpPr>
            <a:spLocks xmlns:a="http://schemas.openxmlformats.org/drawingml/2006/main" noGrp="1"/>
          </p:cNvSpPr>
          <p:nvPr/>
        </p:nvSpPr>
        <p:spPr>
          <a:xfrm xmlns:a="http://schemas.openxmlformats.org/drawingml/2006/main">
            <a:off x="4191000" y="2286000"/>
            <a:ext cx="2952750" cy="1428750"/>
          </a:xfrm>
          <a:prstGeom xmlns:a="http://schemas.openxmlformats.org/drawingml/2006/main" prst="roundRect">
            <a:avLst>
              <a:gd name="adj" fmla="val 5333"/>
            </a:avLst>
          </a:prstGeom>
          <a:solidFill xmlns:a="http://schemas.openxmlformats.org/drawingml/2006/main">
            <a:srgbClr val="FCECEC"/>
          </a:solidFill>
          <a:ln xmlns:a="http://schemas.openxmlformats.org/drawingml/2006/main" w="19050">
            <a:solidFill>
              <a:srgbClr val="D64545"/>
            </a:solidFill>
          </a:ln>
        </p:spPr>
      </p:sp>
      <p:sp>
        <p:nvSpPr>
          <p:cNvPr id="13" name="">
            <a:extLst xmlns:a="http://schemas.openxmlformats.org/drawingml/2006/main">
              <a:ext uri="{FF2B5EF4-FFF2-40B4-BE49-F238E27FC236}">
                <a16:creationId xmlns:a16="http://schemas.microsoft.com/office/drawing/2014/main" id="{D8BF018F-F9CD-4454-A7C6-08B1ED565317}"/>
              </a:ext>
            </a:extLst>
          </p:cNvPr>
          <p:cNvSpPr>
            <a:spLocks xmlns:a="http://schemas.openxmlformats.org/drawingml/2006/main" noGrp="1"/>
          </p:cNvSpPr>
          <p:nvPr/>
        </p:nvSpPr>
        <p:spPr>
          <a:xfrm xmlns:a="http://schemas.openxmlformats.org/drawingml/2006/main">
            <a:off x="4362450" y="2400300"/>
            <a:ext cx="2609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D64545"/>
                </a:solidFill>
                <a:latin typeface="Helvetica Neue"/>
                <a:ea typeface="Helvetica Neue"/>
                <a:cs typeface="Helvetica Neue"/>
              </a:defRPr>
            </a:defPPr>
          </a:lstStyle>
          <a:p xmlns:a="http://schemas.openxmlformats.org/drawingml/2006/main">
            <a:pPr algn="l">
              <a:buNone/>
              <a:defRPr sz="1650" b="1">
                <a:solidFill>
                  <a:srgbClr val="D64545"/>
                </a:solidFill>
                <a:latin typeface="Helvetica Neue"/>
                <a:ea typeface="Helvetica Neue"/>
                <a:cs typeface="Helvetica Neue"/>
              </a:defRPr>
            </a:pPr>
            <a:r>
              <a:rPr sz="1650" b="1">
                <a:solidFill>
                  <a:srgbClr val="D64545"/>
                </a:solidFill>
                <a:latin typeface="Helvetica Neue"/>
                <a:ea typeface="Helvetica Neue"/>
                <a:cs typeface="Helvetica Neue"/>
              </a:rPr>
              <a:t>Frame-aligned RGB difference</a:t>
            </a:r>
          </a:p>
        </p:txBody>
      </p:sp>
      <p:sp>
        <p:nvSpPr>
          <p:cNvPr id="14" name="">
            <a:extLst xmlns:a="http://schemas.openxmlformats.org/drawingml/2006/main">
              <a:ext uri="{FF2B5EF4-FFF2-40B4-BE49-F238E27FC236}">
                <a16:creationId xmlns:a16="http://schemas.microsoft.com/office/drawing/2014/main" id="{F524106E-A96E-4F88-9A9E-4A35D6A0E84E}"/>
              </a:ext>
            </a:extLst>
          </p:cNvPr>
          <p:cNvSpPr>
            <a:spLocks xmlns:a="http://schemas.openxmlformats.org/drawingml/2006/main" noGrp="1"/>
          </p:cNvSpPr>
          <p:nvPr/>
        </p:nvSpPr>
        <p:spPr>
          <a:xfrm xmlns:a="http://schemas.openxmlformats.org/drawingml/2006/main">
            <a:off x="4362450" y="2781300"/>
            <a:ext cx="26098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Global, forehead and both cheeks</a:t>
            </a:r>
          </a:p>
        </p:txBody>
      </p:sp>
      <p:sp>
        <p:nvSpPr>
          <p:cNvPr id="15" name="">
            <a:extLst xmlns:a="http://schemas.openxmlformats.org/drawingml/2006/main">
              <a:ext uri="{FF2B5EF4-FFF2-40B4-BE49-F238E27FC236}">
                <a16:creationId xmlns:a16="http://schemas.microsoft.com/office/drawing/2014/main" id="{73EAE57A-5282-490D-9BE0-4CEC00131B54}"/>
              </a:ext>
            </a:extLst>
          </p:cNvPr>
          <p:cNvSpPr>
            <a:spLocks xmlns:a="http://schemas.openxmlformats.org/drawingml/2006/main" noGrp="1"/>
          </p:cNvSpPr>
          <p:nvPr/>
        </p:nvSpPr>
        <p:spPr>
          <a:xfrm xmlns:a="http://schemas.openxmlformats.org/drawingml/2006/main">
            <a:off x="8572500" y="2286000"/>
            <a:ext cx="2857500" cy="1428750"/>
          </a:xfrm>
          <a:prstGeom xmlns:a="http://schemas.openxmlformats.org/drawingml/2006/main" prst="roundRect">
            <a:avLst>
              <a:gd name="adj" fmla="val 5333"/>
            </a:avLst>
          </a:prstGeom>
          <a:solidFill xmlns:a="http://schemas.openxmlformats.org/drawingml/2006/main">
            <a:srgbClr val="EAF1FF"/>
          </a:solidFill>
          <a:ln xmlns:a="http://schemas.openxmlformats.org/drawingml/2006/main" w="19050">
            <a:solidFill>
              <a:srgbClr val="2F6BFF"/>
            </a:solidFill>
          </a:ln>
        </p:spPr>
      </p:sp>
      <p:sp>
        <p:nvSpPr>
          <p:cNvPr id="16" name="">
            <a:extLst xmlns:a="http://schemas.openxmlformats.org/drawingml/2006/main">
              <a:ext uri="{FF2B5EF4-FFF2-40B4-BE49-F238E27FC236}">
                <a16:creationId xmlns:a16="http://schemas.microsoft.com/office/drawing/2014/main" id="{6155C2FB-B4D3-4B7A-9DBB-05D221A76991}"/>
              </a:ext>
            </a:extLst>
          </p:cNvPr>
          <p:cNvSpPr>
            <a:spLocks xmlns:a="http://schemas.openxmlformats.org/drawingml/2006/main" noGrp="1"/>
          </p:cNvSpPr>
          <p:nvPr/>
        </p:nvSpPr>
        <p:spPr>
          <a:xfrm xmlns:a="http://schemas.openxmlformats.org/drawingml/2006/main">
            <a:off x="8743950" y="2400300"/>
            <a:ext cx="2514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2F6BFF"/>
                </a:solidFill>
                <a:latin typeface="Helvetica Neue"/>
                <a:ea typeface="Helvetica Neue"/>
                <a:cs typeface="Helvetica Neue"/>
              </a:defRPr>
            </a:defPPr>
          </a:lstStyle>
          <a:p xmlns:a="http://schemas.openxmlformats.org/drawingml/2006/main">
            <a:pPr algn="l">
              <a:buNone/>
              <a:defRPr sz="1650" b="1">
                <a:solidFill>
                  <a:srgbClr val="2F6BFF"/>
                </a:solidFill>
                <a:latin typeface="Helvetica Neue"/>
                <a:ea typeface="Helvetica Neue"/>
                <a:cs typeface="Helvetica Neue"/>
              </a:defRPr>
            </a:pPr>
            <a:r>
              <a:rPr sz="1650" b="1">
                <a:solidFill>
                  <a:srgbClr val="2F6BFF"/>
                </a:solidFill>
                <a:latin typeface="Helvetica Neue"/>
                <a:ea typeface="Helvetica Neue"/>
                <a:cs typeface="Helvetica Neue"/>
              </a:rPr>
              <a:t>FFT audit</a:t>
            </a:r>
          </a:p>
        </p:txBody>
      </p:sp>
      <p:sp>
        <p:nvSpPr>
          <p:cNvPr id="17" name="">
            <a:extLst xmlns:a="http://schemas.openxmlformats.org/drawingml/2006/main">
              <a:ext uri="{FF2B5EF4-FFF2-40B4-BE49-F238E27FC236}">
                <a16:creationId xmlns:a16="http://schemas.microsoft.com/office/drawing/2014/main" id="{28684CDE-DAE5-4DC9-8282-3D7EF168A2E5}"/>
              </a:ext>
            </a:extLst>
          </p:cNvPr>
          <p:cNvSpPr>
            <a:spLocks xmlns:a="http://schemas.openxmlformats.org/drawingml/2006/main" noGrp="1"/>
          </p:cNvSpPr>
          <p:nvPr/>
        </p:nvSpPr>
        <p:spPr>
          <a:xfrm xmlns:a="http://schemas.openxmlformats.org/drawingml/2006/main">
            <a:off x="8743950" y="2781300"/>
            <a:ext cx="2514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Peak frequency</a:t>
            </a:r>
          </a:p>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Peak-to-median ratio</a:t>
            </a:r>
          </a:p>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Energy near 1.2 Hz</a:t>
            </a:r>
          </a:p>
        </p:txBody>
      </p:sp>
      <p:sp>
        <p:nvSpPr>
          <p:cNvPr id="18" name="">
            <a:extLst xmlns:a="http://schemas.openxmlformats.org/drawingml/2006/main">
              <a:ext uri="{FF2B5EF4-FFF2-40B4-BE49-F238E27FC236}">
                <a16:creationId xmlns:a16="http://schemas.microsoft.com/office/drawing/2014/main" id="{53CF3D3F-05DB-4482-9A69-A697585AA06E}"/>
              </a:ext>
            </a:extLst>
          </p:cNvPr>
          <p:cNvSpPr>
            <a:spLocks xmlns:a="http://schemas.openxmlformats.org/drawingml/2006/main" noGrp="1"/>
          </p:cNvSpPr>
          <p:nvPr/>
        </p:nvSpPr>
        <p:spPr>
          <a:xfrm xmlns:a="http://schemas.openxmlformats.org/drawingml/2006/main">
            <a:off x="2857500" y="2047875"/>
            <a:ext cx="1333500" cy="666750"/>
          </a:xfrm>
          <a:prstGeom xmlns:a="http://schemas.openxmlformats.org/drawingml/2006/main" prst="line">
            <a:avLst/>
          </a:prstGeom>
          <a:noFill xmlns:a="http://schemas.openxmlformats.org/drawingml/2006/main"/>
          <a:ln xmlns:a="http://schemas.openxmlformats.org/drawingml/2006/main" w="19050">
            <a:solidFill>
              <a:srgbClr val="627D98"/>
            </a:solidFill>
          </a:ln>
        </p:spPr>
      </p:sp>
      <p:sp>
        <p:nvSpPr>
          <p:cNvPr id="19" name="">
            <a:extLst xmlns:a="http://schemas.openxmlformats.org/drawingml/2006/main">
              <a:ext uri="{FF2B5EF4-FFF2-40B4-BE49-F238E27FC236}">
                <a16:creationId xmlns:a16="http://schemas.microsoft.com/office/drawing/2014/main" id="{CB6DBA84-DD25-4164-B32D-D7A187926302}"/>
              </a:ext>
            </a:extLst>
          </p:cNvPr>
          <p:cNvSpPr>
            <a:spLocks xmlns:a="http://schemas.openxmlformats.org/drawingml/2006/main" noGrp="1"/>
          </p:cNvSpPr>
          <p:nvPr/>
        </p:nvSpPr>
        <p:spPr>
          <a:xfrm xmlns:a="http://schemas.openxmlformats.org/drawingml/2006/main">
            <a:off x="2857500" y="3857625"/>
            <a:ext cx="1333500" cy="0"/>
          </a:xfrm>
          <a:prstGeom xmlns:a="http://schemas.openxmlformats.org/drawingml/2006/main" prst="line">
            <a:avLst/>
          </a:prstGeom>
          <a:noFill xmlns:a="http://schemas.openxmlformats.org/drawingml/2006/main"/>
          <a:ln xmlns:a="http://schemas.openxmlformats.org/drawingml/2006/main" w="19050">
            <a:solidFill>
              <a:srgbClr val="E67E22"/>
            </a:solidFill>
          </a:ln>
        </p:spPr>
      </p:sp>
      <p:sp>
        <p:nvSpPr>
          <p:cNvPr id="20" name="">
            <a:extLst xmlns:a="http://schemas.openxmlformats.org/drawingml/2006/main">
              <a:ext uri="{FF2B5EF4-FFF2-40B4-BE49-F238E27FC236}">
                <a16:creationId xmlns:a16="http://schemas.microsoft.com/office/drawing/2014/main" id="{3F23C042-7064-46E6-BB3C-277CBC9CA79A}"/>
              </a:ext>
            </a:extLst>
          </p:cNvPr>
          <p:cNvSpPr>
            <a:spLocks xmlns:a="http://schemas.openxmlformats.org/drawingml/2006/main" noGrp="1"/>
          </p:cNvSpPr>
          <p:nvPr/>
        </p:nvSpPr>
        <p:spPr>
          <a:xfrm xmlns:a="http://schemas.openxmlformats.org/drawingml/2006/main">
            <a:off x="7143750" y="3000375"/>
            <a:ext cx="1428750" cy="0"/>
          </a:xfrm>
          <a:prstGeom xmlns:a="http://schemas.openxmlformats.org/drawingml/2006/main" prst="line">
            <a:avLst/>
          </a:prstGeom>
          <a:noFill xmlns:a="http://schemas.openxmlformats.org/drawingml/2006/main"/>
          <a:ln xmlns:a="http://schemas.openxmlformats.org/drawingml/2006/main" w="19050">
            <a:solidFill>
              <a:srgbClr val="2F6BFF"/>
            </a:solidFill>
          </a:ln>
        </p:spPr>
      </p:sp>
      <p:sp>
        <p:nvSpPr>
          <p:cNvPr id="21" name="">
            <a:extLst xmlns:a="http://schemas.openxmlformats.org/drawingml/2006/main">
              <a:ext uri="{FF2B5EF4-FFF2-40B4-BE49-F238E27FC236}">
                <a16:creationId xmlns:a16="http://schemas.microsoft.com/office/drawing/2014/main" id="{D029C292-38E0-475D-B886-37D2EB22EF16}"/>
              </a:ext>
            </a:extLst>
          </p:cNvPr>
          <p:cNvSpPr>
            <a:spLocks xmlns:a="http://schemas.openxmlformats.org/drawingml/2006/main" noGrp="1"/>
          </p:cNvSpPr>
          <p:nvPr/>
        </p:nvSpPr>
        <p:spPr>
          <a:xfrm xmlns:a="http://schemas.openxmlformats.org/drawingml/2006/main">
            <a:off x="2000250" y="4762500"/>
            <a:ext cx="8001000" cy="0"/>
          </a:xfrm>
          <a:prstGeom xmlns:a="http://schemas.openxmlformats.org/drawingml/2006/main" prst="line">
            <a:avLst/>
          </a:prstGeom>
          <a:noFill xmlns:a="http://schemas.openxmlformats.org/drawingml/2006/main"/>
          <a:ln xmlns:a="http://schemas.openxmlformats.org/drawingml/2006/main" w="19050">
            <a:solidFill>
              <a:srgbClr val="D9E2EC"/>
            </a:solidFill>
          </a:ln>
        </p:spPr>
      </p:sp>
      <p:sp>
        <p:nvSpPr>
          <p:cNvPr id="22" name="">
            <a:extLst xmlns:a="http://schemas.openxmlformats.org/drawingml/2006/main">
              <a:ext uri="{FF2B5EF4-FFF2-40B4-BE49-F238E27FC236}">
                <a16:creationId xmlns:a16="http://schemas.microsoft.com/office/drawing/2014/main" id="{C658CD10-C8C2-4280-9E57-DDB368055052}"/>
              </a:ext>
            </a:extLst>
          </p:cNvPr>
          <p:cNvSpPr>
            <a:spLocks xmlns:a="http://schemas.openxmlformats.org/drawingml/2006/main" noGrp="1"/>
          </p:cNvSpPr>
          <p:nvPr/>
        </p:nvSpPr>
        <p:spPr>
          <a:xfrm xmlns:a="http://schemas.openxmlformats.org/drawingml/2006/main">
            <a:off x="666750" y="5095875"/>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725" b="1">
                <a:solidFill>
                  <a:srgbClr val="159E9C"/>
                </a:solidFill>
                <a:latin typeface="Helvetica Neue"/>
                <a:ea typeface="Helvetica Neue"/>
                <a:cs typeface="Helvetica Neue"/>
              </a:defRPr>
            </a:defPPr>
          </a:lstStyle>
          <a:p xmlns:a="http://schemas.openxmlformats.org/drawingml/2006/main">
            <a:pPr algn="l">
              <a:buNone/>
              <a:defRPr sz="1725" b="1">
                <a:solidFill>
                  <a:srgbClr val="159E9C"/>
                </a:solidFill>
                <a:latin typeface="Helvetica Neue"/>
                <a:ea typeface="Helvetica Neue"/>
                <a:cs typeface="Helvetica Neue"/>
              </a:defRPr>
            </a:pPr>
            <a:r>
              <a:rPr sz="1725" b="1">
                <a:solidFill>
                  <a:srgbClr val="159E9C"/>
                </a:solidFill>
                <a:latin typeface="Helvetica Neue"/>
                <a:ea typeface="Helvetica Neue"/>
                <a:cs typeface="Helvetica Neue"/>
              </a:rPr>
              <a:t>Neutral control</a:t>
            </a:r>
          </a:p>
        </p:txBody>
      </p:sp>
      <p:sp>
        <p:nvSpPr>
          <p:cNvPr id="23" name="">
            <a:extLst xmlns:a="http://schemas.openxmlformats.org/drawingml/2006/main">
              <a:ext uri="{FF2B5EF4-FFF2-40B4-BE49-F238E27FC236}">
                <a16:creationId xmlns:a16="http://schemas.microsoft.com/office/drawing/2014/main" id="{2F7C395F-A210-4E23-814E-9DDD9EAFAD42}"/>
              </a:ext>
            </a:extLst>
          </p:cNvPr>
          <p:cNvSpPr>
            <a:spLocks xmlns:a="http://schemas.openxmlformats.org/drawingml/2006/main" noGrp="1"/>
          </p:cNvSpPr>
          <p:nvPr/>
        </p:nvSpPr>
        <p:spPr>
          <a:xfrm xmlns:a="http://schemas.openxmlformats.org/drawingml/2006/main">
            <a:off x="2857500" y="5010150"/>
            <a:ext cx="819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0">
                <a:solidFill>
                  <a:srgbClr val="243B53"/>
                </a:solidFill>
                <a:latin typeface="Helvetica Neue"/>
                <a:ea typeface="Helvetica Neue"/>
                <a:cs typeface="Helvetica Neue"/>
              </a:defRPr>
            </a:defPPr>
          </a:lstStyle>
          <a:p xmlns:a="http://schemas.openxmlformats.org/drawingml/2006/main">
            <a:pPr algn="l">
              <a:buNone/>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Re-encode the control with the same codec family and similar bitrate, then apply the identical audit</a:t>
            </a:r>
          </a:p>
        </p:txBody>
      </p:sp>
      <p:sp>
        <p:nvSpPr>
          <p:cNvPr id="24" name="">
            <a:extLst xmlns:a="http://schemas.openxmlformats.org/drawingml/2006/main">
              <a:ext uri="{FF2B5EF4-FFF2-40B4-BE49-F238E27FC236}">
                <a16:creationId xmlns:a16="http://schemas.microsoft.com/office/drawing/2014/main" id="{58180C95-E366-45A9-B342-C9929B93AD3B}"/>
              </a:ext>
            </a:extLst>
          </p:cNvPr>
          <p:cNvSpPr>
            <a:spLocks xmlns:a="http://schemas.openxmlformats.org/drawingml/2006/main" noGrp="1"/>
          </p:cNvSpPr>
          <p:nvPr/>
        </p:nvSpPr>
        <p:spPr>
          <a:xfrm xmlns:a="http://schemas.openxmlformats.org/drawingml/2006/main">
            <a:off x="1143000" y="5905500"/>
            <a:ext cx="9906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425" b="1">
                <a:solidFill>
                  <a:srgbClr val="D64545"/>
                </a:solidFill>
                <a:latin typeface="Helvetica Neue"/>
                <a:ea typeface="Helvetica Neue"/>
                <a:cs typeface="Helvetica Neue"/>
              </a:defRPr>
            </a:defPPr>
          </a:lstStyle>
          <a:p xmlns:a="http://schemas.openxmlformats.org/drawingml/2006/main">
            <a:pPr algn="ctr">
              <a:buNone/>
              <a:defRPr sz="1425" b="1">
                <a:solidFill>
                  <a:srgbClr val="D64545"/>
                </a:solidFill>
                <a:latin typeface="Helvetica Neue"/>
                <a:ea typeface="Helvetica Neue"/>
                <a:cs typeface="Helvetica Neue"/>
              </a:defRPr>
            </a:pPr>
            <a:r>
              <a:rPr sz="1425" b="1">
                <a:solidFill>
                  <a:srgbClr val="D64545"/>
                </a:solidFill>
                <a:latin typeface="Helvetica Neue"/>
                <a:ea typeface="Helvetica Neue"/>
                <a:cs typeface="Helvetica Neue"/>
              </a:rPr>
              <a:t>He presents: hash checks, neutral control, spectral and robustness audit</a:t>
            </a:r>
          </a:p>
        </p:txBody>
      </p:sp>
    </p:spTree>
    <p:extLst>
      <p:ext uri="{BB962C8B-B14F-4D97-AF65-F5344CB8AC3E}">
        <p14:creationId xmlns:p14="http://schemas.microsoft.com/office/powerpoint/2010/main" val="123090794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D5EFD32-BF49-4446-9F24-A5B33EFC1E9C}"/>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stStyle>
          <a:p xmlns:a="http://schemas.openxmlformats.org/drawingml/2006/main">
            <a:pPr algn="l">
              <a:buNone/>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The A=1 pair contains a strong 1.2 Hz colour trace</a:t>
            </a:r>
          </a:p>
        </p:txBody>
      </p:sp>
      <p:sp>
        <p:nvSpPr>
          <p:cNvPr id="2" name="">
            <a:extLst xmlns:a="http://schemas.openxmlformats.org/drawingml/2006/main">
              <a:ext uri="{FF2B5EF4-FFF2-40B4-BE49-F238E27FC236}">
                <a16:creationId xmlns:a16="http://schemas.microsoft.com/office/drawing/2014/main" id="{6AE5D401-0378-4BB1-B200-7329CBB998AB}"/>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stStyle>
          <a:p xmlns:a="http://schemas.openxmlformats.org/drawingml/2006/main">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6839EE95-A61B-4CEC-B581-DF15B2B8EC02}"/>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76CF6A0-62D7-4014-BD10-74D18F8CC1EF}"/>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stStyle>
          <a:p xmlns:a="http://schemas.openxmlformats.org/drawingml/2006/main">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62C68C27-E022-4FB9-9742-1F238206B583}"/>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stStyle>
          <a:p xmlns:a="http://schemas.openxmlformats.org/drawingml/2006/main">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9/11</a:t>
            </a:r>
          </a:p>
        </p:txBody>
      </p:sp>
      <p:graphicFrame>
        <p:nvGraphicFramePr>
          <p:cNvPr id="6" name="Chart">
            <a:extLst xmlns:a="http://schemas.openxmlformats.org/drawingml/2006/main">
              <a:ext uri="{FF2B5EF4-FFF2-40B4-BE49-F238E27FC236}">
                <a16:creationId xmlns:a16="http://schemas.microsoft.com/office/drawing/2014/main" id="{5220E9B6-412E-4CD0-BA44-C932DB1032EE}"/>
              </a:ext>
            </a:extLst>
          </p:cNvPr>
          <p:cNvGraphicFramePr/>
          <p:nvPr/>
        </p:nvGraphicFramePr>
        <p:xfrm>
          <a:off xmlns:a="http://schemas.openxmlformats.org/drawingml/2006/main" x="619125" y="1285875"/>
          <a:ext xmlns:a="http://schemas.openxmlformats.org/drawingml/2006/main" cx="6667500" cy="2333625"/>
        </p:xfrm>
        <a:graphic xmlns:a="http://schemas.openxmlformats.org/drawingml/2006/main">
          <a:graphicData uri="http://schemas.openxmlformats.org/drawingml/2006/chart">
            <c:chart xmlns:r="http://schemas.openxmlformats.org/officeDocument/2006/relationships" xmlns:c="http://schemas.openxmlformats.org/drawingml/2006/chart" r:id="R7b7b710c2ccc4b3e"/>
          </a:graphicData>
        </a:graphic>
      </p:graphicFrame>
      <p:graphicFrame>
        <p:nvGraphicFramePr>
          <p:cNvPr id="7" name="Chart">
            <a:extLst xmlns:a="http://schemas.openxmlformats.org/drawingml/2006/main">
              <a:ext uri="{FF2B5EF4-FFF2-40B4-BE49-F238E27FC236}">
                <a16:creationId xmlns:a16="http://schemas.microsoft.com/office/drawing/2014/main" id="{63F026CB-BCDC-40B7-926E-C820599EEAB4}"/>
              </a:ext>
            </a:extLst>
          </p:cNvPr>
          <p:cNvGraphicFramePr/>
          <p:nvPr/>
        </p:nvGraphicFramePr>
        <p:xfrm>
          <a:off xmlns:a="http://schemas.openxmlformats.org/drawingml/2006/main" x="619125" y="4000500"/>
          <a:ext xmlns:a="http://schemas.openxmlformats.org/drawingml/2006/main" cx="6667500" cy="2047875"/>
        </p:xfrm>
        <a:graphic xmlns:a="http://schemas.openxmlformats.org/drawingml/2006/main">
          <a:graphicData uri="http://schemas.openxmlformats.org/drawingml/2006/chart">
            <c:chart xmlns:r="http://schemas.openxmlformats.org/officeDocument/2006/relationships" xmlns:c="http://schemas.openxmlformats.org/drawingml/2006/chart" r:id="R6e1b3d85523e41ac"/>
          </a:graphicData>
        </a:graphic>
      </p:graphicFrame>
      <p:sp>
        <p:nvSpPr>
          <p:cNvPr id="8" name="">
            <a:extLst xmlns:a="http://schemas.openxmlformats.org/drawingml/2006/main">
              <a:ext uri="{FF2B5EF4-FFF2-40B4-BE49-F238E27FC236}">
                <a16:creationId xmlns:a16="http://schemas.microsoft.com/office/drawing/2014/main" id="{8F6A5923-A83D-45F5-8DAD-2A0A4941EEB9}"/>
              </a:ext>
            </a:extLst>
          </p:cNvPr>
          <p:cNvSpPr>
            <a:spLocks xmlns:a="http://schemas.openxmlformats.org/drawingml/2006/main" noGrp="1"/>
          </p:cNvSpPr>
          <p:nvPr/>
        </p:nvSpPr>
        <p:spPr>
          <a:xfrm xmlns:a="http://schemas.openxmlformats.org/drawingml/2006/main">
            <a:off x="7905750" y="1524000"/>
            <a:ext cx="314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350" b="0">
                <a:solidFill>
                  <a:srgbClr val="627D98"/>
                </a:solidFill>
                <a:latin typeface="Helvetica Neue"/>
                <a:ea typeface="Helvetica Neue"/>
                <a:cs typeface="Helvetica Neue"/>
              </a:defRPr>
            </a:defPPr>
          </a:lstStyle>
          <a:p xmlns:a="http://schemas.openxmlformats.org/drawingml/2006/main">
            <a:pPr algn="l">
              <a:buNone/>
              <a:defRPr sz="1350" b="0">
                <a:solidFill>
                  <a:srgbClr val="627D98"/>
                </a:solidFill>
                <a:latin typeface="Helvetica Neue"/>
                <a:ea typeface="Helvetica Neue"/>
                <a:cs typeface="Helvetica Neue"/>
              </a:defRPr>
            </a:pPr>
            <a:r>
              <a:rPr sz="1350" b="0">
                <a:solidFill>
                  <a:srgbClr val="627D98"/>
                </a:solidFill>
                <a:latin typeface="Helvetica Neue"/>
                <a:ea typeface="Helvetica Neue"/>
                <a:cs typeface="Helvetica Neue"/>
              </a:rPr>
              <a:t>Global red peak</a:t>
            </a:r>
          </a:p>
        </p:txBody>
      </p:sp>
      <p:sp>
        <p:nvSpPr>
          <p:cNvPr id="9" name="">
            <a:extLst xmlns:a="http://schemas.openxmlformats.org/drawingml/2006/main">
              <a:ext uri="{FF2B5EF4-FFF2-40B4-BE49-F238E27FC236}">
                <a16:creationId xmlns:a16="http://schemas.microsoft.com/office/drawing/2014/main" id="{970ED8F3-54B7-4155-B711-41DC3AE0D203}"/>
              </a:ext>
            </a:extLst>
          </p:cNvPr>
          <p:cNvSpPr>
            <a:spLocks xmlns:a="http://schemas.openxmlformats.org/drawingml/2006/main" noGrp="1"/>
          </p:cNvSpPr>
          <p:nvPr/>
        </p:nvSpPr>
        <p:spPr>
          <a:xfrm xmlns:a="http://schemas.openxmlformats.org/drawingml/2006/main">
            <a:off x="7905750" y="1876425"/>
            <a:ext cx="314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850" b="1">
                <a:solidFill>
                  <a:srgbClr val="D64545"/>
                </a:solidFill>
                <a:latin typeface="Helvetica Neue"/>
                <a:ea typeface="Helvetica Neue"/>
                <a:cs typeface="Helvetica Neue"/>
              </a:defRPr>
            </a:defPPr>
          </a:lstStyle>
          <a:p xmlns:a="http://schemas.openxmlformats.org/drawingml/2006/main">
            <a:pPr algn="l">
              <a:buNone/>
              <a:defRPr sz="2850" b="1">
                <a:solidFill>
                  <a:srgbClr val="D64545"/>
                </a:solidFill>
                <a:latin typeface="Helvetica Neue"/>
                <a:ea typeface="Helvetica Neue"/>
                <a:cs typeface="Helvetica Neue"/>
              </a:defRPr>
            </a:pPr>
            <a:r>
              <a:rPr sz="2850" b="1">
                <a:solidFill>
                  <a:srgbClr val="D64545"/>
                </a:solidFill>
                <a:latin typeface="Helvetica Neue"/>
                <a:ea typeface="Helvetica Neue"/>
                <a:cs typeface="Helvetica Neue"/>
              </a:rPr>
              <a:t>1.159 Hz</a:t>
            </a:r>
          </a:p>
        </p:txBody>
      </p:sp>
      <p:sp>
        <p:nvSpPr>
          <p:cNvPr id="10" name="">
            <a:extLst xmlns:a="http://schemas.openxmlformats.org/drawingml/2006/main">
              <a:ext uri="{FF2B5EF4-FFF2-40B4-BE49-F238E27FC236}">
                <a16:creationId xmlns:a16="http://schemas.microsoft.com/office/drawing/2014/main" id="{C2663806-DD9E-41DE-BEFE-FCE830F863A2}"/>
              </a:ext>
            </a:extLst>
          </p:cNvPr>
          <p:cNvSpPr>
            <a:spLocks xmlns:a="http://schemas.openxmlformats.org/drawingml/2006/main" noGrp="1"/>
          </p:cNvSpPr>
          <p:nvPr/>
        </p:nvSpPr>
        <p:spPr>
          <a:xfrm xmlns:a="http://schemas.openxmlformats.org/drawingml/2006/main">
            <a:off x="7905750" y="2905125"/>
            <a:ext cx="314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350" b="0">
                <a:solidFill>
                  <a:srgbClr val="627D98"/>
                </a:solidFill>
                <a:latin typeface="Helvetica Neue"/>
                <a:ea typeface="Helvetica Neue"/>
                <a:cs typeface="Helvetica Neue"/>
              </a:defRPr>
            </a:defPPr>
          </a:lstStyle>
          <a:p xmlns:a="http://schemas.openxmlformats.org/drawingml/2006/main">
            <a:pPr algn="l">
              <a:buNone/>
              <a:defRPr sz="1350" b="0">
                <a:solidFill>
                  <a:srgbClr val="627D98"/>
                </a:solidFill>
                <a:latin typeface="Helvetica Neue"/>
                <a:ea typeface="Helvetica Neue"/>
                <a:cs typeface="Helvetica Neue"/>
              </a:defRPr>
            </a:pPr>
            <a:r>
              <a:rPr sz="1350" b="0">
                <a:solidFill>
                  <a:srgbClr val="627D98"/>
                </a:solidFill>
                <a:latin typeface="Helvetica Neue"/>
                <a:ea typeface="Helvetica Neue"/>
                <a:cs typeface="Helvetica Neue"/>
              </a:rPr>
              <a:t>Energy near 1.2 Hz</a:t>
            </a:r>
          </a:p>
        </p:txBody>
      </p:sp>
      <p:sp>
        <p:nvSpPr>
          <p:cNvPr id="11" name="">
            <a:extLst xmlns:a="http://schemas.openxmlformats.org/drawingml/2006/main">
              <a:ext uri="{FF2B5EF4-FFF2-40B4-BE49-F238E27FC236}">
                <a16:creationId xmlns:a16="http://schemas.microsoft.com/office/drawing/2014/main" id="{050490B1-A714-4665-B745-70207F809E4C}"/>
              </a:ext>
            </a:extLst>
          </p:cNvPr>
          <p:cNvSpPr>
            <a:spLocks xmlns:a="http://schemas.openxmlformats.org/drawingml/2006/main" noGrp="1"/>
          </p:cNvSpPr>
          <p:nvPr/>
        </p:nvSpPr>
        <p:spPr>
          <a:xfrm xmlns:a="http://schemas.openxmlformats.org/drawingml/2006/main">
            <a:off x="7905750" y="3257550"/>
            <a:ext cx="152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700" b="1">
                <a:solidFill>
                  <a:srgbClr val="E67E22"/>
                </a:solidFill>
                <a:latin typeface="Helvetica Neue"/>
                <a:ea typeface="Helvetica Neue"/>
                <a:cs typeface="Helvetica Neue"/>
              </a:defRPr>
            </a:defPPr>
          </a:lstStyle>
          <a:p xmlns:a="http://schemas.openxmlformats.org/drawingml/2006/main">
            <a:pPr algn="l">
              <a:buNone/>
              <a:defRPr sz="2700" b="1">
                <a:solidFill>
                  <a:srgbClr val="E67E22"/>
                </a:solidFill>
                <a:latin typeface="Helvetica Neue"/>
                <a:ea typeface="Helvetica Neue"/>
                <a:cs typeface="Helvetica Neue"/>
              </a:defRPr>
            </a:pPr>
            <a:r>
              <a:rPr sz="2700" b="1">
                <a:solidFill>
                  <a:srgbClr val="E67E22"/>
                </a:solidFill>
                <a:latin typeface="Helvetica Neue"/>
                <a:ea typeface="Helvetica Neue"/>
                <a:cs typeface="Helvetica Neue"/>
              </a:rPr>
              <a:t>0.946</a:t>
            </a:r>
          </a:p>
        </p:txBody>
      </p:sp>
      <p:sp>
        <p:nvSpPr>
          <p:cNvPr id="12" name="">
            <a:extLst xmlns:a="http://schemas.openxmlformats.org/drawingml/2006/main">
              <a:ext uri="{FF2B5EF4-FFF2-40B4-BE49-F238E27FC236}">
                <a16:creationId xmlns:a16="http://schemas.microsoft.com/office/drawing/2014/main" id="{DB1C0E27-BFD3-4CC1-88AC-E620C4AB9FFF}"/>
              </a:ext>
            </a:extLst>
          </p:cNvPr>
          <p:cNvSpPr>
            <a:spLocks xmlns:a="http://schemas.openxmlformats.org/drawingml/2006/main" noGrp="1"/>
          </p:cNvSpPr>
          <p:nvPr/>
        </p:nvSpPr>
        <p:spPr>
          <a:xfrm xmlns:a="http://schemas.openxmlformats.org/drawingml/2006/main">
            <a:off x="7905750" y="376237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627D98"/>
                </a:solidFill>
                <a:latin typeface="Helvetica Neue"/>
                <a:ea typeface="Helvetica Neue"/>
                <a:cs typeface="Helvetica Neue"/>
              </a:defRPr>
            </a:defPPr>
          </a:lstStyle>
          <a:p xmlns:a="http://schemas.openxmlformats.org/drawingml/2006/main">
            <a:pPr algn="l">
              <a:buNone/>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attack</a:t>
            </a:r>
          </a:p>
        </p:txBody>
      </p:sp>
      <p:sp>
        <p:nvSpPr>
          <p:cNvPr id="13" name="">
            <a:extLst xmlns:a="http://schemas.openxmlformats.org/drawingml/2006/main">
              <a:ext uri="{FF2B5EF4-FFF2-40B4-BE49-F238E27FC236}">
                <a16:creationId xmlns:a16="http://schemas.microsoft.com/office/drawing/2014/main" id="{287A4DEF-062C-408E-B06D-8F56518CD367}"/>
              </a:ext>
            </a:extLst>
          </p:cNvPr>
          <p:cNvSpPr>
            <a:spLocks xmlns:a="http://schemas.openxmlformats.org/drawingml/2006/main" noGrp="1"/>
          </p:cNvSpPr>
          <p:nvPr/>
        </p:nvSpPr>
        <p:spPr>
          <a:xfrm xmlns:a="http://schemas.openxmlformats.org/drawingml/2006/main">
            <a:off x="9810750" y="3257550"/>
            <a:ext cx="152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700" b="1">
                <a:solidFill>
                  <a:srgbClr val="627D98"/>
                </a:solidFill>
                <a:latin typeface="Helvetica Neue"/>
                <a:ea typeface="Helvetica Neue"/>
                <a:cs typeface="Helvetica Neue"/>
              </a:defRPr>
            </a:defPPr>
          </a:lstStyle>
          <a:p xmlns:a="http://schemas.openxmlformats.org/drawingml/2006/main">
            <a:pPr algn="l">
              <a:buNone/>
              <a:defRPr sz="2700" b="1">
                <a:solidFill>
                  <a:srgbClr val="627D98"/>
                </a:solidFill>
                <a:latin typeface="Helvetica Neue"/>
                <a:ea typeface="Helvetica Neue"/>
                <a:cs typeface="Helvetica Neue"/>
              </a:defRPr>
            </a:pPr>
            <a:r>
              <a:rPr sz="2700" b="1">
                <a:solidFill>
                  <a:srgbClr val="627D98"/>
                </a:solidFill>
                <a:latin typeface="Helvetica Neue"/>
                <a:ea typeface="Helvetica Neue"/>
                <a:cs typeface="Helvetica Neue"/>
              </a:rPr>
              <a:t>0.204</a:t>
            </a:r>
          </a:p>
        </p:txBody>
      </p:sp>
      <p:sp>
        <p:nvSpPr>
          <p:cNvPr id="14" name="">
            <a:extLst xmlns:a="http://schemas.openxmlformats.org/drawingml/2006/main">
              <a:ext uri="{FF2B5EF4-FFF2-40B4-BE49-F238E27FC236}">
                <a16:creationId xmlns:a16="http://schemas.microsoft.com/office/drawing/2014/main" id="{AF28E45B-D295-4365-B4CF-C7214EEBB0AF}"/>
              </a:ext>
            </a:extLst>
          </p:cNvPr>
          <p:cNvSpPr>
            <a:spLocks xmlns:a="http://schemas.openxmlformats.org/drawingml/2006/main" noGrp="1"/>
          </p:cNvSpPr>
          <p:nvPr/>
        </p:nvSpPr>
        <p:spPr>
          <a:xfrm xmlns:a="http://schemas.openxmlformats.org/drawingml/2006/main">
            <a:off x="9810750" y="376237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627D98"/>
                </a:solidFill>
                <a:latin typeface="Helvetica Neue"/>
                <a:ea typeface="Helvetica Neue"/>
                <a:cs typeface="Helvetica Neue"/>
              </a:defRPr>
            </a:defPPr>
          </a:lstStyle>
          <a:p xmlns:a="http://schemas.openxmlformats.org/drawingml/2006/main">
            <a:pPr algn="l">
              <a:buNone/>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neutral</a:t>
            </a:r>
          </a:p>
        </p:txBody>
      </p:sp>
      <p:sp>
        <p:nvSpPr>
          <p:cNvPr id="15" name="">
            <a:extLst xmlns:a="http://schemas.openxmlformats.org/drawingml/2006/main">
              <a:ext uri="{FF2B5EF4-FFF2-40B4-BE49-F238E27FC236}">
                <a16:creationId xmlns:a16="http://schemas.microsoft.com/office/drawing/2014/main" id="{E72A488A-9B35-4CC0-8CFB-C012AA4B1887}"/>
              </a:ext>
            </a:extLst>
          </p:cNvPr>
          <p:cNvSpPr>
            <a:spLocks xmlns:a="http://schemas.openxmlformats.org/drawingml/2006/main" noGrp="1"/>
          </p:cNvSpPr>
          <p:nvPr/>
        </p:nvSpPr>
        <p:spPr>
          <a:xfrm xmlns:a="http://schemas.openxmlformats.org/drawingml/2006/main">
            <a:off x="7905750" y="47148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350" b="0">
                <a:solidFill>
                  <a:srgbClr val="627D98"/>
                </a:solidFill>
                <a:latin typeface="Helvetica Neue"/>
                <a:ea typeface="Helvetica Neue"/>
                <a:cs typeface="Helvetica Neue"/>
              </a:defRPr>
            </a:defPPr>
          </a:lstStyle>
          <a:p xmlns:a="http://schemas.openxmlformats.org/drawingml/2006/main">
            <a:pPr algn="l">
              <a:buNone/>
              <a:defRPr sz="1350" b="0">
                <a:solidFill>
                  <a:srgbClr val="627D98"/>
                </a:solidFill>
                <a:latin typeface="Helvetica Neue"/>
                <a:ea typeface="Helvetica Neue"/>
                <a:cs typeface="Helvetica Neue"/>
              </a:defRPr>
            </a:pPr>
            <a:r>
              <a:rPr sz="1350" b="0">
                <a:solidFill>
                  <a:srgbClr val="627D98"/>
                </a:solidFill>
                <a:latin typeface="Helvetica Neue"/>
                <a:ea typeface="Helvetica Neue"/>
                <a:cs typeface="Helvetica Neue"/>
              </a:rPr>
              <a:t>Red ratio</a:t>
            </a:r>
          </a:p>
        </p:txBody>
      </p:sp>
      <p:sp>
        <p:nvSpPr>
          <p:cNvPr id="16" name="">
            <a:extLst xmlns:a="http://schemas.openxmlformats.org/drawingml/2006/main">
              <a:ext uri="{FF2B5EF4-FFF2-40B4-BE49-F238E27FC236}">
                <a16:creationId xmlns:a16="http://schemas.microsoft.com/office/drawing/2014/main" id="{6085E173-DF0A-4B27-822E-5387AFFAAA5E}"/>
              </a:ext>
            </a:extLst>
          </p:cNvPr>
          <p:cNvSpPr>
            <a:spLocks xmlns:a="http://schemas.openxmlformats.org/drawingml/2006/main" noGrp="1"/>
          </p:cNvSpPr>
          <p:nvPr/>
        </p:nvSpPr>
        <p:spPr>
          <a:xfrm xmlns:a="http://schemas.openxmlformats.org/drawingml/2006/main">
            <a:off x="7905750" y="5048250"/>
            <a:ext cx="238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850" b="1">
                <a:solidFill>
                  <a:srgbClr val="102A43"/>
                </a:solidFill>
                <a:latin typeface="Helvetica Neue"/>
                <a:ea typeface="Helvetica Neue"/>
                <a:cs typeface="Helvetica Neue"/>
              </a:defRPr>
            </a:defPPr>
          </a:lstStyle>
          <a:p xmlns:a="http://schemas.openxmlformats.org/drawingml/2006/main">
            <a:pPr algn="l">
              <a:buNone/>
              <a:defRPr sz="2850" b="1">
                <a:solidFill>
                  <a:srgbClr val="102A43"/>
                </a:solidFill>
                <a:latin typeface="Helvetica Neue"/>
                <a:ea typeface="Helvetica Neue"/>
                <a:cs typeface="Helvetica Neue"/>
              </a:defRPr>
            </a:pPr>
            <a:r>
              <a:rPr sz="2850" b="1">
                <a:solidFill>
                  <a:srgbClr val="102A43"/>
                </a:solidFill>
                <a:latin typeface="Helvetica Neue"/>
                <a:ea typeface="Helvetica Neue"/>
                <a:cs typeface="Helvetica Neue"/>
              </a:rPr>
              <a:t>4.63×</a:t>
            </a:r>
          </a:p>
        </p:txBody>
      </p:sp>
      <p:sp>
        <p:nvSpPr>
          <p:cNvPr id="17" name="">
            <a:extLst xmlns:a="http://schemas.openxmlformats.org/drawingml/2006/main">
              <a:ext uri="{FF2B5EF4-FFF2-40B4-BE49-F238E27FC236}">
                <a16:creationId xmlns:a16="http://schemas.microsoft.com/office/drawing/2014/main" id="{26A6F7AA-02C5-4E71-A571-8E4ED41A44C6}"/>
              </a:ext>
            </a:extLst>
          </p:cNvPr>
          <p:cNvSpPr>
            <a:spLocks xmlns:a="http://schemas.openxmlformats.org/drawingml/2006/main" noGrp="1"/>
          </p:cNvSpPr>
          <p:nvPr/>
        </p:nvSpPr>
        <p:spPr>
          <a:xfrm xmlns:a="http://schemas.openxmlformats.org/drawingml/2006/main">
            <a:off x="7905750" y="5772150"/>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D64545"/>
                </a:solidFill>
                <a:latin typeface="Helvetica Neue"/>
                <a:ea typeface="Helvetica Neue"/>
                <a:cs typeface="Helvetica Neue"/>
              </a:defRPr>
            </a:defPPr>
          </a:lstStyle>
          <a:p xmlns:a="http://schemas.openxmlformats.org/drawingml/2006/main">
            <a:pPr algn="l">
              <a:buNone/>
              <a:defRPr sz="1200" b="0">
                <a:solidFill>
                  <a:srgbClr val="D64545"/>
                </a:solidFill>
                <a:latin typeface="Helvetica Neue"/>
                <a:ea typeface="Helvetica Neue"/>
                <a:cs typeface="Helvetica Neue"/>
              </a:defRPr>
            </a:pPr>
            <a:r>
              <a:rPr sz="1200" b="0">
                <a:solidFill>
                  <a:srgbClr val="D64545"/>
                </a:solidFill>
                <a:latin typeface="Helvetica Neue"/>
                <a:ea typeface="Helvetica Neue"/>
                <a:cs typeface="Helvetica Neue"/>
              </a:rPr>
              <a:t>Single aligned pair</a:t>
            </a:r>
          </a:p>
        </p:txBody>
      </p:sp>
    </p:spTree>
    <p:extLst>
      <p:ext uri="{BB962C8B-B14F-4D97-AF65-F5344CB8AC3E}">
        <p14:creationId xmlns:p14="http://schemas.microsoft.com/office/powerpoint/2010/main" val="191185449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2C90715-DAB1-42B1-8DEE-F4BF4C645A93}"/>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stStyle>
          <a:p xmlns:a="http://schemas.openxmlformats.org/drawingml/2006/main">
            <a:pPr algn="l">
              <a:buNone/>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The trace survives three post-processing conditions</a:t>
            </a:r>
          </a:p>
        </p:txBody>
      </p:sp>
      <p:sp>
        <p:nvSpPr>
          <p:cNvPr id="2" name="">
            <a:extLst xmlns:a="http://schemas.openxmlformats.org/drawingml/2006/main">
              <a:ext uri="{FF2B5EF4-FFF2-40B4-BE49-F238E27FC236}">
                <a16:creationId xmlns:a16="http://schemas.microsoft.com/office/drawing/2014/main" id="{286F9596-1311-4CFA-9312-448F41774849}"/>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stStyle>
          <a:p xmlns:a="http://schemas.openxmlformats.org/drawingml/2006/main">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10</a:t>
            </a:r>
          </a:p>
        </p:txBody>
      </p:sp>
      <p:sp>
        <p:nvSpPr>
          <p:cNvPr id="3" name="">
            <a:extLst xmlns:a="http://schemas.openxmlformats.org/drawingml/2006/main">
              <a:ext uri="{FF2B5EF4-FFF2-40B4-BE49-F238E27FC236}">
                <a16:creationId xmlns:a16="http://schemas.microsoft.com/office/drawing/2014/main" id="{90DD5B4C-C16C-43B7-BA5B-D7986D425119}"/>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E4355C4-37A8-4BE7-B759-A4800965D135}"/>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stStyle>
          <a:p xmlns:a="http://schemas.openxmlformats.org/drawingml/2006/main">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E745E0B0-5FFA-4D0B-B039-7EE7AC7590C0}"/>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stStyle>
          <a:p xmlns:a="http://schemas.openxmlformats.org/drawingml/2006/main">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10/11</a:t>
            </a:r>
          </a:p>
        </p:txBody>
      </p:sp>
      <p:graphicFrame>
        <p:nvGraphicFramePr>
          <p:cNvPr id="6" name="Chart">
            <a:extLst xmlns:a="http://schemas.openxmlformats.org/drawingml/2006/main">
              <a:ext uri="{FF2B5EF4-FFF2-40B4-BE49-F238E27FC236}">
                <a16:creationId xmlns:a16="http://schemas.microsoft.com/office/drawing/2014/main" id="{8E6160F9-7659-4C26-912E-CF2266E1EC3A}"/>
              </a:ext>
            </a:extLst>
          </p:cNvPr>
          <p:cNvGraphicFramePr/>
          <p:nvPr/>
        </p:nvGraphicFramePr>
        <p:xfrm>
          <a:off xmlns:a="http://schemas.openxmlformats.org/drawingml/2006/main" x="666750" y="1428750"/>
          <a:ext xmlns:a="http://schemas.openxmlformats.org/drawingml/2006/main" cx="8096250" cy="4191000"/>
        </p:xfrm>
        <a:graphic xmlns:a="http://schemas.openxmlformats.org/drawingml/2006/main">
          <a:graphicData uri="http://schemas.openxmlformats.org/drawingml/2006/chart">
            <c:chart xmlns:r="http://schemas.openxmlformats.org/officeDocument/2006/relationships" xmlns:c="http://schemas.openxmlformats.org/drawingml/2006/chart" r:id="R91371eb167294788"/>
          </a:graphicData>
        </a:graphic>
      </p:graphicFrame>
      <p:sp>
        <p:nvSpPr>
          <p:cNvPr id="7" name="">
            <a:extLst xmlns:a="http://schemas.openxmlformats.org/drawingml/2006/main">
              <a:ext uri="{FF2B5EF4-FFF2-40B4-BE49-F238E27FC236}">
                <a16:creationId xmlns:a16="http://schemas.microsoft.com/office/drawing/2014/main" id="{180945C8-1790-47D8-85D7-56EB30DC4DE2}"/>
              </a:ext>
            </a:extLst>
          </p:cNvPr>
          <p:cNvSpPr>
            <a:spLocks xmlns:a="http://schemas.openxmlformats.org/drawingml/2006/main" noGrp="1"/>
          </p:cNvSpPr>
          <p:nvPr/>
        </p:nvSpPr>
        <p:spPr>
          <a:xfrm xmlns:a="http://schemas.openxmlformats.org/drawingml/2006/main">
            <a:off x="9382125" y="1571625"/>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1">
                <a:solidFill>
                  <a:srgbClr val="102A43"/>
                </a:solidFill>
                <a:latin typeface="Helvetica Neue"/>
                <a:ea typeface="Helvetica Neue"/>
                <a:cs typeface="Helvetica Neue"/>
              </a:defRPr>
            </a:defPPr>
          </a:lstStyle>
          <a:p xmlns:a="http://schemas.openxmlformats.org/drawingml/2006/main">
            <a:pPr algn="l">
              <a:buNone/>
              <a:defRPr sz="1425" b="1">
                <a:solidFill>
                  <a:srgbClr val="102A43"/>
                </a:solidFill>
                <a:latin typeface="Helvetica Neue"/>
                <a:ea typeface="Helvetica Neue"/>
                <a:cs typeface="Helvetica Neue"/>
              </a:defRPr>
            </a:pPr>
            <a:r>
              <a:rPr sz="1425" b="1">
                <a:solidFill>
                  <a:srgbClr val="102A43"/>
                </a:solidFill>
                <a:latin typeface="Helvetica Neue"/>
                <a:ea typeface="Helvetica Neue"/>
                <a:cs typeface="Helvetica Neue"/>
              </a:rPr>
              <a:t>Attack / neutral</a:t>
            </a:r>
          </a:p>
        </p:txBody>
      </p:sp>
      <p:sp>
        <p:nvSpPr>
          <p:cNvPr id="8" name="">
            <a:extLst xmlns:a="http://schemas.openxmlformats.org/drawingml/2006/main">
              <a:ext uri="{FF2B5EF4-FFF2-40B4-BE49-F238E27FC236}">
                <a16:creationId xmlns:a16="http://schemas.microsoft.com/office/drawing/2014/main" id="{18469AA7-0BEC-4518-B48B-6C3ECA4EB892}"/>
              </a:ext>
            </a:extLst>
          </p:cNvPr>
          <p:cNvSpPr>
            <a:spLocks xmlns:a="http://schemas.openxmlformats.org/drawingml/2006/main" noGrp="1"/>
          </p:cNvSpPr>
          <p:nvPr/>
        </p:nvSpPr>
        <p:spPr>
          <a:xfrm xmlns:a="http://schemas.openxmlformats.org/drawingml/2006/main">
            <a:off x="9382125" y="20955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627D98"/>
                </a:solidFill>
                <a:latin typeface="Helvetica Neue"/>
                <a:ea typeface="Helvetica Neue"/>
                <a:cs typeface="Helvetica Neue"/>
              </a:defRPr>
            </a:defPPr>
          </a:lstStyle>
          <a:p xmlns:a="http://schemas.openxmlformats.org/drawingml/2006/main">
            <a:pPr algn="l">
              <a:buNone/>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Original</a:t>
            </a:r>
          </a:p>
        </p:txBody>
      </p:sp>
      <p:sp>
        <p:nvSpPr>
          <p:cNvPr id="9" name="">
            <a:extLst xmlns:a="http://schemas.openxmlformats.org/drawingml/2006/main">
              <a:ext uri="{FF2B5EF4-FFF2-40B4-BE49-F238E27FC236}">
                <a16:creationId xmlns:a16="http://schemas.microsoft.com/office/drawing/2014/main" id="{2CE20088-D732-41D1-8D60-1F0106F8A760}"/>
              </a:ext>
            </a:extLst>
          </p:cNvPr>
          <p:cNvSpPr>
            <a:spLocks xmlns:a="http://schemas.openxmlformats.org/drawingml/2006/main" noGrp="1"/>
          </p:cNvSpPr>
          <p:nvPr/>
        </p:nvSpPr>
        <p:spPr>
          <a:xfrm xmlns:a="http://schemas.openxmlformats.org/drawingml/2006/main">
            <a:off x="9382125" y="2362200"/>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D64545"/>
                </a:solidFill>
                <a:latin typeface="Helvetica Neue"/>
                <a:ea typeface="Helvetica Neue"/>
                <a:cs typeface="Helvetica Neue"/>
              </a:defRPr>
            </a:defPPr>
          </a:lstStyle>
          <a:p xmlns:a="http://schemas.openxmlformats.org/drawingml/2006/main">
            <a:pPr algn="l">
              <a:buNone/>
              <a:defRPr sz="2100" b="1">
                <a:solidFill>
                  <a:srgbClr val="D64545"/>
                </a:solidFill>
                <a:latin typeface="Helvetica Neue"/>
                <a:ea typeface="Helvetica Neue"/>
                <a:cs typeface="Helvetica Neue"/>
              </a:defRPr>
            </a:pPr>
            <a:r>
              <a:rPr sz="2100" b="1">
                <a:solidFill>
                  <a:srgbClr val="D64545"/>
                </a:solidFill>
                <a:latin typeface="Helvetica Neue"/>
                <a:ea typeface="Helvetica Neue"/>
                <a:cs typeface="Helvetica Neue"/>
              </a:rPr>
              <a:t>4.63×</a:t>
            </a:r>
          </a:p>
        </p:txBody>
      </p:sp>
      <p:sp>
        <p:nvSpPr>
          <p:cNvPr id="10" name="">
            <a:extLst xmlns:a="http://schemas.openxmlformats.org/drawingml/2006/main">
              <a:ext uri="{FF2B5EF4-FFF2-40B4-BE49-F238E27FC236}">
                <a16:creationId xmlns:a16="http://schemas.microsoft.com/office/drawing/2014/main" id="{E81CB5DC-E928-4E59-B44D-296E861B4DED}"/>
              </a:ext>
            </a:extLst>
          </p:cNvPr>
          <p:cNvSpPr>
            <a:spLocks xmlns:a="http://schemas.openxmlformats.org/drawingml/2006/main" noGrp="1"/>
          </p:cNvSpPr>
          <p:nvPr/>
        </p:nvSpPr>
        <p:spPr>
          <a:xfrm xmlns:a="http://schemas.openxmlformats.org/drawingml/2006/main">
            <a:off x="9382125" y="29718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627D98"/>
                </a:solidFill>
                <a:latin typeface="Helvetica Neue"/>
                <a:ea typeface="Helvetica Neue"/>
                <a:cs typeface="Helvetica Neue"/>
              </a:defRPr>
            </a:defPPr>
          </a:lstStyle>
          <a:p xmlns:a="http://schemas.openxmlformats.org/drawingml/2006/main">
            <a:pPr algn="l">
              <a:buNone/>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H.264 CRF 35</a:t>
            </a:r>
          </a:p>
        </p:txBody>
      </p:sp>
      <p:sp>
        <p:nvSpPr>
          <p:cNvPr id="11" name="">
            <a:extLst xmlns:a="http://schemas.openxmlformats.org/drawingml/2006/main">
              <a:ext uri="{FF2B5EF4-FFF2-40B4-BE49-F238E27FC236}">
                <a16:creationId xmlns:a16="http://schemas.microsoft.com/office/drawing/2014/main" id="{EE5E1891-1221-49BF-8EE6-82D83BB13235}"/>
              </a:ext>
            </a:extLst>
          </p:cNvPr>
          <p:cNvSpPr>
            <a:spLocks xmlns:a="http://schemas.openxmlformats.org/drawingml/2006/main" noGrp="1"/>
          </p:cNvSpPr>
          <p:nvPr/>
        </p:nvSpPr>
        <p:spPr>
          <a:xfrm xmlns:a="http://schemas.openxmlformats.org/drawingml/2006/main">
            <a:off x="9382125" y="3238500"/>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D64545"/>
                </a:solidFill>
                <a:latin typeface="Helvetica Neue"/>
                <a:ea typeface="Helvetica Neue"/>
                <a:cs typeface="Helvetica Neue"/>
              </a:defRPr>
            </a:defPPr>
          </a:lstStyle>
          <a:p xmlns:a="http://schemas.openxmlformats.org/drawingml/2006/main">
            <a:pPr algn="l">
              <a:buNone/>
              <a:defRPr sz="2100" b="1">
                <a:solidFill>
                  <a:srgbClr val="D64545"/>
                </a:solidFill>
                <a:latin typeface="Helvetica Neue"/>
                <a:ea typeface="Helvetica Neue"/>
                <a:cs typeface="Helvetica Neue"/>
              </a:defRPr>
            </a:pPr>
            <a:r>
              <a:rPr sz="2100" b="1">
                <a:solidFill>
                  <a:srgbClr val="D64545"/>
                </a:solidFill>
                <a:latin typeface="Helvetica Neue"/>
                <a:ea typeface="Helvetica Neue"/>
                <a:cs typeface="Helvetica Neue"/>
              </a:rPr>
              <a:t>8.45×</a:t>
            </a:r>
          </a:p>
        </p:txBody>
      </p:sp>
      <p:sp>
        <p:nvSpPr>
          <p:cNvPr id="12" name="">
            <a:extLst xmlns:a="http://schemas.openxmlformats.org/drawingml/2006/main">
              <a:ext uri="{FF2B5EF4-FFF2-40B4-BE49-F238E27FC236}">
                <a16:creationId xmlns:a16="http://schemas.microsoft.com/office/drawing/2014/main" id="{A162EB8B-CCE2-4D55-8B11-CC5973B45958}"/>
              </a:ext>
            </a:extLst>
          </p:cNvPr>
          <p:cNvSpPr>
            <a:spLocks xmlns:a="http://schemas.openxmlformats.org/drawingml/2006/main" noGrp="1"/>
          </p:cNvSpPr>
          <p:nvPr/>
        </p:nvSpPr>
        <p:spPr>
          <a:xfrm xmlns:a="http://schemas.openxmlformats.org/drawingml/2006/main">
            <a:off x="9382125" y="38481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627D98"/>
                </a:solidFill>
                <a:latin typeface="Helvetica Neue"/>
                <a:ea typeface="Helvetica Neue"/>
                <a:cs typeface="Helvetica Neue"/>
              </a:defRPr>
            </a:defPPr>
          </a:lstStyle>
          <a:p xmlns:a="http://schemas.openxmlformats.org/drawingml/2006/main">
            <a:pPr algn="l">
              <a:buNone/>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256×224</a:t>
            </a:r>
          </a:p>
        </p:txBody>
      </p:sp>
      <p:sp>
        <p:nvSpPr>
          <p:cNvPr id="13" name="">
            <a:extLst xmlns:a="http://schemas.openxmlformats.org/drawingml/2006/main">
              <a:ext uri="{FF2B5EF4-FFF2-40B4-BE49-F238E27FC236}">
                <a16:creationId xmlns:a16="http://schemas.microsoft.com/office/drawing/2014/main" id="{D9AB9D6D-CAA1-4099-989B-9886AC578266}"/>
              </a:ext>
            </a:extLst>
          </p:cNvPr>
          <p:cNvSpPr>
            <a:spLocks xmlns:a="http://schemas.openxmlformats.org/drawingml/2006/main" noGrp="1"/>
          </p:cNvSpPr>
          <p:nvPr/>
        </p:nvSpPr>
        <p:spPr>
          <a:xfrm xmlns:a="http://schemas.openxmlformats.org/drawingml/2006/main">
            <a:off x="9382125" y="4114800"/>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D64545"/>
                </a:solidFill>
                <a:latin typeface="Helvetica Neue"/>
                <a:ea typeface="Helvetica Neue"/>
                <a:cs typeface="Helvetica Neue"/>
              </a:defRPr>
            </a:defPPr>
          </a:lstStyle>
          <a:p xmlns:a="http://schemas.openxmlformats.org/drawingml/2006/main">
            <a:pPr algn="l">
              <a:buNone/>
              <a:defRPr sz="2100" b="1">
                <a:solidFill>
                  <a:srgbClr val="D64545"/>
                </a:solidFill>
                <a:latin typeface="Helvetica Neue"/>
                <a:ea typeface="Helvetica Neue"/>
                <a:cs typeface="Helvetica Neue"/>
              </a:defRPr>
            </a:pPr>
            <a:r>
              <a:rPr sz="2100" b="1">
                <a:solidFill>
                  <a:srgbClr val="D64545"/>
                </a:solidFill>
                <a:latin typeface="Helvetica Neue"/>
                <a:ea typeface="Helvetica Neue"/>
                <a:cs typeface="Helvetica Neue"/>
              </a:rPr>
              <a:t>6.28×</a:t>
            </a:r>
          </a:p>
        </p:txBody>
      </p:sp>
      <p:sp>
        <p:nvSpPr>
          <p:cNvPr id="14" name="">
            <a:extLst xmlns:a="http://schemas.openxmlformats.org/drawingml/2006/main">
              <a:ext uri="{FF2B5EF4-FFF2-40B4-BE49-F238E27FC236}">
                <a16:creationId xmlns:a16="http://schemas.microsoft.com/office/drawing/2014/main" id="{D4E61723-5611-4B24-8A7A-1A134E45963E}"/>
              </a:ext>
            </a:extLst>
          </p:cNvPr>
          <p:cNvSpPr>
            <a:spLocks xmlns:a="http://schemas.openxmlformats.org/drawingml/2006/main" noGrp="1"/>
          </p:cNvSpPr>
          <p:nvPr/>
        </p:nvSpPr>
        <p:spPr>
          <a:xfrm xmlns:a="http://schemas.openxmlformats.org/drawingml/2006/main">
            <a:off x="9382125" y="47244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627D98"/>
                </a:solidFill>
                <a:latin typeface="Helvetica Neue"/>
                <a:ea typeface="Helvetica Neue"/>
                <a:cs typeface="Helvetica Neue"/>
              </a:defRPr>
            </a:defPPr>
          </a:lstStyle>
          <a:p xmlns:a="http://schemas.openxmlformats.org/drawingml/2006/main">
            <a:pPr algn="l">
              <a:buNone/>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15 FPS</a:t>
            </a:r>
          </a:p>
        </p:txBody>
      </p:sp>
      <p:sp>
        <p:nvSpPr>
          <p:cNvPr id="15" name="">
            <a:extLst xmlns:a="http://schemas.openxmlformats.org/drawingml/2006/main">
              <a:ext uri="{FF2B5EF4-FFF2-40B4-BE49-F238E27FC236}">
                <a16:creationId xmlns:a16="http://schemas.microsoft.com/office/drawing/2014/main" id="{B8863984-5DB8-492D-943C-425115C2D3D7}"/>
              </a:ext>
            </a:extLst>
          </p:cNvPr>
          <p:cNvSpPr>
            <a:spLocks xmlns:a="http://schemas.openxmlformats.org/drawingml/2006/main" noGrp="1"/>
          </p:cNvSpPr>
          <p:nvPr/>
        </p:nvSpPr>
        <p:spPr>
          <a:xfrm xmlns:a="http://schemas.openxmlformats.org/drawingml/2006/main">
            <a:off x="9382125" y="4991100"/>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D64545"/>
                </a:solidFill>
                <a:latin typeface="Helvetica Neue"/>
                <a:ea typeface="Helvetica Neue"/>
                <a:cs typeface="Helvetica Neue"/>
              </a:defRPr>
            </a:defPPr>
          </a:lstStyle>
          <a:p xmlns:a="http://schemas.openxmlformats.org/drawingml/2006/main">
            <a:pPr algn="l">
              <a:buNone/>
              <a:defRPr sz="2100" b="1">
                <a:solidFill>
                  <a:srgbClr val="D64545"/>
                </a:solidFill>
                <a:latin typeface="Helvetica Neue"/>
                <a:ea typeface="Helvetica Neue"/>
                <a:cs typeface="Helvetica Neue"/>
              </a:defRPr>
            </a:pPr>
            <a:r>
              <a:rPr sz="2100" b="1">
                <a:solidFill>
                  <a:srgbClr val="D64545"/>
                </a:solidFill>
                <a:latin typeface="Helvetica Neue"/>
                <a:ea typeface="Helvetica Neue"/>
                <a:cs typeface="Helvetica Neue"/>
              </a:rPr>
              <a:t>20.86×</a:t>
            </a:r>
          </a:p>
        </p:txBody>
      </p:sp>
      <p:sp>
        <p:nvSpPr>
          <p:cNvPr id="16" name="">
            <a:extLst xmlns:a="http://schemas.openxmlformats.org/drawingml/2006/main">
              <a:ext uri="{FF2B5EF4-FFF2-40B4-BE49-F238E27FC236}">
                <a16:creationId xmlns:a16="http://schemas.microsoft.com/office/drawing/2014/main" id="{130414E3-B5E4-472F-BD69-8E438383CBA1}"/>
              </a:ext>
            </a:extLst>
          </p:cNvPr>
          <p:cNvSpPr>
            <a:spLocks xmlns:a="http://schemas.openxmlformats.org/drawingml/2006/main" noGrp="1"/>
          </p:cNvSpPr>
          <p:nvPr/>
        </p:nvSpPr>
        <p:spPr>
          <a:xfrm xmlns:a="http://schemas.openxmlformats.org/drawingml/2006/main">
            <a:off x="666750" y="5905500"/>
            <a:ext cx="571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1">
                <a:solidFill>
                  <a:srgbClr val="159E9C"/>
                </a:solidFill>
                <a:latin typeface="Helvetica Neue"/>
                <a:ea typeface="Helvetica Neue"/>
                <a:cs typeface="Helvetica Neue"/>
              </a:defRPr>
            </a:defPPr>
          </a:lstStyle>
          <a:p xmlns:a="http://schemas.openxmlformats.org/drawingml/2006/main">
            <a:pPr algn="l">
              <a:buNone/>
              <a:defRPr sz="1500" b="1">
                <a:solidFill>
                  <a:srgbClr val="159E9C"/>
                </a:solidFill>
                <a:latin typeface="Helvetica Neue"/>
                <a:ea typeface="Helvetica Neue"/>
                <a:cs typeface="Helvetica Neue"/>
              </a:defRPr>
            </a:pPr>
            <a:r>
              <a:rPr sz="1500" b="1">
                <a:solidFill>
                  <a:srgbClr val="159E9C"/>
                </a:solidFill>
                <a:latin typeface="Helvetica Neue"/>
                <a:ea typeface="Helvetica Neue"/>
                <a:cs typeface="Helvetica Neue"/>
              </a:rPr>
              <a:t>Rerun matched the original one-pair result</a:t>
            </a:r>
          </a:p>
        </p:txBody>
      </p:sp>
      <p:sp>
        <p:nvSpPr>
          <p:cNvPr id="17" name="">
            <a:extLst xmlns:a="http://schemas.openxmlformats.org/drawingml/2006/main">
              <a:ext uri="{FF2B5EF4-FFF2-40B4-BE49-F238E27FC236}">
                <a16:creationId xmlns:a16="http://schemas.microsoft.com/office/drawing/2014/main" id="{61A4DC35-3DFD-4BC2-9091-60E7F71D99DB}"/>
              </a:ext>
            </a:extLst>
          </p:cNvPr>
          <p:cNvSpPr>
            <a:spLocks xmlns:a="http://schemas.openxmlformats.org/drawingml/2006/main" noGrp="1"/>
          </p:cNvSpPr>
          <p:nvPr/>
        </p:nvSpPr>
        <p:spPr>
          <a:xfrm xmlns:a="http://schemas.openxmlformats.org/drawingml/2006/main">
            <a:off x="5905500" y="5905500"/>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D64545"/>
                </a:solidFill>
                <a:latin typeface="Helvetica Neue"/>
                <a:ea typeface="Helvetica Neue"/>
                <a:cs typeface="Helvetica Neue"/>
              </a:defRPr>
            </a:defPPr>
          </a:lstStyle>
          <a:p xmlns:a="http://schemas.openxmlformats.org/drawingml/2006/main">
            <a:pPr algn="r">
              <a:buNone/>
              <a:defRPr sz="1350" b="1">
                <a:solidFill>
                  <a:srgbClr val="D64545"/>
                </a:solidFill>
                <a:latin typeface="Helvetica Neue"/>
                <a:ea typeface="Helvetica Neue"/>
                <a:cs typeface="Helvetica Neue"/>
              </a:defRPr>
            </a:pPr>
            <a:r>
              <a:rPr sz="1350" b="1">
                <a:solidFill>
                  <a:srgbClr val="D64545"/>
                </a:solidFill>
                <a:latin typeface="Helvetica Neue"/>
                <a:ea typeface="Helvetica Neue"/>
                <a:cs typeface="Helvetica Neue"/>
              </a:rPr>
              <a:t>Synthetic periodic light also triggers the metric</a:t>
            </a:r>
          </a:p>
        </p:txBody>
      </p:sp>
    </p:spTree>
    <p:extLst>
      <p:ext uri="{BB962C8B-B14F-4D97-AF65-F5344CB8AC3E}">
        <p14:creationId xmlns:p14="http://schemas.microsoft.com/office/powerpoint/2010/main" val="187579639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88EEFD45-FCC7-416B-B565-C7AE7A6CCE14}"/>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stStyle>
          <a:p xmlns:a="http://schemas.openxmlformats.org/drawingml/2006/main">
            <a:pPr algn="l">
              <a:buNone/>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What the evidence supports</a:t>
            </a:r>
          </a:p>
        </p:txBody>
      </p:sp>
      <p:sp>
        <p:nvSpPr>
          <p:cNvPr id="2" name="">
            <a:extLst xmlns:a="http://schemas.openxmlformats.org/drawingml/2006/main">
              <a:ext uri="{FF2B5EF4-FFF2-40B4-BE49-F238E27FC236}">
                <a16:creationId xmlns:a16="http://schemas.microsoft.com/office/drawing/2014/main" id="{ABDC06AC-140B-4968-B69E-B55C0D8FADD7}"/>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stStyle>
          <a:p xmlns:a="http://schemas.openxmlformats.org/drawingml/2006/main">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11</a:t>
            </a:r>
          </a:p>
        </p:txBody>
      </p:sp>
      <p:sp>
        <p:nvSpPr>
          <p:cNvPr id="3" name="">
            <a:extLst xmlns:a="http://schemas.openxmlformats.org/drawingml/2006/main">
              <a:ext uri="{FF2B5EF4-FFF2-40B4-BE49-F238E27FC236}">
                <a16:creationId xmlns:a16="http://schemas.microsoft.com/office/drawing/2014/main" id="{B12A5CFA-CDBA-443A-9235-BDF1210F583E}"/>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4101F42-44C0-45F2-BB7A-91C1A007907B}"/>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stStyle>
          <a:p xmlns:a="http://schemas.openxmlformats.org/drawingml/2006/main">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75FC3AB1-3A4B-477F-8CFE-386162D5DF49}"/>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stStyle>
          <a:p xmlns:a="http://schemas.openxmlformats.org/drawingml/2006/main">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11/11</a:t>
            </a:r>
          </a:p>
        </p:txBody>
      </p:sp>
      <p:sp>
        <p:nvSpPr>
          <p:cNvPr id="6" name="">
            <a:extLst xmlns:a="http://schemas.openxmlformats.org/drawingml/2006/main">
              <a:ext uri="{FF2B5EF4-FFF2-40B4-BE49-F238E27FC236}">
                <a16:creationId xmlns:a16="http://schemas.microsoft.com/office/drawing/2014/main" id="{277625D2-FC49-4623-A007-6813909FAF5F}"/>
              </a:ext>
            </a:extLst>
          </p:cNvPr>
          <p:cNvSpPr>
            <a:spLocks xmlns:a="http://schemas.openxmlformats.org/drawingml/2006/main" noGrp="1"/>
          </p:cNvSpPr>
          <p:nvPr/>
        </p:nvSpPr>
        <p:spPr>
          <a:xfrm xmlns:a="http://schemas.openxmlformats.org/drawingml/2006/main">
            <a:off x="762000" y="1428750"/>
            <a:ext cx="438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250" b="1">
                <a:solidFill>
                  <a:srgbClr val="159E9C"/>
                </a:solidFill>
                <a:latin typeface="Helvetica Neue"/>
                <a:ea typeface="Helvetica Neue"/>
                <a:cs typeface="Helvetica Neue"/>
              </a:defRPr>
            </a:defPPr>
          </a:lstStyle>
          <a:p xmlns:a="http://schemas.openxmlformats.org/drawingml/2006/main">
            <a:pPr algn="l">
              <a:buNone/>
              <a:defRPr sz="2250" b="1">
                <a:solidFill>
                  <a:srgbClr val="159E9C"/>
                </a:solidFill>
                <a:latin typeface="Helvetica Neue"/>
                <a:ea typeface="Helvetica Neue"/>
                <a:cs typeface="Helvetica Neue"/>
              </a:defRPr>
            </a:pPr>
            <a:r>
              <a:rPr sz="2250" b="1">
                <a:solidFill>
                  <a:srgbClr val="159E9C"/>
                </a:solidFill>
                <a:latin typeface="Helvetica Neue"/>
                <a:ea typeface="Helvetica Neue"/>
                <a:cs typeface="Helvetica Neue"/>
              </a:rPr>
              <a:t>Lip channel</a:t>
            </a:r>
          </a:p>
        </p:txBody>
      </p:sp>
      <p:sp>
        <p:nvSpPr>
          <p:cNvPr id="7" name="">
            <a:extLst xmlns:a="http://schemas.openxmlformats.org/drawingml/2006/main">
              <a:ext uri="{FF2B5EF4-FFF2-40B4-BE49-F238E27FC236}">
                <a16:creationId xmlns:a16="http://schemas.microsoft.com/office/drawing/2014/main" id="{741CECAF-ED99-43CF-8F8F-C297289371DF}"/>
              </a:ext>
            </a:extLst>
          </p:cNvPr>
          <p:cNvSpPr>
            <a:spLocks xmlns:a="http://schemas.openxmlformats.org/drawingml/2006/main" noGrp="1"/>
          </p:cNvSpPr>
          <p:nvPr/>
        </p:nvSpPr>
        <p:spPr>
          <a:xfrm xmlns:a="http://schemas.openxmlformats.org/drawingml/2006/main">
            <a:off x="762000" y="2047875"/>
            <a:ext cx="457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725" b="1">
                <a:solidFill>
                  <a:srgbClr val="102A43"/>
                </a:solidFill>
                <a:latin typeface="Helvetica Neue"/>
                <a:ea typeface="Helvetica Neue"/>
                <a:cs typeface="Helvetica Neue"/>
              </a:defRPr>
            </a:defPPr>
          </a:lstStyle>
          <a:p xmlns:a="http://schemas.openxmlformats.org/drawingml/2006/main">
            <a:pPr algn="l">
              <a:buNone/>
              <a:defRPr sz="1725" b="1">
                <a:solidFill>
                  <a:srgbClr val="102A43"/>
                </a:solidFill>
                <a:latin typeface="Helvetica Neue"/>
                <a:ea typeface="Helvetica Neue"/>
                <a:cs typeface="Helvetica Neue"/>
              </a:defRPr>
            </a:pPr>
            <a:r>
              <a:rPr sz="1725" b="1">
                <a:solidFill>
                  <a:srgbClr val="102A43"/>
                </a:solidFill>
                <a:latin typeface="Helvetica Neue"/>
                <a:ea typeface="Helvetica Neue"/>
                <a:cs typeface="Helvetica Neue"/>
              </a:rPr>
              <a:t>Temporal windows improved the matched SadTalker pilot</a:t>
            </a:r>
          </a:p>
        </p:txBody>
      </p:sp>
      <p:sp>
        <p:nvSpPr>
          <p:cNvPr id="8" name="">
            <a:extLst xmlns:a="http://schemas.openxmlformats.org/drawingml/2006/main">
              <a:ext uri="{FF2B5EF4-FFF2-40B4-BE49-F238E27FC236}">
                <a16:creationId xmlns:a16="http://schemas.microsoft.com/office/drawing/2014/main" id="{A4FA709D-9A70-4DC9-8B83-AD4FF8F666A2}"/>
              </a:ext>
            </a:extLst>
          </p:cNvPr>
          <p:cNvSpPr>
            <a:spLocks xmlns:a="http://schemas.openxmlformats.org/drawingml/2006/main" noGrp="1"/>
          </p:cNvSpPr>
          <p:nvPr/>
        </p:nvSpPr>
        <p:spPr>
          <a:xfrm xmlns:a="http://schemas.openxmlformats.org/drawingml/2006/main">
            <a:off x="762000" y="30956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500" b="0">
                <a:solidFill>
                  <a:srgbClr val="243B53"/>
                </a:solidFill>
                <a:latin typeface="Helvetica Neue"/>
                <a:ea typeface="Helvetica Neue"/>
                <a:cs typeface="Helvetica Neue"/>
              </a:defRPr>
            </a:defPPr>
          </a:lstStyle>
          <a:p xmlns:a="http://schemas.openxmlformats.org/drawingml/2006/main">
            <a:pPr algn="l">
              <a:buNone/>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Mean Macro-F1: 0.707 to 0.748</a:t>
            </a:r>
          </a:p>
          <a:p xmlns:a="http://schemas.openxmlformats.org/drawingml/2006/main">
            <a:pPr algn="l">
              <a:buNone/>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Mean AUROC: 0.773 to 0.806</a:t>
            </a:r>
          </a:p>
          <a:p xmlns:a="http://schemas.openxmlformats.org/drawingml/2006/main">
            <a:pPr algn="l">
              <a:buNone/>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Weak phone labels failed the shuffled control.</a:t>
            </a:r>
          </a:p>
        </p:txBody>
      </p:sp>
      <p:sp>
        <p:nvSpPr>
          <p:cNvPr id="9" name="">
            <a:extLst xmlns:a="http://schemas.openxmlformats.org/drawingml/2006/main">
              <a:ext uri="{FF2B5EF4-FFF2-40B4-BE49-F238E27FC236}">
                <a16:creationId xmlns:a16="http://schemas.microsoft.com/office/drawing/2014/main" id="{E1562DB7-0B12-4EC8-BAA3-878FE9B0E952}"/>
              </a:ext>
            </a:extLst>
          </p:cNvPr>
          <p:cNvSpPr>
            <a:spLocks xmlns:a="http://schemas.openxmlformats.org/drawingml/2006/main" noGrp="1"/>
          </p:cNvSpPr>
          <p:nvPr/>
        </p:nvSpPr>
        <p:spPr>
          <a:xfrm xmlns:a="http://schemas.openxmlformats.org/drawingml/2006/main">
            <a:off x="6096000" y="1428750"/>
            <a:ext cx="0" cy="3333750"/>
          </a:xfrm>
          <a:prstGeom xmlns:a="http://schemas.openxmlformats.org/drawingml/2006/main" prst="line">
            <a:avLst/>
          </a:prstGeom>
          <a:noFill xmlns:a="http://schemas.openxmlformats.org/drawingml/2006/main"/>
          <a:ln xmlns:a="http://schemas.openxmlformats.org/drawingml/2006/main" w="19050">
            <a:solidFill>
              <a:srgbClr val="D9E2EC"/>
            </a:solidFill>
          </a:ln>
        </p:spPr>
      </p:sp>
      <p:sp>
        <p:nvSpPr>
          <p:cNvPr id="10" name="">
            <a:extLst xmlns:a="http://schemas.openxmlformats.org/drawingml/2006/main">
              <a:ext uri="{FF2B5EF4-FFF2-40B4-BE49-F238E27FC236}">
                <a16:creationId xmlns:a16="http://schemas.microsoft.com/office/drawing/2014/main" id="{7989412C-60F9-4E5A-8E0B-437338246131}"/>
              </a:ext>
            </a:extLst>
          </p:cNvPr>
          <p:cNvSpPr>
            <a:spLocks xmlns:a="http://schemas.openxmlformats.org/drawingml/2006/main" noGrp="1"/>
          </p:cNvSpPr>
          <p:nvPr/>
        </p:nvSpPr>
        <p:spPr>
          <a:xfrm xmlns:a="http://schemas.openxmlformats.org/drawingml/2006/main">
            <a:off x="6858000" y="1428750"/>
            <a:ext cx="438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250" b="1">
                <a:solidFill>
                  <a:srgbClr val="D64545"/>
                </a:solidFill>
                <a:latin typeface="Helvetica Neue"/>
                <a:ea typeface="Helvetica Neue"/>
                <a:cs typeface="Helvetica Neue"/>
              </a:defRPr>
            </a:defPPr>
          </a:lstStyle>
          <a:p xmlns:a="http://schemas.openxmlformats.org/drawingml/2006/main">
            <a:pPr algn="l">
              <a:buNone/>
              <a:defRPr sz="2250" b="1">
                <a:solidFill>
                  <a:srgbClr val="D64545"/>
                </a:solidFill>
                <a:latin typeface="Helvetica Neue"/>
                <a:ea typeface="Helvetica Neue"/>
                <a:cs typeface="Helvetica Neue"/>
              </a:defRPr>
            </a:pPr>
            <a:r>
              <a:rPr sz="2250" b="1">
                <a:solidFill>
                  <a:srgbClr val="D64545"/>
                </a:solidFill>
                <a:latin typeface="Helvetica Neue"/>
                <a:ea typeface="Helvetica Neue"/>
                <a:cs typeface="Helvetica Neue"/>
              </a:rPr>
              <a:t>Chromatic channel</a:t>
            </a:r>
          </a:p>
        </p:txBody>
      </p:sp>
      <p:sp>
        <p:nvSpPr>
          <p:cNvPr id="11" name="">
            <a:extLst xmlns:a="http://schemas.openxmlformats.org/drawingml/2006/main">
              <a:ext uri="{FF2B5EF4-FFF2-40B4-BE49-F238E27FC236}">
                <a16:creationId xmlns:a16="http://schemas.microsoft.com/office/drawing/2014/main" id="{F528A858-F86B-4C8B-B636-502B2FF41490}"/>
              </a:ext>
            </a:extLst>
          </p:cNvPr>
          <p:cNvSpPr>
            <a:spLocks xmlns:a="http://schemas.openxmlformats.org/drawingml/2006/main" noGrp="1"/>
          </p:cNvSpPr>
          <p:nvPr/>
        </p:nvSpPr>
        <p:spPr>
          <a:xfrm xmlns:a="http://schemas.openxmlformats.org/drawingml/2006/main">
            <a:off x="6858000" y="2047875"/>
            <a:ext cx="457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725" b="1">
                <a:solidFill>
                  <a:srgbClr val="102A43"/>
                </a:solidFill>
                <a:latin typeface="Helvetica Neue"/>
                <a:ea typeface="Helvetica Neue"/>
                <a:cs typeface="Helvetica Neue"/>
              </a:defRPr>
            </a:defPPr>
          </a:lstStyle>
          <a:p xmlns:a="http://schemas.openxmlformats.org/drawingml/2006/main">
            <a:pPr algn="l">
              <a:buNone/>
              <a:defRPr sz="1725" b="1">
                <a:solidFill>
                  <a:srgbClr val="102A43"/>
                </a:solidFill>
                <a:latin typeface="Helvetica Neue"/>
                <a:ea typeface="Helvetica Neue"/>
                <a:cs typeface="Helvetica Neue"/>
              </a:defRPr>
            </a:pPr>
            <a:r>
              <a:rPr sz="1725" b="1">
                <a:solidFill>
                  <a:srgbClr val="102A43"/>
                </a:solidFill>
                <a:latin typeface="Helvetica Neue"/>
                <a:ea typeface="Helvetica Neue"/>
                <a:cs typeface="Helvetica Neue"/>
              </a:rPr>
              <a:t>A strong 1.2 Hz trace survives three transformations in one pair</a:t>
            </a:r>
          </a:p>
        </p:txBody>
      </p:sp>
      <p:sp>
        <p:nvSpPr>
          <p:cNvPr id="12" name="">
            <a:extLst xmlns:a="http://schemas.openxmlformats.org/drawingml/2006/main">
              <a:ext uri="{FF2B5EF4-FFF2-40B4-BE49-F238E27FC236}">
                <a16:creationId xmlns:a16="http://schemas.microsoft.com/office/drawing/2014/main" id="{3961EB1C-EE1C-4240-93F9-6C6F7C48E7BB}"/>
              </a:ext>
            </a:extLst>
          </p:cNvPr>
          <p:cNvSpPr>
            <a:spLocks xmlns:a="http://schemas.openxmlformats.org/drawingml/2006/main" noGrp="1"/>
          </p:cNvSpPr>
          <p:nvPr/>
        </p:nvSpPr>
        <p:spPr>
          <a:xfrm xmlns:a="http://schemas.openxmlformats.org/drawingml/2006/main">
            <a:off x="6858000" y="3095625"/>
            <a:ext cx="4572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500" b="0">
                <a:solidFill>
                  <a:srgbClr val="243B53"/>
                </a:solidFill>
                <a:latin typeface="Helvetica Neue"/>
                <a:ea typeface="Helvetica Neue"/>
                <a:cs typeface="Helvetica Neue"/>
              </a:defRPr>
            </a:defPPr>
          </a:lstStyle>
          <a:p xmlns:a="http://schemas.openxmlformats.org/drawingml/2006/main">
            <a:pPr algn="l">
              <a:buNone/>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Course result: one attacked pair plus codec and synthetic-light controls.</a:t>
            </a:r>
          </a:p>
          <a:p xmlns:a="http://schemas.openxmlformats.org/drawingml/2006/main">
            <a:pPr algn="l">
              <a:buNone/>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Scope limit: the frequency metric is not attack-specific.</a:t>
            </a:r>
          </a:p>
        </p:txBody>
      </p:sp>
      <p:sp>
        <p:nvSpPr>
          <p:cNvPr id="13" name="">
            <a:extLst xmlns:a="http://schemas.openxmlformats.org/drawingml/2006/main">
              <a:ext uri="{FF2B5EF4-FFF2-40B4-BE49-F238E27FC236}">
                <a16:creationId xmlns:a16="http://schemas.microsoft.com/office/drawing/2014/main" id="{45E636B6-E7DC-4181-B5A7-49ADD30D05B6}"/>
              </a:ext>
            </a:extLst>
          </p:cNvPr>
          <p:cNvSpPr>
            <a:spLocks xmlns:a="http://schemas.openxmlformats.org/drawingml/2006/main" noGrp="1"/>
          </p:cNvSpPr>
          <p:nvPr/>
        </p:nvSpPr>
        <p:spPr>
          <a:xfrm xmlns:a="http://schemas.openxmlformats.org/drawingml/2006/main">
            <a:off x="762000" y="5095875"/>
            <a:ext cx="10668000" cy="857250"/>
          </a:xfrm>
          <a:prstGeom xmlns:a="http://schemas.openxmlformats.org/drawingml/2006/main" prst="rect">
            <a:avLst/>
          </a:prstGeom>
          <a:solidFill xmlns:a="http://schemas.openxmlformats.org/drawingml/2006/main">
            <a:srgbClr val="102A4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CD937A0-722C-4268-A58A-63D84AB745A8}"/>
              </a:ext>
            </a:extLst>
          </p:cNvPr>
          <p:cNvSpPr>
            <a:spLocks xmlns:a="http://schemas.openxmlformats.org/drawingml/2006/main" noGrp="1"/>
          </p:cNvSpPr>
          <p:nvPr/>
        </p:nvSpPr>
        <p:spPr>
          <a:xfrm xmlns:a="http://schemas.openxmlformats.org/drawingml/2006/main">
            <a:off x="1047750" y="52197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1">
                <a:solidFill>
                  <a:srgbClr val="159E9C"/>
                </a:solidFill>
                <a:latin typeface="Helvetica Neue"/>
                <a:ea typeface="Helvetica Neue"/>
                <a:cs typeface="Helvetica Neue"/>
              </a:defRPr>
            </a:defPPr>
          </a:lstStyle>
          <a:p xmlns:a="http://schemas.openxmlformats.org/drawingml/2006/main">
            <a:pPr algn="l">
              <a:buNone/>
              <a:defRPr sz="1500" b="1">
                <a:solidFill>
                  <a:srgbClr val="159E9C"/>
                </a:solidFill>
                <a:latin typeface="Helvetica Neue"/>
                <a:ea typeface="Helvetica Neue"/>
                <a:cs typeface="Helvetica Neue"/>
              </a:defRPr>
            </a:pPr>
            <a:r>
              <a:rPr sz="1500" b="1">
                <a:solidFill>
                  <a:srgbClr val="159E9C"/>
                </a:solidFill>
                <a:latin typeface="Helvetica Neue"/>
                <a:ea typeface="Helvetica Neue"/>
                <a:cs typeface="Helvetica Neue"/>
              </a:rPr>
              <a:t>Integrated Light response</a:t>
            </a:r>
          </a:p>
        </p:txBody>
      </p:sp>
      <p:sp>
        <p:nvSpPr>
          <p:cNvPr id="15" name="">
            <a:extLst xmlns:a="http://schemas.openxmlformats.org/drawingml/2006/main">
              <a:ext uri="{FF2B5EF4-FFF2-40B4-BE49-F238E27FC236}">
                <a16:creationId xmlns:a16="http://schemas.microsoft.com/office/drawing/2014/main" id="{B5CFE316-3E54-4F23-B7B0-0B61FD72BBDC}"/>
              </a:ext>
            </a:extLst>
          </p:cNvPr>
          <p:cNvSpPr>
            <a:spLocks xmlns:a="http://schemas.openxmlformats.org/drawingml/2006/main" noGrp="1"/>
          </p:cNvSpPr>
          <p:nvPr/>
        </p:nvSpPr>
        <p:spPr>
          <a:xfrm xmlns:a="http://schemas.openxmlformats.org/drawingml/2006/main">
            <a:off x="3905250" y="5191125"/>
            <a:ext cx="7096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725" b="1">
                <a:solidFill>
                  <a:srgbClr val="FFFFFF"/>
                </a:solidFill>
                <a:latin typeface="Helvetica Neue"/>
                <a:ea typeface="Helvetica Neue"/>
                <a:cs typeface="Helvetica Neue"/>
              </a:defRPr>
            </a:defPPr>
          </a:lstStyle>
          <a:p xmlns:a="http://schemas.openxmlformats.org/drawingml/2006/main">
            <a:pPr algn="ctr">
              <a:buNone/>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Generation artefacts and evasion artefacts are measured separately, with explicit claim boundaries</a:t>
            </a:r>
          </a:p>
        </p:txBody>
      </p:sp>
      <p:sp>
        <p:nvSpPr>
          <p:cNvPr id="16" name="">
            <a:extLst xmlns:a="http://schemas.openxmlformats.org/drawingml/2006/main">
              <a:ext uri="{FF2B5EF4-FFF2-40B4-BE49-F238E27FC236}">
                <a16:creationId xmlns:a16="http://schemas.microsoft.com/office/drawing/2014/main" id="{047B39B0-308E-47E2-8780-19E93B887F7F}"/>
              </a:ext>
            </a:extLst>
          </p:cNvPr>
          <p:cNvSpPr>
            <a:spLocks xmlns:a="http://schemas.openxmlformats.org/drawingml/2006/main" noGrp="1"/>
          </p:cNvSpPr>
          <p:nvPr/>
        </p:nvSpPr>
        <p:spPr>
          <a:xfrm xmlns:a="http://schemas.openxmlformats.org/drawingml/2006/main">
            <a:off x="2381250" y="6057900"/>
            <a:ext cx="7429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425" b="1">
                <a:solidFill>
                  <a:srgbClr val="2F6BFF"/>
                </a:solidFill>
                <a:latin typeface="Helvetica Neue"/>
                <a:ea typeface="Helvetica Neue"/>
                <a:cs typeface="Helvetica Neue"/>
              </a:defRPr>
            </a:defPPr>
          </a:lstStyle>
          <a:p xmlns:a="http://schemas.openxmlformats.org/drawingml/2006/main">
            <a:pPr algn="ctr">
              <a:buNone/>
              <a:defRPr sz="1425" b="1">
                <a:solidFill>
                  <a:srgbClr val="2F6BFF"/>
                </a:solidFill>
                <a:latin typeface="Helvetica Neue"/>
                <a:ea typeface="Helvetica Neue"/>
                <a:cs typeface="Helvetica Neue"/>
              </a:defRPr>
            </a:pPr>
            <a:r>
              <a:rPr sz="1425" b="1">
                <a:solidFill>
                  <a:srgbClr val="2F6BFF"/>
                </a:solidFill>
                <a:latin typeface="Helvetica Neue"/>
                <a:ea typeface="Helvetica Neue"/>
                <a:cs typeface="Helvetica Neue"/>
              </a:rPr>
              <a:t>Course pipeline complete; conclusions remain limited to the tested pilots.</a:t>
            </a:r>
          </a:p>
        </p:txBody>
      </p:sp>
    </p:spTree>
    <p:extLst>
      <p:ext uri="{BB962C8B-B14F-4D97-AF65-F5344CB8AC3E}">
        <p14:creationId xmlns:p14="http://schemas.microsoft.com/office/powerpoint/2010/main" val="8129529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2026-10-17T10:43:10.5120000Z</dcterms:created>
  <dcterms:modified xsi:type="dcterms:W3CDTF">2026-10-17T10:43:10.5120000Z</dcterms:modified>
</coreProperties>
</file>